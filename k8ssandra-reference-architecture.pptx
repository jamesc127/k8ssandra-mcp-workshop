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K8ssandra on 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t>Reference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Amazon EKS with k8ssandra-operator</a:t>
            </a:r>
            <a:br/>
            <a:r>
              <a:t>and MCP-based AI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IBM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AWS / EKS Infrastructure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548640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600"/>
              <a:t>AWS Region: us-east-1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solidFill>
            <a:srgbClr val="1C1C1C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200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VPC (eksctl-managed)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10698480" cy="1005840"/>
          </a:xfrm>
          <a:prstGeom prst="rect">
            <a:avLst/>
          </a:prstGeom>
          <a:solidFill>
            <a:srgbClr val="202020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914400" y="1810512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Public Subnets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810512"/>
            <a:ext cx="36576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800" b="0">
                <a:solidFill>
                  <a:srgbClr val="4A4A4A"/>
                </a:solidFill>
                <a:latin typeface="Calibri"/>
              </a:defRPr>
            </a:pPr>
            <a:r>
              <a:rPr sz="1050"/>
              <a:t>tagged: kubernetes.io/role/elb=1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03120"/>
            <a:ext cx="2560320" cy="59436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Internet-Facing NLB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(TCP)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a2838...elb.amazonaws.com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103120"/>
            <a:ext cx="22860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Internet / Claude Desktop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2331720"/>
            <a:ext cx="1097280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Isosceles Triangle 13"/>
          <p:cNvSpPr/>
          <p:nvPr/>
        </p:nvSpPr>
        <p:spPr>
          <a:xfrm rot="16200000">
            <a:off x="3566160" y="229514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Rectangle 14"/>
          <p:cNvSpPr/>
          <p:nvPr/>
        </p:nvSpPr>
        <p:spPr>
          <a:xfrm>
            <a:off x="731520" y="2971800"/>
            <a:ext cx="10698480" cy="3246120"/>
          </a:xfrm>
          <a:prstGeom prst="rect">
            <a:avLst/>
          </a:prstGeom>
          <a:solidFill>
            <a:srgbClr val="202020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914400" y="2999232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Private Subnets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99923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800" b="0">
                <a:solidFill>
                  <a:srgbClr val="4A4A4A"/>
                </a:solidFill>
                <a:latin typeface="Calibri"/>
              </a:defRPr>
            </a:pPr>
            <a:r>
              <a:rPr sz="1050"/>
              <a:t>tagged: kubernetes.io/role/internal-elb=1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291840"/>
            <a:ext cx="10332720" cy="27432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1097280" y="331927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EKS Cluster: k8ssandra-cluster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319272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100"/>
              <a:t>K8s 1.31  |  OIDC Provider enabled (IRSA)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118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Managed Node Group: cassandra-workers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4 vCPU / 16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4 vCPU / 16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59" y="3886200"/>
            <a:ext cx="301752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m5.xlarge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4 vCPU / 16 GiB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50 GiB gp3 root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privateNetworking: 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937760"/>
            <a:ext cx="5486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EBS Volumes (gp3, dynamic provisioning via CSI)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59" y="5212080"/>
            <a:ext cx="301752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PVC: 5Gi RWO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server-data-2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2743200"/>
            <a:ext cx="36576" cy="521208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1975104" y="3227832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Namespace &amp; Workload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443484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200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78A9FF"/>
                </a:solidFill>
                <a:latin typeface="Calibri"/>
              </a:defRPr>
            </a:pPr>
            <a:r>
              <a:t>Namespace: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400"/>
              <a:t>Operators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4747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Watches: K8ssandraCluster CR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Watches: CassandraDatacenter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Cassandra Ring  (StatefulSet: demo-dc1-default-sts)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2743200"/>
            <a:ext cx="347472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Pod: demo-dc1-default-sts-2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Containers: cassandra, server-system-log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PVC: 5Gi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Port: 9042 (CQL)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420624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40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1 replica  |  Port 8000 (HTTP/SSE)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FASTMCP_SERVER_HOST=0.0.0.0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Creds: demo-superuser Secret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3840480"/>
            <a:ext cx="384048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400"/>
              <a:t>nosqlbench-load  (Job)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ConfigMap-mounted workload 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Phases: schema / rampup / 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840480"/>
            <a:ext cx="2286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200"/>
              <a:t>Webhook Services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4114800"/>
            <a:ext cx="2286000" cy="39447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k8ssandra-operator-webhook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:443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4509270"/>
            <a:ext cx="2286000" cy="428489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cass</a:t>
            </a:r>
            <a:r>
              <a:rPr sz="1100" dirty="0"/>
              <a:t>-operator-webhook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:443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623560"/>
            <a:ext cx="5303520" cy="96012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3200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/>
              <a:t>Namespace: cert-manager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cert-manager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TLS certs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cainjector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 bundles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5943600"/>
            <a:ext cx="1508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/>
              <a:t>webhook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Validates CRs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5623560"/>
            <a:ext cx="5852160" cy="96012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6126480" y="5669280"/>
            <a:ext cx="32004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/>
              <a:t>Namespace: kube-system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5943600"/>
            <a:ext cx="100584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aws-node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DaemonSet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5943600"/>
            <a:ext cx="100584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kube-proxy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iptables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5943600"/>
            <a:ext cx="100584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coredns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x2 DNS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5943600"/>
            <a:ext cx="100584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ebs-csi-ctrl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x2 IRSA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5943600"/>
            <a:ext cx="100584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ebs-csi-node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x3 DaemonSet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Desktop to Cassandra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01168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600"/>
              <a:t>Claude Desktop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macOS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MCP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965960"/>
            <a:ext cx="5486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stdio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691640"/>
            <a:ext cx="74980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364991" y="1655064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Rectangle 8"/>
          <p:cNvSpPr/>
          <p:nvPr/>
        </p:nvSpPr>
        <p:spPr>
          <a:xfrm>
            <a:off x="3566160" y="1371600"/>
            <a:ext cx="182880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/>
              <a:t>npx mcp-remote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stdio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965960"/>
            <a:ext cx="5486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HTTP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691640"/>
            <a:ext cx="74980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6199632" y="165506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ectangle 12"/>
          <p:cNvSpPr/>
          <p:nvPr/>
        </p:nvSpPr>
        <p:spPr>
          <a:xfrm>
            <a:off x="6400800" y="1371600"/>
            <a:ext cx="21031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Internet-Facing NLB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(TCP)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11064240" cy="118872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731520" y="2404872"/>
            <a:ext cx="1828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200"/>
              <a:t>EKS Cluster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2176272"/>
            <a:ext cx="36576" cy="246887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7278624" y="2386584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5943600" y="2651760"/>
            <a:ext cx="27432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20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Port 8000  |  MCP Server (SSE)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Creds: demo-superuser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51760"/>
            <a:ext cx="32004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200"/>
              <a:t>Cassandra Ring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sts-0 / sts-1 / 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RF=3, DC=dc1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Headless: demo-dc1-all-pods-svc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46120"/>
            <a:ext cx="10972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2971800"/>
            <a:ext cx="1554480" cy="36576"/>
          </a:xfrm>
          <a:prstGeom prst="rect">
            <a:avLst/>
          </a:prstGeom>
          <a:solidFill>
            <a:srgbClr val="009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Isosceles Triangle 21"/>
          <p:cNvSpPr/>
          <p:nvPr/>
        </p:nvSpPr>
        <p:spPr>
          <a:xfrm rot="16200000">
            <a:off x="4005072" y="2935224"/>
            <a:ext cx="109728" cy="109728"/>
          </a:xfrm>
          <a:prstGeom prst="triangle">
            <a:avLst/>
          </a:prstGeom>
          <a:solidFill>
            <a:srgbClr val="009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 (deploy.sh)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69080"/>
            <a:ext cx="1920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43400"/>
            <a:ext cx="192024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EBS CSI driver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212080"/>
            <a:ext cx="19202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instant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8716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Isosceles Triangle 27"/>
          <p:cNvSpPr/>
          <p:nvPr/>
        </p:nvSpPr>
        <p:spPr>
          <a:xfrm rot="5400000">
            <a:off x="256946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2697480" y="4069080"/>
            <a:ext cx="1920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80" y="4343400"/>
            <a:ext cx="192024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cert-manager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cert-manager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5212080"/>
            <a:ext cx="19202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600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Isosceles Triangle 32"/>
          <p:cNvSpPr/>
          <p:nvPr/>
        </p:nvSpPr>
        <p:spPr>
          <a:xfrm rot="5400000">
            <a:off x="471830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TextBox 33"/>
          <p:cNvSpPr txBox="1"/>
          <p:nvPr/>
        </p:nvSpPr>
        <p:spPr>
          <a:xfrm>
            <a:off x="4846320" y="4069080"/>
            <a:ext cx="1920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46320" y="4343400"/>
            <a:ext cx="192024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200"/>
              <a:t>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Helm chart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ns: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212080"/>
            <a:ext cx="19202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~2 min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8484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Isosceles Triangle 37"/>
          <p:cNvSpPr/>
          <p:nvPr/>
        </p:nvSpPr>
        <p:spPr>
          <a:xfrm rot="5400000">
            <a:off x="686714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6995160" y="4069080"/>
            <a:ext cx="1920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95160" y="4343400"/>
            <a:ext cx="192024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F62FE"/>
                </a:solidFill>
                <a:latin typeface="Calibri"/>
              </a:defRPr>
            </a:pPr>
            <a:r>
              <a:rPr sz="12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CR: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3-node, 5Gi, 512M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5212080"/>
            <a:ext cx="19202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~5 min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33688" y="4709160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015984" y="467258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4" name="TextBox 43"/>
          <p:cNvSpPr txBox="1"/>
          <p:nvPr/>
        </p:nvSpPr>
        <p:spPr>
          <a:xfrm>
            <a:off x="9144000" y="4069080"/>
            <a:ext cx="1920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Step 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0" y="4343400"/>
            <a:ext cx="192024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4A148"/>
                </a:solidFill>
                <a:latin typeface="Calibri"/>
              </a:defRPr>
            </a:pPr>
            <a:r>
              <a:rPr sz="1200"/>
              <a:t>Apps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easy-cass-mcp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50"/>
              <a:t>nosqlbench, NLB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5212080"/>
            <a:ext cx="192024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 b="0">
                <a:solidFill>
                  <a:srgbClr val="C6C6C6"/>
                </a:solidFill>
                <a:latin typeface="Calibri"/>
              </a:defRPr>
            </a:pPr>
            <a:r>
              <a:rPr sz="1050"/>
              <a:t>~3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532120"/>
            <a:ext cx="10058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600"/>
              <a:t>Total fresh deploy: ~12-15 min  (+  EKS cluster creation: ~15-20 min)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4.1.3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datacenters: dc1, size: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dc1, size: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demo-dc1-default-sts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StorageClass: ebs-gp3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provisioner: ebs.csi.aws.com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WaitForFirstConsumer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server-data-sts-1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server-data-sts-2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5Gi,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get_table_latency  →  3 rows, key metrics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1007</Words>
  <Application>Microsoft Macintosh PowerPoint</Application>
  <PresentationFormat>Widescreen</PresentationFormat>
  <Paragraphs>258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2</cp:revision>
  <dcterms:created xsi:type="dcterms:W3CDTF">2013-01-27T09:14:16Z</dcterms:created>
  <dcterms:modified xsi:type="dcterms:W3CDTF">2026-03-18T01:29:22Z</dcterms:modified>
  <cp:category/>
</cp:coreProperties>
</file>