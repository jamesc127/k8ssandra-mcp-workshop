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69" r:id="rId4"/>
    <p:sldId id="268" r:id="rId5"/>
    <p:sldId id="267" r:id="rId6"/>
    <p:sldId id="257" r:id="rId7"/>
    <p:sldId id="258" r:id="rId8"/>
    <p:sldId id="259" r:id="rId9"/>
    <p:sldId id="260" r:id="rId10"/>
    <p:sldId id="272" r:id="rId11"/>
    <p:sldId id="271" r:id="rId12"/>
    <p:sldId id="270" r:id="rId13"/>
    <p:sldId id="265" r:id="rId14"/>
    <p:sldId id="261" r:id="rId15"/>
    <p:sldId id="262" r:id="rId16"/>
    <p:sldId id="264" r:id="rId17"/>
    <p:sldId id="273" r:id="rId18"/>
    <p:sldId id="266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4647"/>
  </p:normalViewPr>
  <p:slideViewPr>
    <p:cSldViewPr snapToGrid="0" snapToObjects="1">
      <p:cViewPr varScale="1">
        <p:scale>
          <a:sx n="149" d="100"/>
          <a:sy n="149" d="100"/>
        </p:scale>
        <p:origin x="192" y="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0972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Control C* Con Claude Code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058400" cy="7315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3200" b="0">
                <a:solidFill>
                  <a:srgbClr val="78A9FF"/>
                </a:solidFill>
                <a:latin typeface="Calibri"/>
              </a:defRPr>
            </a:pPr>
            <a:r>
              <a:rPr lang="en-US" dirty="0"/>
              <a:t>k8ssandra, MCP, and Skills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731520" y="3383280"/>
            <a:ext cx="2743200" cy="27432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8229600" cy="7315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600" b="0">
                <a:solidFill>
                  <a:srgbClr val="C6C6C6"/>
                </a:solidFill>
                <a:latin typeface="Calibri"/>
              </a:defRPr>
            </a:pPr>
            <a:r>
              <a:t>Apache Cassandra on OpenShift with the k8ssandra project</a:t>
            </a:r>
            <a:br/>
            <a:r>
              <a:t>and Claude-driven observability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Planet Cassandra #18  •  23 Sep 2026  •  IBM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Evolution of Cassandra Operations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From bespoke YAML to declarative platforms</a:t>
            </a:r>
          </a:p>
        </p:txBody>
      </p:sp>
      <p:sp>
        <p:nvSpPr>
          <p:cNvPr id="10" name="Era1 Label"/>
          <p:cNvSpPr txBox="1"/>
          <p:nvPr/>
        </p:nvSpPr>
        <p:spPr>
          <a:xfrm>
            <a:off x="548640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Pre-Kubernetes Era</a:t>
            </a:r>
          </a:p>
        </p:txBody>
      </p:sp>
      <p:sp>
        <p:nvSpPr>
          <p:cNvPr id="11" name="Era1 Box"/>
          <p:cNvSpPr/>
          <p:nvPr/>
        </p:nvSpPr>
        <p:spPr>
          <a:xfrm>
            <a:off x="548640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D8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600"/>
              <a:t>Hand-Edited YAMLs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cassandra.yaml on every node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SSH-and-edit rolling restarts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Seeds, racks, GC tuning bespoke per cluster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One bad indent = a node out of the ring</a:t>
            </a:r>
          </a:p>
        </p:txBody>
      </p:sp>
      <p:sp>
        <p:nvSpPr>
          <p:cNvPr id="12" name="Era1 Tagline"/>
          <p:cNvSpPr txBox="1"/>
          <p:nvPr/>
        </p:nvSpPr>
        <p:spPr>
          <a:xfrm>
            <a:off x="548640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8D8D8D"/>
                </a:solidFill>
                <a:latin typeface="Calibri"/>
              </a:defRPr>
            </a:pPr>
            <a:r>
              <a:rPr sz="1300" i="1"/>
              <a:t>“The Dark Ages”</a:t>
            </a:r>
          </a:p>
        </p:txBody>
      </p:sp>
      <p:sp>
        <p:nvSpPr>
          <p:cNvPr id="20" name="Era2 Label"/>
          <p:cNvSpPr txBox="1"/>
          <p:nvPr/>
        </p:nvSpPr>
        <p:spPr>
          <a:xfrm>
            <a:off x="6214802" y="1503226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DIY Kubernetes</a:t>
            </a:r>
          </a:p>
        </p:txBody>
      </p:sp>
      <p:sp>
        <p:nvSpPr>
          <p:cNvPr id="21" name="Era2 Box"/>
          <p:cNvSpPr/>
          <p:nvPr/>
        </p:nvSpPr>
        <p:spPr>
          <a:xfrm>
            <a:off x="6278480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F8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FF8389"/>
                </a:solidFill>
                <a:latin typeface="Calibri"/>
              </a:defRPr>
            </a:pPr>
            <a:r>
              <a:rPr sz="1600"/>
              <a:t>Hand-Rolled StatefulSets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Init containers for seed discovery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Manual PV lifecycle: lose a node, orphan a volume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Rack labels, anti-affinity, token math by hand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K8s doesn’t know about streaming or repair state</a:t>
            </a:r>
          </a:p>
        </p:txBody>
      </p:sp>
      <p:sp>
        <p:nvSpPr>
          <p:cNvPr id="22" name="Era2 Tagline"/>
          <p:cNvSpPr txBox="1"/>
          <p:nvPr/>
        </p:nvSpPr>
        <p:spPr>
          <a:xfrm>
            <a:off x="6278480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FF8389"/>
                </a:solidFill>
                <a:latin typeface="Calibri"/>
              </a:defRPr>
            </a:pPr>
            <a:r>
              <a:rPr sz="1300" i="1" dirty="0"/>
              <a:t>“Hope and Pain”</a:t>
            </a:r>
          </a:p>
        </p:txBody>
      </p:sp>
      <p:sp>
        <p:nvSpPr>
          <p:cNvPr id="30" name="Era3 Label"/>
          <p:cNvSpPr txBox="1"/>
          <p:nvPr/>
        </p:nvSpPr>
        <p:spPr>
          <a:xfrm>
            <a:off x="3392055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Infrastructure-as-Code</a:t>
            </a:r>
          </a:p>
        </p:txBody>
      </p:sp>
      <p:sp>
        <p:nvSpPr>
          <p:cNvPr id="31" name="Era3 Box"/>
          <p:cNvSpPr/>
          <p:nvPr/>
        </p:nvSpPr>
        <p:spPr>
          <a:xfrm>
            <a:off x="3392055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F1C21B"/>
                </a:solidFill>
                <a:latin typeface="Calibri"/>
              </a:defRPr>
            </a:pPr>
            <a:r>
              <a:rPr sz="1400"/>
              <a:t>Ansible · Terraform · Puppet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Repeatable deploys (when nothing breaks mid-play)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Config drift better (after the variable escaping)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Still imperative: gets you there, doesn’t keep you there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No self-healing — a dead node waits for a human</a:t>
            </a:r>
          </a:p>
        </p:txBody>
      </p:sp>
      <p:sp>
        <p:nvSpPr>
          <p:cNvPr id="32" name="Era3 Tagline"/>
          <p:cNvSpPr txBox="1"/>
          <p:nvPr/>
        </p:nvSpPr>
        <p:spPr>
          <a:xfrm>
            <a:off x="3392055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F1C21B"/>
                </a:solidFill>
                <a:latin typeface="Calibri"/>
              </a:defRPr>
            </a:pPr>
            <a:r>
              <a:rPr sz="1300" i="1"/>
              <a:t>“Better, not solved”</a:t>
            </a:r>
          </a:p>
        </p:txBody>
      </p:sp>
      <p:sp>
        <p:nvSpPr>
          <p:cNvPr id="40" name="Era4 Label"/>
          <p:cNvSpPr txBox="1"/>
          <p:nvPr/>
        </p:nvSpPr>
        <p:spPr>
          <a:xfrm>
            <a:off x="9207438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Operator Era</a:t>
            </a:r>
          </a:p>
        </p:txBody>
      </p:sp>
      <p:sp>
        <p:nvSpPr>
          <p:cNvPr id="41" name="Era4 Box"/>
          <p:cNvSpPr/>
          <p:nvPr/>
        </p:nvSpPr>
        <p:spPr>
          <a:xfrm>
            <a:off x="9207438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42BE65"/>
                </a:solidFill>
                <a:latin typeface="Calibri"/>
              </a:defRPr>
            </a:pPr>
            <a:r>
              <a:rPr sz="1600"/>
              <a:t>k8ssandra-operator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~25 lines of declarative YAML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Self-healing: pod dies, replacement scheduled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Medusa, Reaper, metrics — batteries included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Manages the cluster — operating it still takes expertise</a:t>
            </a:r>
          </a:p>
        </p:txBody>
      </p:sp>
      <p:sp>
        <p:nvSpPr>
          <p:cNvPr id="42" name="Era4 Tagline"/>
          <p:cNvSpPr txBox="1"/>
          <p:nvPr/>
        </p:nvSpPr>
        <p:spPr>
          <a:xfrm>
            <a:off x="9207438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42BE65"/>
                </a:solidFill>
                <a:latin typeface="Calibri"/>
              </a:defRPr>
            </a:pPr>
            <a:r>
              <a:rPr sz="1300" i="1"/>
              <a:t>“Declarative · Self-healing”</a:t>
            </a:r>
          </a:p>
        </p:txBody>
      </p:sp>
      <p:sp>
        <p:nvSpPr>
          <p:cNvPr id="50" name="Decoration 1"/>
          <p:cNvSpPr/>
          <p:nvPr/>
        </p:nvSpPr>
        <p:spPr>
          <a:xfrm>
            <a:off x="3120093" y="3131712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Arrow 1"/>
          <p:cNvSpPr/>
          <p:nvPr/>
        </p:nvSpPr>
        <p:spPr>
          <a:xfrm rot="5400000">
            <a:off x="3240074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2" name="Decoration 2"/>
          <p:cNvSpPr/>
          <p:nvPr/>
        </p:nvSpPr>
        <p:spPr>
          <a:xfrm>
            <a:off x="5985923" y="3138881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3" name="Arrow 2"/>
          <p:cNvSpPr/>
          <p:nvPr/>
        </p:nvSpPr>
        <p:spPr>
          <a:xfrm rot="5400000">
            <a:off x="6105074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4" name="Decoration 3"/>
          <p:cNvSpPr/>
          <p:nvPr/>
        </p:nvSpPr>
        <p:spPr>
          <a:xfrm>
            <a:off x="8860726" y="3131712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5" name="Arrow 3"/>
          <p:cNvSpPr/>
          <p:nvPr/>
        </p:nvSpPr>
        <p:spPr>
          <a:xfrm rot="5400000">
            <a:off x="8970074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0" name="Footer Hook"/>
          <p:cNvSpPr txBox="1"/>
          <p:nvPr/>
        </p:nvSpPr>
        <p:spPr>
          <a:xfrm>
            <a:off x="548640" y="52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>
                <a:solidFill>
                  <a:srgbClr val="78A9FF"/>
                </a:solidFill>
                <a:latin typeface="Calibri"/>
              </a:defRPr>
            </a:pPr>
            <a:r>
              <a:t>Where we are today  —  next: the whole k8ssandra project, then AI closes the operator-knowledge gap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k8ssandra Is (and Isn’t)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An umbrella project for running stock Apache Cassandra on Kubernetes</a:t>
            </a:r>
          </a:p>
        </p:txBody>
      </p:sp>
      <p:sp>
        <p:nvSpPr>
          <p:cNvPr id="10" name="Is Label"/>
          <p:cNvSpPr txBox="1"/>
          <p:nvPr/>
        </p:nvSpPr>
        <p:spPr>
          <a:xfrm>
            <a:off x="548640" y="15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>
                <a:solidFill>
                  <a:srgbClr val="42BE65"/>
                </a:solidFill>
                <a:latin typeface="Calibri"/>
              </a:defRPr>
            </a:pPr>
            <a:r>
              <a:t>What it IS</a:t>
            </a:r>
          </a:p>
        </p:txBody>
      </p:sp>
      <p:sp>
        <p:nvSpPr>
          <p:cNvPr id="11" name="Is Box"/>
          <p:cNvSpPr/>
          <p:nvPr/>
        </p:nvSpPr>
        <p:spPr>
          <a:xfrm>
            <a:off x="548640" y="1800000"/>
            <a:ext cx="55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200"/>
              </a:spcBef>
              <a:spcAft>
                <a:spcPts val="5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/>
              <a:t>An umbrella project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cass-operator, k8ssandra-operator, management-api, Reaper, Medusa, metrics agent, client CLI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/>
              <a:t>Stock Apache Cassandra 5.0.8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The exact tarball you’d download — no patches, no vendor build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/>
              <a:t>Community-owned, actively maintained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Born from DataStax K8s work — same engineering that underpins Mission Control</a:t>
            </a:r>
          </a:p>
          <a:p>
            <a:pPr marL="228600" indent="-228600" algn="l">
              <a:spcBef>
                <a:spcPts val="300"/>
              </a:spcBef>
              <a:spcAft>
                <a:spcPts val="2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/>
              <a:t>Batteries included, Helm-installable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Repairs, backups, metrics wired up out of the box — one Helm release</a:t>
            </a:r>
          </a:p>
        </p:txBody>
      </p:sp>
      <p:sp>
        <p:nvSpPr>
          <p:cNvPr id="20" name="Isnt Label"/>
          <p:cNvSpPr txBox="1"/>
          <p:nvPr/>
        </p:nvSpPr>
        <p:spPr>
          <a:xfrm>
            <a:off x="6146080" y="15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>
                <a:solidFill>
                  <a:srgbClr val="FF8389"/>
                </a:solidFill>
                <a:latin typeface="Calibri"/>
              </a:defRPr>
            </a:pPr>
            <a:r>
              <a:t>What it is NOT</a:t>
            </a:r>
          </a:p>
        </p:txBody>
      </p:sp>
      <p:sp>
        <p:nvSpPr>
          <p:cNvPr id="21" name="Isnt Box"/>
          <p:cNvSpPr/>
          <p:nvPr/>
        </p:nvSpPr>
        <p:spPr>
          <a:xfrm>
            <a:off x="6146080" y="1800000"/>
            <a:ext cx="55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F8389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200"/>
              </a:spcBef>
              <a:spcAft>
                <a:spcPts val="5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A fork of Cassandra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No custom build. It runs the Apache release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A distribution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No proprietary bits, no license gate, no walled garden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Just one operator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It’s a suite of components. See next slide</a:t>
            </a:r>
          </a:p>
          <a:p>
            <a:pPr marL="228600" indent="-228600" algn="l">
              <a:spcBef>
                <a:spcPts val="300"/>
              </a:spcBef>
              <a:spcAft>
                <a:spcPts val="2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Deploying Stargate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100" i="1">
                <a:solidFill>
                  <a:srgbClr val="C6C6C6"/>
                </a:solidFill>
                <a:latin typeface="Calibri"/>
              </a:defRPr>
            </a:pPr>
            <a:r>
              <a:rPr sz="1200" i="1"/>
              <a:t>Deprecated. Incompatible with Cassandra 5.0+. Operator warns. Left off deliberately.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48640" y="57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A project that retires something and tells you clearly is a project you can plan around.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k8ssandra Components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Six pieces that turn one CR into a running suite</a:t>
            </a:r>
          </a:p>
        </p:txBody>
      </p:sp>
      <p:sp>
        <p:nvSpPr>
          <p:cNvPr id="10" name="cass-op title"/>
          <p:cNvSpPr txBox="1"/>
          <p:nvPr/>
        </p:nvSpPr>
        <p:spPr>
          <a:xfrm>
            <a:off x="548640" y="142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Foundation</a:t>
            </a:r>
          </a:p>
        </p:txBody>
      </p:sp>
      <p:sp>
        <p:nvSpPr>
          <p:cNvPr id="11" name="cass-op box"/>
          <p:cNvSpPr/>
          <p:nvPr/>
        </p:nvSpPr>
        <p:spPr>
          <a:xfrm>
            <a:off x="548640" y="1700000"/>
            <a:ext cx="3498240" cy="1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1600" b="1"/>
              <a:t>cass-operator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Owns the ring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StatefulSets, seed discovery, rack placement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Rolling restarts that understand Cassandra’s state</a:t>
            </a:r>
          </a:p>
        </p:txBody>
      </p:sp>
      <p:sp>
        <p:nvSpPr>
          <p:cNvPr id="20" name="k8ssandra-op title"/>
          <p:cNvSpPr txBox="1"/>
          <p:nvPr/>
        </p:nvSpPr>
        <p:spPr>
          <a:xfrm>
            <a:off x="4346880" y="142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Foundation</a:t>
            </a:r>
          </a:p>
        </p:txBody>
      </p:sp>
      <p:sp>
        <p:nvSpPr>
          <p:cNvPr id="21" name="k8ssandra-op box"/>
          <p:cNvSpPr/>
          <p:nvPr/>
        </p:nvSpPr>
        <p:spPr>
          <a:xfrm>
            <a:off x="4346880" y="1700000"/>
            <a:ext cx="3498240" cy="1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1600" b="1"/>
              <a:t>k8ssandra-operator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Owns the suite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Reconciles one K8ssandraCluster CR into cass-operator + everything below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Control-plane / data-plane split gives multi-DC from the same CR shape</a:t>
            </a:r>
          </a:p>
        </p:txBody>
      </p:sp>
      <p:sp>
        <p:nvSpPr>
          <p:cNvPr id="30" name="mgmt-api title"/>
          <p:cNvSpPr txBox="1"/>
          <p:nvPr/>
        </p:nvSpPr>
        <p:spPr>
          <a:xfrm>
            <a:off x="8145120" y="142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Foundation</a:t>
            </a:r>
          </a:p>
        </p:txBody>
      </p:sp>
      <p:sp>
        <p:nvSpPr>
          <p:cNvPr id="31" name="mgmt-api box"/>
          <p:cNvSpPr/>
          <p:nvPr/>
        </p:nvSpPr>
        <p:spPr>
          <a:xfrm>
            <a:off x="8145120" y="1700000"/>
            <a:ext cx="3498240" cy="1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1600" b="1"/>
              <a:t>management-api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The HTTP control plane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Sidecar in every Cassandra pod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Replaced shelling into nodetool — operators drive it, metrics scrape it</a:t>
            </a:r>
          </a:p>
        </p:txBody>
      </p:sp>
      <p:sp>
        <p:nvSpPr>
          <p:cNvPr id="40" name="reaper title"/>
          <p:cNvSpPr txBox="1"/>
          <p:nvPr/>
        </p:nvSpPr>
        <p:spPr>
          <a:xfrm>
            <a:off x="548640" y="380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Batteries</a:t>
            </a:r>
          </a:p>
        </p:txBody>
      </p:sp>
      <p:sp>
        <p:nvSpPr>
          <p:cNvPr id="41" name="reaper box"/>
          <p:cNvSpPr/>
          <p:nvPr/>
        </p:nvSpPr>
        <p:spPr>
          <a:xfrm>
            <a:off x="548640" y="4080000"/>
            <a:ext cx="3498240" cy="1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42BE65"/>
                </a:solidFill>
                <a:latin typeface="Consolas"/>
              </a:defRPr>
            </a:pPr>
            <a:r>
              <a:rPr sz="1600" b="1"/>
              <a:t>Reaper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Anti-entropy repair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Segmented, scheduled repairs. Keeps replicas from drifting. The zombie-data preventer</a:t>
            </a:r>
          </a:p>
        </p:txBody>
      </p:sp>
      <p:sp>
        <p:nvSpPr>
          <p:cNvPr id="50" name="medusa title"/>
          <p:cNvSpPr txBox="1"/>
          <p:nvPr/>
        </p:nvSpPr>
        <p:spPr>
          <a:xfrm>
            <a:off x="4346880" y="380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Batteries</a:t>
            </a:r>
          </a:p>
        </p:txBody>
      </p:sp>
      <p:sp>
        <p:nvSpPr>
          <p:cNvPr id="51" name="medusa box"/>
          <p:cNvSpPr/>
          <p:nvPr/>
        </p:nvSpPr>
        <p:spPr>
          <a:xfrm>
            <a:off x="4346880" y="4080000"/>
            <a:ext cx="3498240" cy="1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42BE65"/>
                </a:solidFill>
                <a:latin typeface="Consolas"/>
              </a:defRPr>
            </a:pPr>
            <a:r>
              <a:rPr sz="1600" b="1"/>
              <a:t>Medusa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Backup &amp; restore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Sidecar per pod. Uploads sstables to any S3-compatible bucket. AWS S3, GCS, NooBaa — portable</a:t>
            </a:r>
          </a:p>
        </p:txBody>
      </p:sp>
      <p:sp>
        <p:nvSpPr>
          <p:cNvPr id="60" name="metrics title"/>
          <p:cNvSpPr txBox="1"/>
          <p:nvPr/>
        </p:nvSpPr>
        <p:spPr>
          <a:xfrm>
            <a:off x="8145120" y="380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Batteries</a:t>
            </a:r>
          </a:p>
        </p:txBody>
      </p:sp>
      <p:sp>
        <p:nvSpPr>
          <p:cNvPr id="61" name="metrics box"/>
          <p:cNvSpPr/>
          <p:nvPr/>
        </p:nvSpPr>
        <p:spPr>
          <a:xfrm>
            <a:off x="8145120" y="4080000"/>
            <a:ext cx="3498240" cy="1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42BE65"/>
                </a:solidFill>
                <a:latin typeface="Consolas"/>
              </a:defRPr>
            </a:pPr>
            <a:r>
              <a:rPr sz="1600" b="1"/>
              <a:t>metrics agent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Prometheus, out of the box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Native Prometheus endpoint via management-api. No JMX exporter sidecar to hand-roll</a:t>
            </a:r>
          </a:p>
        </p:txBody>
      </p:sp>
      <p:sp>
        <p:nvSpPr>
          <p:cNvPr id="70" name="Footer"/>
          <p:cNvSpPr txBox="1"/>
          <p:nvPr/>
        </p:nvSpPr>
        <p:spPr>
          <a:xfrm>
            <a:off x="548640" y="582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78A9FF"/>
                </a:solidFill>
                <a:latin typeface="Calibri"/>
              </a:defRPr>
            </a:pPr>
            <a:r>
              <a:t>v1.33.0 released 2026-09-03  •  Reaper 5.0.1, Medusa 0.30.1, cass-operator 1.32.0  •  pin your charts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One CR, One Suite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~150 lines of YAML declare the whole platform</a:t>
            </a:r>
          </a:p>
        </p:txBody>
      </p:sp>
      <p:sp>
        <p:nvSpPr>
          <p:cNvPr id="10" name="CR Header"/>
          <p:cNvSpPr txBox="1"/>
          <p:nvPr/>
        </p:nvSpPr>
        <p:spPr>
          <a:xfrm>
            <a:off x="548640" y="1420000"/>
            <a:ext cx="61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k8ssandra-cluster.yaml  (excerpt)</a:t>
            </a:r>
          </a:p>
        </p:txBody>
      </p:sp>
      <p:sp>
        <p:nvSpPr>
          <p:cNvPr id="11" name="CR Code Box"/>
          <p:cNvSpPr/>
          <p:nvPr/>
        </p:nvSpPr>
        <p:spPr>
          <a:xfrm>
            <a:off x="548640" y="1720000"/>
            <a:ext cx="6100000" cy="41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109728" rIns="91440" bIns="91440" rtlCol="0" anchor="t"/>
          <a:lstStyle/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78A9FF"/>
                </a:solidFill>
              </a:rPr>
              <a:t>kind:</a:t>
            </a:r>
            <a:r>
              <a:rPr sz="1100"/>
              <a:t> K8ssandraCluster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78A9FF"/>
                </a:solidFill>
              </a:rPr>
              <a:t>metadata:</a:t>
            </a:r>
            <a:r>
              <a:rPr sz="1100"/>
              <a:t> { name: demo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/>
              </a:rPr>
              <a:t>spec: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cassandra: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serverVersion: </a:t>
            </a:r>
            <a:r>
              <a:rPr sz="1100">
                <a:solidFill>
                  <a:srgbClr val="F1C21B"/>
                </a:solidFill>
              </a:rPr>
              <a:t>“5.0.8”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datacenters: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- metadata: { name: dc1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size: 3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      racks: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- name: rack1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  nodeAffinityLabels: { k8ssandra.io/rack: rack1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- name: rack2  # rack3 same shape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storageConfig: { storageClass: ceph-rbd, 150Gi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      telemetry: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prometheus: { enabled: true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reaper: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deploymentMode: PER_DC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storageType: cassandra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medusa: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storageProperties: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storageProvider: s3_compatible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host: s3.openshift-storage.svc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bucketName: &lt;from OBC&gt;</a:t>
            </a:r>
          </a:p>
        </p:txBody>
      </p:sp>
      <p:sp>
        <p:nvSpPr>
          <p:cNvPr id="20" name="Yields Header"/>
          <p:cNvSpPr txBox="1"/>
          <p:nvPr/>
        </p:nvSpPr>
        <p:spPr>
          <a:xfrm>
            <a:off x="6848640" y="1420000"/>
            <a:ext cx="479472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that CR yields</a:t>
            </a:r>
          </a:p>
        </p:txBody>
      </p:sp>
      <p:sp>
        <p:nvSpPr>
          <p:cNvPr id="21" name="Yields Box"/>
          <p:cNvSpPr/>
          <p:nvPr/>
        </p:nvSpPr>
        <p:spPr>
          <a:xfrm>
            <a:off x="6848640" y="1720000"/>
            <a:ext cx="4794720" cy="4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Three per-rack StatefulSets, seeds discovered, tokens allocated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Headless services (all-pods, contact-points, seed, per-DC)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demo-superuser Secret, auto-generated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PVC lifecycle on Ceph RBD, one per pod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Rack-aware pod placement + token allocation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Reaper Deployment + reaper_db schema migrations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Medusa sidecar in every pod + backup pipeline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ServiceMonitors for Prometheus scraping (Cassandra + Reaper)</a:t>
            </a:r>
          </a:p>
          <a:p>
            <a:pPr marL="228600" indent="-228600" algn="l">
              <a:spcBef>
                <a:spcPts val="200"/>
              </a:spcBef>
              <a:spcAft>
                <a:spcPts val="2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The ceiling: multi-DC + multi-cluster from the same CR shape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48640" y="59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The rack block is six lines. That’s the token math from Part 2, gone.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OpenShift Infrastructure Topology</a:t>
            </a:r>
          </a:p>
        </p:txBody>
      </p:sp>
      <p:sp>
        <p:nvSpPr>
          <p:cNvPr id="4" name="Cluster Region Label"/>
          <p:cNvSpPr txBox="1"/>
          <p:nvPr/>
        </p:nvSpPr>
        <p:spPr>
          <a:xfrm>
            <a:off x="548640" y="960120"/>
            <a:ext cx="1109472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IBM TechZone (itz-ckzpiv, Dallas)  •  OpenShift 4.19.38 / Kubernetes 1.32.13</a:t>
            </a:r>
          </a:p>
        </p:txBody>
      </p:sp>
      <p:sp>
        <p:nvSpPr>
          <p:cNvPr id="5" name="Cluster Outer Box"/>
          <p:cNvSpPr/>
          <p:nvPr/>
        </p:nvSpPr>
        <p:spPr>
          <a:xfrm>
            <a:off x="365760" y="1320800"/>
            <a:ext cx="11430000" cy="4900000"/>
          </a:xfrm>
          <a:prstGeom prst="rect">
            <a:avLst/>
          </a:prstGeom>
          <a:solidFill>
            <a:srgbClr val="1E1E1E"/>
          </a:solidFill>
          <a:ln w="12700">
            <a:solidFill>
              <a:srgbClr val="0F62FE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ControlPlane Label"/>
          <p:cNvSpPr txBox="1"/>
          <p:nvPr/>
        </p:nvSpPr>
        <p:spPr>
          <a:xfrm>
            <a:off x="548640" y="138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Control Plane  —  NOT schedulable</a:t>
            </a:r>
          </a:p>
        </p:txBody>
      </p:sp>
      <p:sp>
        <p:nvSpPr>
          <p:cNvPr id="11" name="Master 1"/>
          <p:cNvSpPr/>
          <p:nvPr/>
        </p:nvSpPr>
        <p:spPr>
          <a:xfrm>
            <a:off x="548640" y="1680000"/>
            <a:ext cx="177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6F6F6F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master-1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00"/>
              <a:t>8 vCPU / 32 GiB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taint: master</a:t>
            </a:r>
          </a:p>
        </p:txBody>
      </p:sp>
      <p:sp>
        <p:nvSpPr>
          <p:cNvPr id="12" name="Master 2"/>
          <p:cNvSpPr/>
          <p:nvPr/>
        </p:nvSpPr>
        <p:spPr>
          <a:xfrm>
            <a:off x="2432640" y="1680000"/>
            <a:ext cx="177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6F6F6F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master-2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00"/>
              <a:t>8 vCPU / 32 GiB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taint: master</a:t>
            </a:r>
          </a:p>
        </p:txBody>
      </p:sp>
      <p:sp>
        <p:nvSpPr>
          <p:cNvPr id="13" name="Master 3"/>
          <p:cNvSpPr/>
          <p:nvPr/>
        </p:nvSpPr>
        <p:spPr>
          <a:xfrm>
            <a:off x="4316640" y="1680000"/>
            <a:ext cx="177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6F6F6F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master-3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00"/>
              <a:t>8 vCPU / 32 GiB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taint: master</a:t>
            </a:r>
          </a:p>
        </p:txBody>
      </p:sp>
      <p:sp>
        <p:nvSpPr>
          <p:cNvPr id="15" name="Warnings Box"/>
          <p:cNvSpPr/>
          <p:nvPr/>
        </p:nvSpPr>
        <p:spPr>
          <a:xfrm>
            <a:off x="6350000" y="1400000"/>
            <a:ext cx="5300000" cy="98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73152" rIns="91440" bIns="73152" rtlCol="0" anchor="ctr"/>
          <a:lstStyle/>
          <a:p>
            <a:pPr marL="228600" indent="-228600" algn="l">
              <a:spcAft>
                <a:spcPts val="300"/>
              </a:spcAft>
              <a:buClr>
                <a:srgbClr val="FF8389"/>
              </a:buClr>
              <a:buChar char="⚠"/>
              <a:defRPr sz="1000" b="1">
                <a:solidFill>
                  <a:srgbClr val="FF8389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NO topology.kubernetes.io/zone labels exist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Racks map to nodes via k8ssandra.io/rack (applied by node-labels.sh)</a:t>
            </a:r>
          </a:p>
          <a:p>
            <a:pPr marL="228600" indent="-228600" algn="l">
              <a:spcBef>
                <a:spcPts val="200"/>
              </a:spcBef>
              <a:spcAft>
                <a:spcPts val="300"/>
              </a:spcAft>
              <a:buClr>
                <a:srgbClr val="FF8389"/>
              </a:buClr>
              <a:buChar char="⚠"/>
              <a:defRPr sz="1000" b="1">
                <a:solidFill>
                  <a:srgbClr val="FF8389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LoadBalancer services never provision</a:t>
            </a:r>
          </a:p>
          <a:p>
            <a:pPr marL="228600" indent="0" algn="l">
              <a:spcBef>
                <a:spcPts val="0"/>
              </a:spcBef>
              <a:buNone/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Everything external is exposed by Route (edge TLS)</a:t>
            </a:r>
          </a:p>
        </p:txBody>
      </p:sp>
      <p:sp>
        <p:nvSpPr>
          <p:cNvPr id="20" name="Workers Label"/>
          <p:cNvSpPr txBox="1"/>
          <p:nvPr/>
        </p:nvSpPr>
        <p:spPr>
          <a:xfrm>
            <a:off x="548640" y="2500000"/>
            <a:ext cx="111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Workers  —  5 × 32 vCPU / 125 GiB  (~31.5 CPU / ~124 GiB allocatable each)</a:t>
            </a:r>
          </a:p>
        </p:txBody>
      </p:sp>
      <p:sp>
        <p:nvSpPr>
          <p:cNvPr id="21" name="Worker rack1"/>
          <p:cNvSpPr/>
          <p:nvPr/>
        </p:nvSpPr>
        <p:spPr>
          <a:xfrm>
            <a:off x="54864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worker-1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workload=cassandra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k8ssandra.io/rack=rack1</a:t>
            </a:r>
          </a:p>
        </p:txBody>
      </p:sp>
      <p:sp>
        <p:nvSpPr>
          <p:cNvPr id="22" name="Worker rack2"/>
          <p:cNvSpPr/>
          <p:nvPr/>
        </p:nvSpPr>
        <p:spPr>
          <a:xfrm>
            <a:off x="282000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worker-2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workload=cassandra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k8ssandra.io/rack=rack2</a:t>
            </a:r>
          </a:p>
        </p:txBody>
      </p:sp>
      <p:sp>
        <p:nvSpPr>
          <p:cNvPr id="23" name="Worker rack3"/>
          <p:cNvSpPr/>
          <p:nvPr/>
        </p:nvSpPr>
        <p:spPr>
          <a:xfrm>
            <a:off x="509136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worker-3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workload=cassandra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k8ssandra.io/rack=rack3</a:t>
            </a:r>
          </a:p>
        </p:txBody>
      </p:sp>
      <p:sp>
        <p:nvSpPr>
          <p:cNvPr id="24" name="Worker loadgen"/>
          <p:cNvSpPr/>
          <p:nvPr/>
        </p:nvSpPr>
        <p:spPr>
          <a:xfrm>
            <a:off x="736272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1C21B"/>
                </a:solidFill>
                <a:latin typeface="Calibri"/>
              </a:defRPr>
            </a:pPr>
            <a:r>
              <a:rPr sz="1200"/>
              <a:t>worker-4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workload=loadgen</a:t>
            </a:r>
          </a:p>
          <a:p>
            <a:pPr algn="ctr">
              <a:defRPr sz="800">
                <a:solidFill>
                  <a:srgbClr val="FF8389"/>
                </a:solidFill>
                <a:latin typeface="Calibri"/>
              </a:defRPr>
            </a:pPr>
            <a:r>
              <a:rPr sz="950" b="1"/>
              <a:t>TAINTED  NoSchedule</a:t>
            </a:r>
          </a:p>
        </p:txBody>
      </p:sp>
      <p:sp>
        <p:nvSpPr>
          <p:cNvPr id="25" name="Worker utility"/>
          <p:cNvSpPr/>
          <p:nvPr/>
        </p:nvSpPr>
        <p:spPr>
          <a:xfrm>
            <a:off x="9634080" y="2800000"/>
            <a:ext cx="201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200"/>
              <a:t>worker-5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workload=utility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50" i="1"/>
              <a:t>ops + Prom/Grafana</a:t>
            </a:r>
          </a:p>
        </p:txBody>
      </p:sp>
      <p:sp>
        <p:nvSpPr>
          <p:cNvPr id="30" name="Storage Label"/>
          <p:cNvSpPr txBox="1"/>
          <p:nvPr/>
        </p:nvSpPr>
        <p:spPr>
          <a:xfrm>
            <a:off x="548640" y="41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Block storage</a:t>
            </a:r>
          </a:p>
        </p:txBody>
      </p:sp>
      <p:sp>
        <p:nvSpPr>
          <p:cNvPr id="31" name="ODF Box"/>
          <p:cNvSpPr/>
          <p:nvPr/>
        </p:nvSpPr>
        <p:spPr>
          <a:xfrm>
            <a:off x="548640" y="4400000"/>
            <a:ext cx="53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300"/>
              <a:t>OpenShift Data Foundation (ODF)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External Ceph cluster, HEALTH_OK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StorageClass: ocs-storagecluster-ceph-rbd (default, RWO)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No IOPS/throughput knob — the Ceph cluster provides performance</a:t>
            </a:r>
          </a:p>
        </p:txBody>
      </p:sp>
      <p:sp>
        <p:nvSpPr>
          <p:cNvPr id="40" name="Object Storage Label"/>
          <p:cNvSpPr txBox="1"/>
          <p:nvPr/>
        </p:nvSpPr>
        <p:spPr>
          <a:xfrm>
            <a:off x="6150000" y="41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Object storage (for Medusa)</a:t>
            </a:r>
          </a:p>
        </p:txBody>
      </p:sp>
      <p:sp>
        <p:nvSpPr>
          <p:cNvPr id="41" name="NooBaa Box"/>
          <p:cNvSpPr/>
          <p:nvPr/>
        </p:nvSpPr>
        <p:spPr>
          <a:xfrm>
            <a:off x="6150000" y="4400000"/>
            <a:ext cx="5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000" b="1">
                <a:solidFill>
                  <a:srgbClr val="42BE65"/>
                </a:solidFill>
                <a:latin typeface="Calibri"/>
              </a:defRPr>
            </a:pPr>
            <a:r>
              <a:rPr lang="en-US" sz="1300" dirty="0" err="1"/>
              <a:t>MinIO</a:t>
            </a:r>
            <a:endParaRPr lang="en-US" sz="1300" dirty="0"/>
          </a:p>
          <a:p>
            <a:pPr algn="l">
              <a:spcBef>
                <a:spcPts val="20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lang="en-US" sz="1050" dirty="0"/>
              <a:t>S3-compatible, in-cluster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svc: s3.openshift-storage.svc:443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 dirty="0"/>
              <a:t>Provisioned via </a:t>
            </a:r>
            <a:r>
              <a:rPr sz="1000" i="1" dirty="0" err="1"/>
              <a:t>ObjectBucketClaim</a:t>
            </a:r>
            <a:r>
              <a:rPr sz="1000" i="1" dirty="0"/>
              <a:t> — no AWS, no IAM request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Namespace &amp; Workload Layout</a:t>
            </a:r>
          </a:p>
        </p:txBody>
      </p:sp>
      <p:sp>
        <p:nvSpPr>
          <p:cNvPr id="4" name="Default NS Container"/>
          <p:cNvSpPr/>
          <p:nvPr/>
        </p:nvSpPr>
        <p:spPr>
          <a:xfrm>
            <a:off x="365760" y="1050000"/>
            <a:ext cx="11430000" cy="3900000"/>
          </a:xfrm>
          <a:prstGeom prst="rect">
            <a:avLst/>
          </a:prstGeom>
          <a:solidFill>
            <a:srgbClr val="262626"/>
          </a:solidFill>
          <a:ln w="12700">
            <a:solidFill>
              <a:srgbClr val="0F62FE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Default NS Label"/>
          <p:cNvSpPr txBox="1"/>
          <p:nvPr/>
        </p:nvSpPr>
        <p:spPr>
          <a:xfrm>
            <a:off x="548640" y="1100000"/>
            <a:ext cx="10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Namespace: default  </a:t>
            </a:r>
            <a:r>
              <a:rPr sz="1050" b="0">
                <a:solidFill>
                  <a:srgbClr val="8D8D8D"/>
                </a:solidFill>
              </a:rPr>
              <a:t>(PSA enforce=privileged — OpenShift exempts ‘default’. Load-bearing.)</a:t>
            </a:r>
          </a:p>
        </p:txBody>
      </p:sp>
      <p:sp>
        <p:nvSpPr>
          <p:cNvPr id="10" name="Cassandra Ring Label"/>
          <p:cNvSpPr txBox="1"/>
          <p:nvPr/>
        </p:nvSpPr>
        <p:spPr>
          <a:xfrm>
            <a:off x="548640" y="1400000"/>
            <a:ext cx="10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8A3FFC"/>
                </a:solidFill>
                <a:latin typeface="Calibri"/>
              </a:defRPr>
            </a:pPr>
            <a:r>
              <a:rPr sz="1200"/>
              <a:t>Cassandra ring  —  one StatefulSet per rack  (12/14 CPU, 32 GiB, 8G heap, PVC 150Gi ceph-rbd)</a:t>
            </a:r>
          </a:p>
        </p:txBody>
      </p:sp>
      <p:sp>
        <p:nvSpPr>
          <p:cNvPr id="11" name="rack1 Pod"/>
          <p:cNvSpPr/>
          <p:nvPr/>
        </p:nvSpPr>
        <p:spPr>
          <a:xfrm>
            <a:off x="548640" y="1680000"/>
            <a:ext cx="360000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73152" rIns="91440" bIns="73152" rtlCol="0" anchor="t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onsolas"/>
              </a:defRPr>
            </a:pPr>
            <a:r>
              <a:rPr sz="1200" b="1"/>
              <a:t>demo-dc1-rack1-sts-0</a:t>
            </a:r>
          </a:p>
          <a:p>
            <a:pPr algn="ctr">
              <a:spcBef>
                <a:spcPts val="0"/>
              </a:spcBef>
              <a:spcAft>
                <a:spcPts val="300"/>
              </a:spcAft>
              <a:defRPr sz="800" i="1">
                <a:solidFill>
                  <a:srgbClr val="8D8D8D"/>
                </a:solidFill>
                <a:latin typeface="Calibri"/>
              </a:defRPr>
            </a:pPr>
            <a:r>
              <a:rPr sz="900" i="1"/>
              <a:t>[worker-1]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containers 3/3:</a:t>
            </a:r>
            <a:r>
              <a:rPr sz="1000">
                <a:solidFill>
                  <a:srgbClr val="C6C6C6"/>
                </a:solidFill>
              </a:rPr>
              <a:t>  cassandra 5.0.8  ·  medusa (sidecar)  ·  server-system-logger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 b="1"/>
              <a:t>init:</a:t>
            </a:r>
            <a:r>
              <a:rPr sz="1000"/>
              <a:t>  server-config-init-base  ·  server-config-init  ·  medusa-restore</a:t>
            </a:r>
          </a:p>
        </p:txBody>
      </p:sp>
      <p:sp>
        <p:nvSpPr>
          <p:cNvPr id="12" name="rack2 Pod"/>
          <p:cNvSpPr/>
          <p:nvPr/>
        </p:nvSpPr>
        <p:spPr>
          <a:xfrm>
            <a:off x="4296000" y="1680000"/>
            <a:ext cx="360000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73152" rIns="91440" bIns="73152" rtlCol="0" anchor="t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onsolas"/>
              </a:defRPr>
            </a:pPr>
            <a:r>
              <a:rPr sz="1200" b="1"/>
              <a:t>demo-dc1-rack2-sts-0</a:t>
            </a:r>
          </a:p>
          <a:p>
            <a:pPr algn="ctr">
              <a:spcBef>
                <a:spcPts val="0"/>
              </a:spcBef>
              <a:spcAft>
                <a:spcPts val="300"/>
              </a:spcAft>
              <a:defRPr sz="800" i="1">
                <a:solidFill>
                  <a:srgbClr val="8D8D8D"/>
                </a:solidFill>
                <a:latin typeface="Calibri"/>
              </a:defRPr>
            </a:pPr>
            <a:r>
              <a:rPr sz="900" i="1"/>
              <a:t>[worker-2]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containers 3/3:</a:t>
            </a:r>
            <a:r>
              <a:rPr sz="1000">
                <a:solidFill>
                  <a:srgbClr val="C6C6C6"/>
                </a:solidFill>
              </a:rPr>
              <a:t>  cassandra  ·  medusa  ·  server-system-logger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 b="1"/>
              <a:t>init:</a:t>
            </a:r>
            <a:r>
              <a:rPr sz="1000"/>
              <a:t>  server-config × 2  ·  medusa-restore</a:t>
            </a:r>
          </a:p>
        </p:txBody>
      </p:sp>
      <p:sp>
        <p:nvSpPr>
          <p:cNvPr id="13" name="rack3 Pod"/>
          <p:cNvSpPr/>
          <p:nvPr/>
        </p:nvSpPr>
        <p:spPr>
          <a:xfrm>
            <a:off x="8043360" y="1680000"/>
            <a:ext cx="360000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73152" rIns="91440" bIns="73152" rtlCol="0" anchor="t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onsolas"/>
              </a:defRPr>
            </a:pPr>
            <a:r>
              <a:rPr sz="1200" b="1"/>
              <a:t>demo-dc1-rack3-sts-0</a:t>
            </a:r>
          </a:p>
          <a:p>
            <a:pPr algn="ctr">
              <a:spcBef>
                <a:spcPts val="0"/>
              </a:spcBef>
              <a:spcAft>
                <a:spcPts val="300"/>
              </a:spcAft>
              <a:defRPr sz="800" i="1">
                <a:solidFill>
                  <a:srgbClr val="8D8D8D"/>
                </a:solidFill>
                <a:latin typeface="Calibri"/>
              </a:defRPr>
            </a:pPr>
            <a:r>
              <a:rPr sz="900" i="1"/>
              <a:t>[worker-3]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containers 3/3:</a:t>
            </a:r>
            <a:r>
              <a:rPr sz="1000">
                <a:solidFill>
                  <a:srgbClr val="C6C6C6"/>
                </a:solidFill>
              </a:rPr>
              <a:t>  cassandra  ·  medusa  ·  server-system-logger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 b="1"/>
              <a:t>init:</a:t>
            </a:r>
            <a:r>
              <a:rPr sz="1000"/>
              <a:t>  server-config × 2  ·  medusa-restore</a:t>
            </a:r>
          </a:p>
        </p:txBody>
      </p:sp>
      <p:sp>
        <p:nvSpPr>
          <p:cNvPr id="20" name="k8ssandra-op box"/>
          <p:cNvSpPr/>
          <p:nvPr/>
        </p:nvSpPr>
        <p:spPr>
          <a:xfrm>
            <a:off x="548640" y="3200000"/>
            <a:ext cx="270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C6C6C6"/>
                </a:solidFill>
                <a:latin typeface="Consolas"/>
              </a:defRPr>
            </a:pPr>
            <a:r>
              <a:rPr sz="1100" b="1"/>
              <a:t>k8ssandra-operator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watches K8ssandraCluster</a:t>
            </a:r>
          </a:p>
        </p:txBody>
      </p:sp>
      <p:sp>
        <p:nvSpPr>
          <p:cNvPr id="21" name="cass-op box"/>
          <p:cNvSpPr/>
          <p:nvPr/>
        </p:nvSpPr>
        <p:spPr>
          <a:xfrm>
            <a:off x="3400000" y="3200000"/>
            <a:ext cx="270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C6C6C6"/>
                </a:solidFill>
                <a:latin typeface="Consolas"/>
              </a:defRPr>
            </a:pPr>
            <a:r>
              <a:rPr sz="1100" b="1"/>
              <a:t>cass-operator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watches CassandraDatacenter</a:t>
            </a:r>
          </a:p>
        </p:txBody>
      </p:sp>
      <p:sp>
        <p:nvSpPr>
          <p:cNvPr id="22" name="reaper box"/>
          <p:cNvSpPr/>
          <p:nvPr/>
        </p:nvSpPr>
        <p:spPr>
          <a:xfrm>
            <a:off x="6250000" y="3200000"/>
            <a:ext cx="270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42BE65"/>
                </a:solidFill>
                <a:latin typeface="Consolas"/>
              </a:defRPr>
            </a:pPr>
            <a:r>
              <a:rPr sz="1100" b="1"/>
              <a:t>demo-dc1-reaper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storageType: cassandra (reaper_db)</a:t>
            </a:r>
          </a:p>
        </p:txBody>
      </p:sp>
      <p:sp>
        <p:nvSpPr>
          <p:cNvPr id="23" name="mcp box"/>
          <p:cNvSpPr/>
          <p:nvPr/>
        </p:nvSpPr>
        <p:spPr>
          <a:xfrm>
            <a:off x="9100000" y="3200000"/>
            <a:ext cx="254336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1192E8"/>
                </a:solidFill>
                <a:latin typeface="Consolas"/>
              </a:defRPr>
            </a:pPr>
            <a:r>
              <a:rPr sz="1100" b="1"/>
              <a:t>easy-cass-mcp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ClusterIP :8000, FASTMCP_SERVER_HOST=0.0.0.0</a:t>
            </a:r>
          </a:p>
        </p:txBody>
      </p:sp>
      <p:sp>
        <p:nvSpPr>
          <p:cNvPr id="30" name="Services Label"/>
          <p:cNvSpPr txBox="1"/>
          <p:nvPr/>
        </p:nvSpPr>
        <p:spPr>
          <a:xfrm>
            <a:off x="548640" y="4050000"/>
            <a:ext cx="1110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Services (all ClusterIP  —  no LoadBalancer on this cluster):</a:t>
            </a:r>
            <a:r>
              <a:rPr sz="1000" b="0">
                <a:solidFill>
                  <a:srgbClr val="8D8D8D"/>
                </a:solidFill>
              </a:rPr>
              <a:t>  demo-dc1-service  ·  demo-dc1-all-pods-service  ·  demo-dc1-contact-points  ·  demo-dc1-reaper  ·  easy-cass-mcp  ·  seed-services (headless)</a:t>
            </a:r>
          </a:p>
        </p:txBody>
      </p:sp>
      <p:sp>
        <p:nvSpPr>
          <p:cNvPr id="31" name="Anti-affinity note"/>
          <p:cNvSpPr txBox="1"/>
          <p:nvPr/>
        </p:nvSpPr>
        <p:spPr>
          <a:xfrm>
            <a:off x="548640" y="4300000"/>
            <a:ext cx="11100000" cy="5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softPodAntiAffinity: true  →  2 pods/node once the ring scales 3 → 6  (defensible only for dev/CI/workshop)</a:t>
            </a:r>
          </a:p>
        </p:txBody>
      </p:sp>
      <p:sp>
        <p:nvSpPr>
          <p:cNvPr id="40" name="Monitoring NS box"/>
          <p:cNvSpPr/>
          <p:nvPr/>
        </p:nvSpPr>
        <p:spPr>
          <a:xfrm>
            <a:off x="365760" y="5100000"/>
            <a:ext cx="7600000" cy="1300000"/>
          </a:xfrm>
          <a:prstGeom prst="rect">
            <a:avLst/>
          </a:prstGeom>
          <a:solidFill>
            <a:srgbClr val="262626"/>
          </a:solidFill>
          <a:ln w="12700">
            <a:solidFill>
              <a:srgbClr val="009D9A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1" name="Monitoring NS Label"/>
          <p:cNvSpPr txBox="1"/>
          <p:nvPr/>
        </p:nvSpPr>
        <p:spPr>
          <a:xfrm>
            <a:off x="548640" y="5150000"/>
            <a:ext cx="73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009D9A"/>
                </a:solidFill>
                <a:latin typeface="Calibri"/>
              </a:defRPr>
            </a:pPr>
            <a:r>
              <a:rPr sz="1300"/>
              <a:t>Namespace: monitoring  </a:t>
            </a:r>
            <a:r>
              <a:rPr sz="950" b="0">
                <a:solidFill>
                  <a:srgbClr val="8D8D8D"/>
                </a:solidFill>
              </a:rPr>
              <a:t>(kube-prometheus-stack, --skip-crds)</a:t>
            </a:r>
          </a:p>
        </p:txBody>
      </p:sp>
      <p:sp>
        <p:nvSpPr>
          <p:cNvPr id="42" name="Prom box"/>
          <p:cNvSpPr/>
          <p:nvPr/>
        </p:nvSpPr>
        <p:spPr>
          <a:xfrm>
            <a:off x="548640" y="5450000"/>
            <a:ext cx="220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Prometheus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20Gi PVC, 12h retention</a:t>
            </a:r>
          </a:p>
        </p:txBody>
      </p:sp>
      <p:sp>
        <p:nvSpPr>
          <p:cNvPr id="43" name="Grafana box"/>
          <p:cNvSpPr/>
          <p:nvPr/>
        </p:nvSpPr>
        <p:spPr>
          <a:xfrm>
            <a:off x="2900000" y="5450000"/>
            <a:ext cx="220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Grafana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+ Thanos datasource</a:t>
            </a:r>
          </a:p>
        </p:txBody>
      </p:sp>
      <p:sp>
        <p:nvSpPr>
          <p:cNvPr id="44" name="ServiceMonitors box"/>
          <p:cNvSpPr/>
          <p:nvPr/>
        </p:nvSpPr>
        <p:spPr>
          <a:xfrm>
            <a:off x="5250000" y="5450000"/>
            <a:ext cx="260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ServiceMonitors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written by k8ssandra-op into default</a:t>
            </a:r>
          </a:p>
        </p:txBody>
      </p:sp>
      <p:sp>
        <p:nvSpPr>
          <p:cNvPr id="50" name="loadgen NS box"/>
          <p:cNvSpPr/>
          <p:nvPr/>
        </p:nvSpPr>
        <p:spPr>
          <a:xfrm>
            <a:off x="8143360" y="5100000"/>
            <a:ext cx="3652640" cy="1300000"/>
          </a:xfrm>
          <a:prstGeom prst="rect">
            <a:avLst/>
          </a:prstGeom>
          <a:solidFill>
            <a:srgbClr val="262626"/>
          </a:solidFill>
          <a:ln w="12700">
            <a:solidFill>
              <a:srgbClr val="F1C21B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loadgen NS Label"/>
          <p:cNvSpPr txBox="1"/>
          <p:nvPr/>
        </p:nvSpPr>
        <p:spPr>
          <a:xfrm>
            <a:off x="8326240" y="515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F1C21B"/>
                </a:solidFill>
                <a:latin typeface="Calibri"/>
              </a:defRPr>
            </a:pPr>
            <a:r>
              <a:rPr sz="1300"/>
              <a:t>NoSQLBench  </a:t>
            </a:r>
            <a:r>
              <a:rPr sz="950" b="0">
                <a:solidFill>
                  <a:srgbClr val="8D8D8D"/>
                </a:solidFill>
              </a:rPr>
              <a:t>(pinned to loadgen taint)</a:t>
            </a:r>
          </a:p>
        </p:txBody>
      </p:sp>
      <p:sp>
        <p:nvSpPr>
          <p:cNvPr id="52" name="loadgen desc"/>
          <p:cNvSpPr txBox="1"/>
          <p:nvPr/>
        </p:nvSpPr>
        <p:spPr>
          <a:xfrm>
            <a:off x="8326240" y="5450000"/>
            <a:ext cx="3400000" cy="8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prepare: schema + 20M row load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sustained: 85/15 read/write, threads=400</a:t>
            </a:r>
          </a:p>
          <a:p>
            <a:pPr algn="l">
              <a:spcBef>
                <a:spcPts val="0"/>
              </a:spcBef>
              <a:defRPr sz="850" i="1">
                <a:solidFill>
                  <a:srgbClr val="8D8D8D"/>
                </a:solidFill>
                <a:latin typeface="Calibri"/>
              </a:defRPr>
            </a:pPr>
            <a:r>
              <a:rPr sz="950" i="1"/>
              <a:t>tainted node = load can’t fight Cassandra for CPU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Flow &amp; Deployment Pipeline</a:t>
            </a:r>
          </a:p>
        </p:txBody>
      </p:sp>
      <p:sp>
        <p:nvSpPr>
          <p:cNvPr id="4" name="Data Flow Header"/>
          <p:cNvSpPr txBox="1"/>
          <p:nvPr/>
        </p:nvSpPr>
        <p:spPr>
          <a:xfrm>
            <a:off x="548640" y="960000"/>
            <a:ext cx="100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1">
                <a:solidFill>
                  <a:srgbClr val="78A9FF"/>
                </a:solidFill>
                <a:latin typeface="Calibri"/>
              </a:defRPr>
            </a:pPr>
            <a:r>
              <a:t>Data flow: Claude Code → Cassandra</a:t>
            </a:r>
          </a:p>
        </p:txBody>
      </p:sp>
      <p:sp>
        <p:nvSpPr>
          <p:cNvPr id="10" name="Claude Code Box"/>
          <p:cNvSpPr/>
          <p:nvPr/>
        </p:nvSpPr>
        <p:spPr>
          <a:xfrm>
            <a:off x="548640" y="1300000"/>
            <a:ext cx="201000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500"/>
              <a:t>Claude Code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npx mcp-remote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NO --allow-http</a:t>
            </a:r>
          </a:p>
        </p:txBody>
      </p:sp>
      <p:sp>
        <p:nvSpPr>
          <p:cNvPr id="11" name="Route Box"/>
          <p:cNvSpPr/>
          <p:nvPr/>
        </p:nvSpPr>
        <p:spPr>
          <a:xfrm>
            <a:off x="3100000" y="1300000"/>
            <a:ext cx="220000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42BE65"/>
                </a:solidFill>
                <a:latin typeface="Calibri"/>
              </a:defRPr>
            </a:pPr>
            <a:r>
              <a:rPr sz="1400"/>
              <a:t>OpenShift Route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termination: edge  (real https)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easy-cass-mcp-default.apps...</a:t>
            </a:r>
          </a:p>
        </p:txBody>
      </p:sp>
      <p:sp>
        <p:nvSpPr>
          <p:cNvPr id="12" name="MCP Pod Box"/>
          <p:cNvSpPr/>
          <p:nvPr/>
        </p:nvSpPr>
        <p:spPr>
          <a:xfrm>
            <a:off x="5850000" y="1300000"/>
            <a:ext cx="220000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onsolas"/>
              </a:defRPr>
            </a:pPr>
            <a:r>
              <a:rPr sz="1400"/>
              <a:t>easy-cass-mcp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Port 8000 (SSE)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Python driver, in-cluster</a:t>
            </a:r>
          </a:p>
        </p:txBody>
      </p:sp>
      <p:sp>
        <p:nvSpPr>
          <p:cNvPr id="13" name="Ring Box"/>
          <p:cNvSpPr/>
          <p:nvPr/>
        </p:nvSpPr>
        <p:spPr>
          <a:xfrm>
            <a:off x="8600000" y="1300000"/>
            <a:ext cx="304336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Cassandra Ring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rack1  ·  rack2  ·  rack3   |   RF=3, DC=dc1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svc: demo-dc1-all-pods-service</a:t>
            </a:r>
          </a:p>
        </p:txBody>
      </p:sp>
      <p:sp>
        <p:nvSpPr>
          <p:cNvPr id="20" name="Arrow1 label"/>
          <p:cNvSpPr txBox="1"/>
          <p:nvPr/>
        </p:nvSpPr>
        <p:spPr>
          <a:xfrm>
            <a:off x="2558640" y="1610000"/>
            <a:ext cx="54136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/>
              <a:t>HTTPS</a:t>
            </a:r>
          </a:p>
        </p:txBody>
      </p:sp>
      <p:sp>
        <p:nvSpPr>
          <p:cNvPr id="21" name="Arrow2 label"/>
          <p:cNvSpPr txBox="1"/>
          <p:nvPr/>
        </p:nvSpPr>
        <p:spPr>
          <a:xfrm>
            <a:off x="5300000" y="1610000"/>
            <a:ext cx="55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:8000</a:t>
            </a:r>
          </a:p>
        </p:txBody>
      </p:sp>
      <p:sp>
        <p:nvSpPr>
          <p:cNvPr id="22" name="Arrow3 label"/>
          <p:cNvSpPr txBox="1"/>
          <p:nvPr/>
        </p:nvSpPr>
        <p:spPr>
          <a:xfrm>
            <a:off x="8050000" y="1610000"/>
            <a:ext cx="55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CQL 9042</a:t>
            </a:r>
          </a:p>
        </p:txBody>
      </p:sp>
      <p:sp>
        <p:nvSpPr>
          <p:cNvPr id="23" name="Arrow1"/>
          <p:cNvSpPr/>
          <p:nvPr/>
        </p:nvSpPr>
        <p:spPr>
          <a:xfrm rot="5400000">
            <a:off x="2775000" y="1875000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Arrow2"/>
          <p:cNvSpPr/>
          <p:nvPr/>
        </p:nvSpPr>
        <p:spPr>
          <a:xfrm rot="5400000">
            <a:off x="5520000" y="1875000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5" name="Arrow3"/>
          <p:cNvSpPr/>
          <p:nvPr/>
        </p:nvSpPr>
        <p:spPr>
          <a:xfrm rot="5400000">
            <a:off x="8270000" y="1875000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TLS note"/>
          <p:cNvSpPr txBox="1"/>
          <p:nvPr/>
        </p:nvSpPr>
        <p:spPr>
          <a:xfrm>
            <a:off x="548640" y="2280000"/>
            <a:ext cx="1109472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Route terminates TLS at the edge; MCP server must run in-cluster because the C* driver discovers pod IPs and connects direct (10.x is unroutable from a laptop).</a:t>
            </a:r>
          </a:p>
        </p:txBody>
      </p:sp>
      <p:sp>
        <p:nvSpPr>
          <p:cNvPr id="30" name="Pipeline Header"/>
          <p:cNvSpPr txBox="1"/>
          <p:nvPr/>
        </p:nvSpPr>
        <p:spPr>
          <a:xfrm>
            <a:off x="548640" y="2680000"/>
            <a:ext cx="100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1">
                <a:solidFill>
                  <a:srgbClr val="78A9FF"/>
                </a:solidFill>
                <a:latin typeface="Calibri"/>
              </a:defRPr>
            </a:pPr>
            <a:r>
              <a:t>Deployment pipeline: deploy-openshift.sh  (8 steps)</a:t>
            </a:r>
          </a:p>
        </p:txBody>
      </p:sp>
      <p:sp>
        <p:nvSpPr>
          <p:cNvPr id="40" name="S1 label"/>
          <p:cNvSpPr txBox="1"/>
          <p:nvPr/>
        </p:nvSpPr>
        <p:spPr>
          <a:xfrm>
            <a:off x="54864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1</a:t>
            </a:r>
          </a:p>
        </p:txBody>
      </p:sp>
      <p:sp>
        <p:nvSpPr>
          <p:cNvPr id="41" name="S1 box"/>
          <p:cNvSpPr/>
          <p:nvPr/>
        </p:nvSpPr>
        <p:spPr>
          <a:xfrm>
            <a:off x="54864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F1C21B"/>
                </a:solidFill>
                <a:latin typeface="Calibri"/>
              </a:defRPr>
            </a:pPr>
            <a:r>
              <a:rPr sz="1100"/>
              <a:t>Preflight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API groups, rack labels, SC</a:t>
            </a:r>
          </a:p>
        </p:txBody>
      </p:sp>
      <p:sp>
        <p:nvSpPr>
          <p:cNvPr id="42" name="S1 duration"/>
          <p:cNvSpPr txBox="1"/>
          <p:nvPr/>
        </p:nvSpPr>
        <p:spPr>
          <a:xfrm>
            <a:off x="54864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fast</a:t>
            </a:r>
          </a:p>
        </p:txBody>
      </p:sp>
      <p:sp>
        <p:nvSpPr>
          <p:cNvPr id="43" name="S2 label"/>
          <p:cNvSpPr txBox="1"/>
          <p:nvPr/>
        </p:nvSpPr>
        <p:spPr>
          <a:xfrm>
            <a:off x="194600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2</a:t>
            </a:r>
          </a:p>
        </p:txBody>
      </p:sp>
      <p:sp>
        <p:nvSpPr>
          <p:cNvPr id="44" name="S2 box"/>
          <p:cNvSpPr/>
          <p:nvPr/>
        </p:nvSpPr>
        <p:spPr>
          <a:xfrm>
            <a:off x="194600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StorageClass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ODF provides it</a:t>
            </a:r>
          </a:p>
        </p:txBody>
      </p:sp>
      <p:sp>
        <p:nvSpPr>
          <p:cNvPr id="45" name="S2 duration"/>
          <p:cNvSpPr txBox="1"/>
          <p:nvPr/>
        </p:nvSpPr>
        <p:spPr>
          <a:xfrm>
            <a:off x="194600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instant</a:t>
            </a:r>
          </a:p>
        </p:txBody>
      </p:sp>
      <p:sp>
        <p:nvSpPr>
          <p:cNvPr id="46" name="S3 label"/>
          <p:cNvSpPr txBox="1"/>
          <p:nvPr/>
        </p:nvSpPr>
        <p:spPr>
          <a:xfrm>
            <a:off x="334336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3</a:t>
            </a:r>
          </a:p>
        </p:txBody>
      </p:sp>
      <p:sp>
        <p:nvSpPr>
          <p:cNvPr id="47" name="S3 box"/>
          <p:cNvSpPr/>
          <p:nvPr/>
        </p:nvSpPr>
        <p:spPr>
          <a:xfrm>
            <a:off x="334336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100"/>
              <a:t>cert-manager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Helm chart</a:t>
            </a:r>
          </a:p>
        </p:txBody>
      </p:sp>
      <p:sp>
        <p:nvSpPr>
          <p:cNvPr id="48" name="S3 duration"/>
          <p:cNvSpPr txBox="1"/>
          <p:nvPr/>
        </p:nvSpPr>
        <p:spPr>
          <a:xfrm>
            <a:off x="334336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~2 min</a:t>
            </a:r>
          </a:p>
        </p:txBody>
      </p:sp>
      <p:sp>
        <p:nvSpPr>
          <p:cNvPr id="49" name="S4 label"/>
          <p:cNvSpPr txBox="1"/>
          <p:nvPr/>
        </p:nvSpPr>
        <p:spPr>
          <a:xfrm>
            <a:off x="474072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4</a:t>
            </a:r>
          </a:p>
        </p:txBody>
      </p:sp>
      <p:sp>
        <p:nvSpPr>
          <p:cNvPr id="50" name="S4 box"/>
          <p:cNvSpPr/>
          <p:nvPr/>
        </p:nvSpPr>
        <p:spPr>
          <a:xfrm>
            <a:off x="474072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000"/>
              <a:t>kube-prometheus-stack</a:t>
            </a:r>
          </a:p>
          <a:p>
            <a:pPr algn="ctr">
              <a:defRPr sz="800">
                <a:solidFill>
                  <a:srgbClr val="F1C21B"/>
                </a:solidFill>
                <a:latin typeface="Consolas"/>
              </a:defRPr>
            </a:pPr>
            <a:r>
              <a:rPr sz="900" b="1"/>
              <a:t>--skip-crds</a:t>
            </a:r>
          </a:p>
        </p:txBody>
      </p:sp>
      <p:sp>
        <p:nvSpPr>
          <p:cNvPr id="51" name="S4 duration"/>
          <p:cNvSpPr txBox="1"/>
          <p:nvPr/>
        </p:nvSpPr>
        <p:spPr>
          <a:xfrm>
            <a:off x="474072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~3 min</a:t>
            </a:r>
          </a:p>
        </p:txBody>
      </p:sp>
      <p:sp>
        <p:nvSpPr>
          <p:cNvPr id="52" name="S5 label"/>
          <p:cNvSpPr txBox="1"/>
          <p:nvPr/>
        </p:nvSpPr>
        <p:spPr>
          <a:xfrm>
            <a:off x="613808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5</a:t>
            </a:r>
          </a:p>
        </p:txBody>
      </p:sp>
      <p:sp>
        <p:nvSpPr>
          <p:cNvPr id="53" name="S5 box"/>
          <p:cNvSpPr/>
          <p:nvPr/>
        </p:nvSpPr>
        <p:spPr>
          <a:xfrm>
            <a:off x="613808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000"/>
              <a:t>k8ssandra-operator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v1.33.0, ns default</a:t>
            </a:r>
          </a:p>
        </p:txBody>
      </p:sp>
      <p:sp>
        <p:nvSpPr>
          <p:cNvPr id="54" name="S5 duration"/>
          <p:cNvSpPr txBox="1"/>
          <p:nvPr/>
        </p:nvSpPr>
        <p:spPr>
          <a:xfrm>
            <a:off x="613808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~2 min</a:t>
            </a:r>
          </a:p>
        </p:txBody>
      </p:sp>
      <p:sp>
        <p:nvSpPr>
          <p:cNvPr id="55" name="S6 label"/>
          <p:cNvSpPr txBox="1"/>
          <p:nvPr/>
        </p:nvSpPr>
        <p:spPr>
          <a:xfrm>
            <a:off x="753544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6</a:t>
            </a:r>
          </a:p>
        </p:txBody>
      </p:sp>
      <p:sp>
        <p:nvSpPr>
          <p:cNvPr id="56" name="S6 box"/>
          <p:cNvSpPr/>
          <p:nvPr/>
        </p:nvSpPr>
        <p:spPr>
          <a:xfrm>
            <a:off x="753544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/>
              <a:t>ObjectBucketClaim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NooBaa bucket</a:t>
            </a:r>
          </a:p>
        </p:txBody>
      </p:sp>
      <p:sp>
        <p:nvSpPr>
          <p:cNvPr id="57" name="S6 duration"/>
          <p:cNvSpPr txBox="1"/>
          <p:nvPr/>
        </p:nvSpPr>
        <p:spPr>
          <a:xfrm>
            <a:off x="753544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~1 min</a:t>
            </a:r>
          </a:p>
        </p:txBody>
      </p:sp>
      <p:sp>
        <p:nvSpPr>
          <p:cNvPr id="58" name="S7 label"/>
          <p:cNvSpPr txBox="1"/>
          <p:nvPr/>
        </p:nvSpPr>
        <p:spPr>
          <a:xfrm>
            <a:off x="893280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7</a:t>
            </a:r>
          </a:p>
        </p:txBody>
      </p:sp>
      <p:sp>
        <p:nvSpPr>
          <p:cNvPr id="59" name="S7 box"/>
          <p:cNvSpPr/>
          <p:nvPr/>
        </p:nvSpPr>
        <p:spPr>
          <a:xfrm>
            <a:off x="893280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000"/>
              <a:t>K8ssandraCluster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CR: demo (v5.0.8)</a:t>
            </a:r>
          </a:p>
        </p:txBody>
      </p:sp>
      <p:sp>
        <p:nvSpPr>
          <p:cNvPr id="60" name="S7 duration"/>
          <p:cNvSpPr txBox="1"/>
          <p:nvPr/>
        </p:nvSpPr>
        <p:spPr>
          <a:xfrm>
            <a:off x="893280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~5-8 min</a:t>
            </a:r>
          </a:p>
        </p:txBody>
      </p:sp>
      <p:sp>
        <p:nvSpPr>
          <p:cNvPr id="61" name="S8 label"/>
          <p:cNvSpPr txBox="1"/>
          <p:nvPr/>
        </p:nvSpPr>
        <p:spPr>
          <a:xfrm>
            <a:off x="1033016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8</a:t>
            </a:r>
          </a:p>
        </p:txBody>
      </p:sp>
      <p:sp>
        <p:nvSpPr>
          <p:cNvPr id="62" name="S8 box"/>
          <p:cNvSpPr/>
          <p:nvPr/>
        </p:nvSpPr>
        <p:spPr>
          <a:xfrm>
            <a:off x="1033016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0F62FE"/>
                </a:solidFill>
                <a:latin typeface="Calibri"/>
              </a:defRPr>
            </a:pPr>
            <a:r>
              <a:rPr sz="1000"/>
              <a:t>Apps + Routes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MCP, Reaper, Grafana</a:t>
            </a:r>
          </a:p>
        </p:txBody>
      </p:sp>
      <p:sp>
        <p:nvSpPr>
          <p:cNvPr id="63" name="S8 duration"/>
          <p:cNvSpPr txBox="1"/>
          <p:nvPr/>
        </p:nvSpPr>
        <p:spPr>
          <a:xfrm>
            <a:off x="1033016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~1 min</a:t>
            </a:r>
          </a:p>
        </p:txBody>
      </p:sp>
      <p:sp>
        <p:nvSpPr>
          <p:cNvPr id="70" name="Traps Label"/>
          <p:cNvSpPr txBox="1"/>
          <p:nvPr/>
        </p:nvSpPr>
        <p:spPr>
          <a:xfrm>
            <a:off x="548640" y="4500000"/>
            <a:ext cx="111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FF8389"/>
                </a:solidFill>
                <a:latin typeface="Calibri"/>
              </a:defRPr>
            </a:pPr>
            <a:r>
              <a:t>OpenShift traps — each cost time the first time</a:t>
            </a:r>
          </a:p>
        </p:txBody>
      </p:sp>
      <p:sp>
        <p:nvSpPr>
          <p:cNvPr id="71" name="Trap1"/>
          <p:cNvSpPr/>
          <p:nvPr/>
        </p:nvSpPr>
        <p:spPr>
          <a:xfrm>
            <a:off x="548640" y="4800000"/>
            <a:ext cx="3560000" cy="14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FF8389"/>
                </a:solidFill>
                <a:latin typeface="Calibri"/>
              </a:defRPr>
            </a:pPr>
            <a:r>
              <a:rPr sz="1150" b="1"/>
              <a:t>OwnerReferencesPermissionEnforcement</a:t>
            </a:r>
          </a:p>
          <a:p>
            <a:pPr algn="l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Enabled on OpenShift. Charts have `patch`, need `update` on /finalizers</a:t>
            </a:r>
          </a:p>
          <a:p>
            <a:pPr algn="l">
              <a:spcBef>
                <a:spcPts val="100"/>
              </a:spcBef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Fix: rbac-finalizers.yaml</a:t>
            </a:r>
          </a:p>
        </p:txBody>
      </p:sp>
      <p:sp>
        <p:nvSpPr>
          <p:cNvPr id="72" name="Trap2"/>
          <p:cNvSpPr/>
          <p:nvPr/>
        </p:nvSpPr>
        <p:spPr>
          <a:xfrm>
            <a:off x="4316360" y="4800000"/>
            <a:ext cx="3560000" cy="14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FF8389"/>
                </a:solidFill>
                <a:latin typeface="Calibri"/>
              </a:defRPr>
            </a:pPr>
            <a:r>
              <a:rPr sz="1150" b="1"/>
              <a:t>Monitoring CRDs owned by platform</a:t>
            </a:r>
          </a:p>
          <a:p>
            <a:pPr algn="l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monitoring.coreos.com/* belong to cluster-version-operator</a:t>
            </a:r>
          </a:p>
          <a:p>
            <a:pPr algn="l">
              <a:spcBef>
                <a:spcPts val="100"/>
              </a:spcBef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Fix: helm install --skip-crds</a:t>
            </a:r>
          </a:p>
        </p:txBody>
      </p:sp>
      <p:sp>
        <p:nvSpPr>
          <p:cNvPr id="73" name="Trap3"/>
          <p:cNvSpPr/>
          <p:nvPr/>
        </p:nvSpPr>
        <p:spPr>
          <a:xfrm>
            <a:off x="8084080" y="4800000"/>
            <a:ext cx="3560000" cy="14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FF8389"/>
                </a:solidFill>
                <a:latin typeface="Calibri"/>
              </a:defRPr>
            </a:pPr>
            <a:r>
              <a:rPr sz="1150" b="1"/>
              <a:t>OBC secret format</a:t>
            </a:r>
          </a:p>
          <a:p>
            <a:pPr algn="l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NooBaa emits AWS_*, Medusa wants INI `[default]`</a:t>
            </a:r>
          </a:p>
          <a:p>
            <a:pPr algn="l">
              <a:spcBef>
                <a:spcPts val="100"/>
              </a:spcBef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Fix: script translates in-place</a:t>
            </a:r>
          </a:p>
        </p:txBody>
      </p:sp>
      <p:sp>
        <p:nvSpPr>
          <p:cNvPr id="80" name="Footer"/>
          <p:cNvSpPr txBox="1"/>
          <p:nvPr/>
        </p:nvSpPr>
        <p:spPr>
          <a:xfrm>
            <a:off x="548640" y="6280000"/>
            <a:ext cx="11094720" cy="3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Deploy exits non-zero if the datacenter never becomes Ready. A long wait is not a hang — the ticker says 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Kubernetes Resource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Custom Resource Definitions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2560320" cy="105156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K8ssandraCluster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name: demo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serverVersion: 5.0.8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dc1, size 3, racks 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1600200"/>
            <a:ext cx="6400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50"/>
              <a:t>creates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783080"/>
            <a:ext cx="704088" cy="36576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8" name="Isosceles Triangle 7"/>
          <p:cNvSpPr/>
          <p:nvPr/>
        </p:nvSpPr>
        <p:spPr>
          <a:xfrm rot="5400000">
            <a:off x="3867911" y="1746504"/>
            <a:ext cx="109728" cy="109728"/>
          </a:xfrm>
          <a:prstGeom prst="triangle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9" name="Rectangle 8"/>
          <p:cNvSpPr/>
          <p:nvPr/>
        </p:nvSpPr>
        <p:spPr>
          <a:xfrm>
            <a:off x="4114800" y="1325880"/>
            <a:ext cx="2286000" cy="73152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CassandraDatacenter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cassandra.datastax.com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3 racks (rack1/2/3)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084831"/>
            <a:ext cx="6400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50"/>
              <a:t>manages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2103120"/>
            <a:ext cx="36576" cy="338328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5084064" y="2404872"/>
            <a:ext cx="109728" cy="109728"/>
          </a:xfrm>
          <a:prstGeom prst="triangle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Rectangle 12"/>
          <p:cNvSpPr/>
          <p:nvPr/>
        </p:nvSpPr>
        <p:spPr>
          <a:xfrm>
            <a:off x="4114800" y="251460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StatefulSet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demo-dc1-rack{1,2,3}-sts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replicas: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60320"/>
            <a:ext cx="2560320" cy="77724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009D9A"/>
                </a:solidFill>
                <a:latin typeface="Calibri"/>
              </a:defRPr>
            </a:pPr>
            <a:r>
              <a:rPr sz="1400" dirty="0"/>
              <a:t>cert-</a:t>
            </a:r>
            <a:r>
              <a:rPr sz="1400" dirty="0" err="1"/>
              <a:t>manager.io</a:t>
            </a:r>
            <a:endParaRPr sz="1400" dirty="0"/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Issuer / </a:t>
            </a:r>
            <a:r>
              <a:rPr sz="1100" dirty="0" err="1"/>
              <a:t>ClusterIssuer</a:t>
            </a:r>
            <a:endParaRPr sz="1100" dirty="0"/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Certificate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 err="1"/>
              <a:t>CertificateRequest</a:t>
            </a:r>
            <a:endParaRPr sz="1100" dirty="0"/>
          </a:p>
        </p:txBody>
      </p:sp>
      <p:sp>
        <p:nvSpPr>
          <p:cNvPr id="15" name="TextBox 14"/>
          <p:cNvSpPr txBox="1"/>
          <p:nvPr/>
        </p:nvSpPr>
        <p:spPr>
          <a:xfrm>
            <a:off x="6949440" y="10058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Storage Chain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1325880"/>
            <a:ext cx="228600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200"/>
              <a:t>StorageClass: ceph-rbd (ODF)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provisioner: rbd.csi.ceph.com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Immediate binding (network-attached)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reclaimPolicy: Delete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0" y="1691640"/>
            <a:ext cx="384048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9674352" y="165506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Rectangle 18"/>
          <p:cNvSpPr/>
          <p:nvPr/>
        </p:nvSpPr>
        <p:spPr>
          <a:xfrm>
            <a:off x="9875520" y="999465"/>
            <a:ext cx="1920240" cy="462506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server-data-rack1-sts-0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150Gi, RWO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507689"/>
            <a:ext cx="1920240" cy="411481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server-data-rack2-sts-0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150Gi, RWO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1964888"/>
            <a:ext cx="1920240" cy="392355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server-data-rack3-sts-0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150Gi, RWO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33172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Secrets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2606040"/>
            <a:ext cx="484632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400" dirty="0"/>
              <a:t>demo-superuser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Auto-generated by k8ssandra-operator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Keys: username, password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Ref by: easy-</a:t>
            </a:r>
            <a:r>
              <a:rPr sz="1100" dirty="0" err="1"/>
              <a:t>cass</a:t>
            </a:r>
            <a:r>
              <a:rPr sz="1100" dirty="0"/>
              <a:t>-</a:t>
            </a:r>
            <a:r>
              <a:rPr sz="1100" dirty="0" err="1"/>
              <a:t>mcp</a:t>
            </a:r>
            <a:r>
              <a:rPr sz="1100" dirty="0"/>
              <a:t>, </a:t>
            </a:r>
            <a:r>
              <a:rPr sz="1100" dirty="0" err="1"/>
              <a:t>nosqlbench</a:t>
            </a:r>
            <a:endParaRPr sz="1100" dirty="0"/>
          </a:p>
        </p:txBody>
      </p:sp>
      <p:sp>
        <p:nvSpPr>
          <p:cNvPr id="24" name="TextBox 23"/>
          <p:cNvSpPr txBox="1"/>
          <p:nvPr/>
        </p:nvSpPr>
        <p:spPr>
          <a:xfrm>
            <a:off x="548640" y="3520440"/>
            <a:ext cx="5486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Headless Services (ClusterIP: None)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40480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demo-dc1-all-pods-service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Ports: 9042, 8080, 9103, 9000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224528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demo-dc1-contact-points-service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Client contact points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608576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Datacenter service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992624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demo-seed-service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Gossip seed discovery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376672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demo-dc1-additional-seed-service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Additional seed discovery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06440"/>
            <a:ext cx="4572000" cy="4572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0">
                <a:solidFill>
                  <a:srgbClr val="C6C6C6"/>
                </a:solidFill>
                <a:latin typeface="Calibri"/>
              </a:defRPr>
            </a:pPr>
            <a:r>
              <a:rPr sz="1200"/>
              <a:t>Used by: easy-cass-mcp, nosqlbench,</a:t>
            </a:r>
            <a:br>
              <a:rPr sz="1200"/>
            </a:br>
            <a:r>
              <a:rPr sz="1200"/>
              <a:t>Cassandra Python driver pod discovery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37316" y="35204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Additional CRDs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37316" y="3840480"/>
            <a:ext cx="2011680" cy="877824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control.k8ssandra.io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CassandraTask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K8ssandraTask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ScheduledTask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86155" y="3840480"/>
            <a:ext cx="2011680" cy="128016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200"/>
              <a:t>medusa.k8ssandra.io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MedusaBackupJob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MedusaBackupSchedule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MedusaRestoreJob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MedusaConfiguration → NooBaa OBC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34995" y="3840480"/>
            <a:ext cx="2011680" cy="475488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200"/>
              <a:t>reaper.k8ssandra.io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Reaper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Monitoring, Wired Up for You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Four lines of telemetry: in the CR → the whole scrape pipeline</a:t>
            </a:r>
          </a:p>
        </p:txBody>
      </p:sp>
      <p:sp>
        <p:nvSpPr>
          <p:cNvPr id="10" name="CR Header"/>
          <p:cNvSpPr txBox="1"/>
          <p:nvPr/>
        </p:nvSpPr>
        <p:spPr>
          <a:xfrm>
            <a:off x="548640" y="1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you write</a:t>
            </a:r>
          </a:p>
        </p:txBody>
      </p:sp>
      <p:sp>
        <p:nvSpPr>
          <p:cNvPr id="11" name="CR Code Box"/>
          <p:cNvSpPr/>
          <p:nvPr/>
        </p:nvSpPr>
        <p:spPr>
          <a:xfrm>
            <a:off x="548640" y="1720000"/>
            <a:ext cx="5400000" cy="16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91440" rIns="91440" bIns="91440" rtlCol="0" anchor="t"/>
          <a:lstStyle/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>
                <a:solidFill>
                  <a:srgbClr val="42BE65"/>
                </a:solidFill>
              </a:rPr>
              <a:t>spec.cassandra.datacenters[0]: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telemetry: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  prometheus: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    enabled: true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    commonLabels:  { release: kps }</a:t>
            </a:r>
          </a:p>
        </p:txBody>
      </p:sp>
      <p:sp>
        <p:nvSpPr>
          <p:cNvPr id="12" name="What Header"/>
          <p:cNvSpPr txBox="1"/>
          <p:nvPr/>
        </p:nvSpPr>
        <p:spPr>
          <a:xfrm>
            <a:off x="548640" y="3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you get</a:t>
            </a:r>
          </a:p>
        </p:txBody>
      </p:sp>
      <p:sp>
        <p:nvSpPr>
          <p:cNvPr id="13" name="What Box"/>
          <p:cNvSpPr/>
          <p:nvPr/>
        </p:nvSpPr>
        <p:spPr>
          <a:xfrm>
            <a:off x="548640" y="3720000"/>
            <a:ext cx="5400000" cy="23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91440" rIns="91440" bIns="73152" rtlCol="0" anchor="t"/>
          <a:lstStyle/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ServiceMonitors written by the operator, into `default`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Selected by Prometheus via label release=kps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No JMX exporter sidecar, no scrape config, no relabeling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Metrics via management-api on port 9000</a:t>
            </a:r>
          </a:p>
        </p:txBody>
      </p:sp>
      <p:sp>
        <p:nvSpPr>
          <p:cNvPr id="20" name="Panels Header"/>
          <p:cNvSpPr txBox="1"/>
          <p:nvPr/>
        </p:nvSpPr>
        <p:spPr>
          <a:xfrm>
            <a:off x="6148640" y="142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Grafana panels on this cluster</a:t>
            </a:r>
          </a:p>
        </p:txBody>
      </p:sp>
      <p:sp>
        <p:nvSpPr>
          <p:cNvPr id="21" name="Panels Box"/>
          <p:cNvSpPr/>
          <p:nvPr/>
        </p:nvSpPr>
        <p:spPr>
          <a:xfrm>
            <a:off x="6148640" y="1720000"/>
            <a:ext cx="5500000" cy="2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46304" tIns="91440" rIns="91440" bIns="73152" rtlCol="0" anchor="t"/>
          <a:lstStyle/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Throughput  ·  p50/p99 read + write latency</a:t>
            </a:r>
          </a:p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Pending compactions  ·  live sstable count</a:t>
            </a:r>
          </a:p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Per-pod CPU (Cassandra) + worker node CPU (Thanos)</a:t>
            </a:r>
          </a:p>
          <a:p>
            <a:pPr marL="228600" indent="-228600" algn="l">
              <a:spcAft>
                <a:spcPts val="300"/>
              </a:spcAft>
              <a:buClr>
                <a:srgbClr val="F1C21B"/>
              </a:buClr>
              <a:buChar char="▶"/>
              <a:defRPr sz="1100">
                <a:solidFill>
                  <a:srgbClr val="F1C21B"/>
                </a:solidFill>
                <a:latin typeface="Calibri"/>
              </a:defRPr>
            </a:pPr>
            <a:r>
              <a:rPr sz="1200" b="1"/>
              <a:t>CFS throttling %</a:t>
            </a:r>
            <a:r>
              <a:rPr sz="1200">
                <a:solidFill>
                  <a:srgbClr val="C6C6C6"/>
                </a:solidFill>
              </a:rPr>
              <a:t>  (the Part 8 finding, live)</a:t>
            </a:r>
          </a:p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PVC used %  ·  </a:t>
            </a:r>
            <a:r>
              <a:rPr sz="1200" b="1">
                <a:solidFill>
                  <a:srgbClr val="F1C21B"/>
                </a:solidFill>
              </a:rPr>
              <a:t>projected hours until PVC full</a:t>
            </a:r>
          </a:p>
          <a:p>
            <a:pPr marL="228600" indent="-228600" algn="l">
              <a:spcAft>
                <a:spcPts val="2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Reaper repair progress  ·  segments/hour</a:t>
            </a:r>
          </a:p>
        </p:txBody>
      </p:sp>
      <p:sp>
        <p:nvSpPr>
          <p:cNvPr id="30" name="Gotcha Box"/>
          <p:cNvSpPr/>
          <p:nvPr/>
        </p:nvSpPr>
        <p:spPr>
          <a:xfrm>
            <a:off x="6148640" y="4720000"/>
            <a:ext cx="5500000" cy="13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200"/>
              </a:spcAft>
              <a:defRPr sz="1100" b="1">
                <a:solidFill>
                  <a:srgbClr val="FF8389"/>
                </a:solidFill>
                <a:latin typeface="Calibri"/>
              </a:defRPr>
            </a:pPr>
            <a:r>
              <a:rPr sz="1200" b="1"/>
              <a:t>Gotcha: published dashboards are empty</a:t>
            </a:r>
          </a:p>
          <a:p>
            <a:pPr algn="l">
              <a:spcAft>
                <a:spcPts val="200"/>
              </a:spcAft>
              <a:defRPr sz="1000">
                <a:solidFill>
                  <a:srgbClr val="C6C6C6"/>
                </a:solidFill>
                <a:latin typeface="Calibri"/>
              </a:defRPr>
            </a:pPr>
            <a:r>
              <a:rPr sz="1050"/>
              <a:t>They target the deprecated MCAC endpoint (collectd_mcac_*).</a:t>
            </a:r>
          </a:p>
          <a:p>
            <a:pPr algn="l">
              <a:spcBef>
                <a:spcPts val="0"/>
              </a:spcBef>
              <a:defRPr sz="1000">
                <a:solidFill>
                  <a:srgbClr val="C6C6C6"/>
                </a:solidFill>
                <a:latin typeface="Calibri"/>
              </a:defRPr>
            </a:pPr>
            <a:r>
              <a:rPr sz="1050"/>
              <a:t>C* 5 exposes org_apache_cassandra_metrics_* via management-api.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548640" y="618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kubectl get servicemonitor -n default  →  demo-dc1-cass-servicemonitor  ·  demo-dc1-reaper-servicemonitor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Reaper — Repairs, So No Zombie Data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It registered itself. Nothing was configured.</a:t>
            </a:r>
          </a:p>
        </p:txBody>
      </p:sp>
      <p:sp>
        <p:nvSpPr>
          <p:cNvPr id="10" name="Why Header"/>
          <p:cNvSpPr txBox="1"/>
          <p:nvPr/>
        </p:nvSpPr>
        <p:spPr>
          <a:xfrm>
            <a:off x="548640" y="1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Why repairs? Concretely.</a:t>
            </a:r>
          </a:p>
        </p:txBody>
      </p:sp>
      <p:sp>
        <p:nvSpPr>
          <p:cNvPr id="11" name="Why Box"/>
          <p:cNvSpPr/>
          <p:nvPr/>
        </p:nvSpPr>
        <p:spPr>
          <a:xfrm>
            <a:off x="548640" y="1720000"/>
            <a:ext cx="5400000" cy="42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300" b="1"/>
              <a:t>Replicas drift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Writes fail; hints expire; nodes miss mutations while down.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300" b="1"/>
              <a:t>Tombstones expire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After gc_grace_seconds, tombstones are collected.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FF8389"/>
              </a:buClr>
              <a:buChar char="☠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300" b="1"/>
              <a:t>Deleted rows return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If a delete never propagated, and the tombstone is gone, a replica that never heard about the delete resurrects the row.</a:t>
            </a:r>
          </a:p>
          <a:p>
            <a:pPr marL="228600" indent="0" algn="l">
              <a:spcBef>
                <a:spcPts val="200"/>
              </a:spcBef>
              <a:buNone/>
              <a:defRPr sz="1100" b="1" i="1">
                <a:solidFill>
                  <a:srgbClr val="FF8389"/>
                </a:solidFill>
                <a:latin typeface="Calibri"/>
              </a:defRPr>
            </a:pPr>
            <a:r>
              <a:rPr sz="1200" b="1" i="1"/>
              <a:t>→  Zombie data.</a:t>
            </a:r>
          </a:p>
        </p:txBody>
      </p:sp>
      <p:sp>
        <p:nvSpPr>
          <p:cNvPr id="20" name="Live Header"/>
          <p:cNvSpPr txBox="1"/>
          <p:nvPr/>
        </p:nvSpPr>
        <p:spPr>
          <a:xfrm>
            <a:off x="6148640" y="142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we do about it — live</a:t>
            </a:r>
          </a:p>
        </p:txBody>
      </p:sp>
      <p:sp>
        <p:nvSpPr>
          <p:cNvPr id="21" name="Live Box"/>
          <p:cNvSpPr/>
          <p:nvPr/>
        </p:nvSpPr>
        <p:spPr>
          <a:xfrm>
            <a:off x="6148640" y="1720000"/>
            <a:ext cx="5500000" cy="42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1192E8"/>
              </a:buClr>
              <a:buChar char="▶"/>
              <a:defRPr sz="1200" b="1">
                <a:solidFill>
                  <a:srgbClr val="1192E8"/>
                </a:solidFill>
                <a:latin typeface="Calibri"/>
              </a:defRPr>
            </a:pPr>
            <a:r>
              <a:rPr sz="1300" b="1"/>
              <a:t>Reaper registered itself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storageType: cassandra  →  reaper_db keyspace, no PVC needed. `demo` shows up in the UI on first boot.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1192E8"/>
              </a:buClr>
              <a:buChar char="▶"/>
              <a:defRPr sz="1200" b="1">
                <a:solidFill>
                  <a:srgbClr val="1192E8"/>
                </a:solidFill>
                <a:latin typeface="Calibri"/>
              </a:defRPr>
            </a:pPr>
            <a:r>
              <a:rPr sz="1300" b="1"/>
              <a:t>Trigger full repair on `payments`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Watch segments tick up in the Reaper UI.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1192E8"/>
              </a:buClr>
              <a:buChar char="▶"/>
              <a:defRPr sz="1200" b="1">
                <a:solidFill>
                  <a:srgbClr val="1192E8"/>
                </a:solidFill>
                <a:latin typeface="Calibri"/>
              </a:defRPr>
            </a:pPr>
            <a:r>
              <a:rPr sz="1300" b="1"/>
              <a:t>Leave it running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Come back at end of Part 8 — segments should have made real progress under the sustained load.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48640" y="61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Reaper 5.0.1 • deploymentMode: PER_DC • autoScheduling off (we drive it, so timing is deterministic on stage)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Medusa — Backups to In-Cluster Object Storage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An S3 endpoint inside the cluster — no AWS account, no IAM ticket</a:t>
            </a:r>
          </a:p>
        </p:txBody>
      </p:sp>
      <p:sp>
        <p:nvSpPr>
          <p:cNvPr id="10" name="OBC Header"/>
          <p:cNvSpPr txBox="1"/>
          <p:nvPr/>
        </p:nvSpPr>
        <p:spPr>
          <a:xfrm>
            <a:off x="548640" y="1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minio.yaml  (excerpt)</a:t>
            </a:r>
          </a:p>
        </p:txBody>
      </p:sp>
      <p:sp>
        <p:nvSpPr>
          <p:cNvPr id="11" name="OBC Code Box"/>
          <p:cNvSpPr/>
          <p:nvPr/>
        </p:nvSpPr>
        <p:spPr>
          <a:xfrm>
            <a:off x="548640" y="1720000"/>
            <a:ext cx="5400000" cy="22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91440" rIns="91440" bIns="91440" rtlCol="0" anchor="t"/>
          <a:lstStyle/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kind:</a:t>
            </a:r>
            <a:r>
              <a:rPr sz="1200"/>
              <a:t> Deployment   # + PVC + Service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image: quay.io/minio/minio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metadata: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name: minio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namespace: default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spec: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args: [server, /data]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storage: 250Gi ocs-storagecluster-ceph-rbd</a:t>
            </a:r>
          </a:p>
        </p:txBody>
      </p:sp>
      <p:sp>
        <p:nvSpPr>
          <p:cNvPr id="12" name="Cmd Header"/>
          <p:cNvSpPr txBox="1"/>
          <p:nvPr/>
        </p:nvSpPr>
        <p:spPr>
          <a:xfrm>
            <a:off x="548640" y="40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Take a backup, on camera</a:t>
            </a:r>
          </a:p>
        </p:txBody>
      </p:sp>
      <p:sp>
        <p:nvSpPr>
          <p:cNvPr id="13" name="Cmd Box"/>
          <p:cNvSpPr/>
          <p:nvPr/>
        </p:nvSpPr>
        <p:spPr>
          <a:xfrm>
            <a:off x="548640" y="4320000"/>
            <a:ext cx="5400000" cy="16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91440" rIns="91440" bIns="91440" rtlCol="0" anchor="t"/>
          <a:lstStyle/>
          <a:p>
            <a:pPr algn="l">
              <a:defRPr sz="1000">
                <a:solidFill>
                  <a:srgbClr val="42BE65"/>
                </a:solidFill>
                <a:latin typeface="Consolas"/>
              </a:defRPr>
            </a:pPr>
            <a:r>
              <a:rPr sz="1200"/>
              <a:t>Ask Claude:  “Start a full Medusa backup.”</a:t>
            </a:r>
          </a:p>
          <a:p>
            <a:pPr algn="l">
              <a:defRPr sz="1000">
                <a:solidFill>
                  <a:srgbClr val="42BE65"/>
                </a:solidFill>
                <a:latin typeface="Consolas"/>
              </a:defRPr>
            </a:pPr>
            <a:r>
              <a:rPr sz="1200"/>
              <a:t>→ Claude applies it, then watches the job: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NAME              STATUS      FINISHED/TOTAL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demo-talk-backup  SUCCESS     6/6</a:t>
            </a:r>
          </a:p>
        </p:txBody>
      </p:sp>
      <p:sp>
        <p:nvSpPr>
          <p:cNvPr id="20" name="Payoff Header"/>
          <p:cNvSpPr txBox="1"/>
          <p:nvPr/>
        </p:nvSpPr>
        <p:spPr>
          <a:xfrm>
            <a:off x="6148640" y="142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just happened</a:t>
            </a:r>
          </a:p>
        </p:txBody>
      </p:sp>
      <p:sp>
        <p:nvSpPr>
          <p:cNvPr id="21" name="Payoff Box"/>
          <p:cNvSpPr/>
          <p:nvPr/>
        </p:nvSpPr>
        <p:spPr>
          <a:xfrm>
            <a:off x="6148640" y="1720000"/>
            <a:ext cx="5500000" cy="2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MinIO served a fresh S3 bucket off a Ceph RBD volume</a:t>
            </a:r>
          </a:p>
          <a:p>
            <a:pPr marL="228600" indent="-228600" algn="l"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47.84 GB  ·  4,732 files  ·  6/6 nodes  ·  8m38s</a:t>
            </a:r>
          </a:p>
          <a:p>
            <a:pPr marL="228600" indent="-228600" algn="l">
              <a:spcAft>
                <a:spcPts val="400"/>
              </a:spcAft>
              <a:buClr>
                <a:srgbClr val="F1C21B"/>
              </a:buClr>
              <a:buChar char="⚠"/>
              <a:defRPr sz="1100" b="1">
                <a:solidFill>
                  <a:srgbClr val="F1C21B"/>
                </a:solidFill>
                <a:latin typeface="Calibri"/>
              </a:defRPr>
            </a:pPr>
            <a:r>
              <a:rPr sz="1200" b="1"/>
              <a:t>Medusa wants INI format `[default]`</a:t>
            </a:r>
            <a:r>
              <a:rPr sz="1100">
                <a:solidFill>
                  <a:srgbClr val="C6C6C6"/>
                </a:solidFill>
              </a:rPr>
              <a:t>  —  deploy-openshift.sh translates it</a:t>
            </a:r>
          </a:p>
          <a:p>
            <a:pPr marL="228600" indent="-228600" algn="l"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Sidecar in every Cassandra pod uploaded sstables</a:t>
            </a:r>
          </a:p>
          <a:p>
            <a:pPr marL="228600" indent="-228600" algn="l">
              <a:spcAft>
                <a:spcPts val="2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Per-node backup sizes visible in the MedusaBackup objects</a:t>
            </a:r>
          </a:p>
        </p:txBody>
      </p:sp>
      <p:sp>
        <p:nvSpPr>
          <p:cNvPr id="30" name="Portability Box"/>
          <p:cNvSpPr/>
          <p:nvPr/>
        </p:nvSpPr>
        <p:spPr>
          <a:xfrm>
            <a:off x="6148640" y="4720000"/>
            <a:ext cx="5500000" cy="12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46304" tIns="91440" rIns="91440" bIns="73152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1192E8"/>
                </a:solidFill>
                <a:latin typeface="Calibri"/>
              </a:defRPr>
            </a:pPr>
            <a:r>
              <a:rPr sz="1200" b="1"/>
              <a:t>The portable bit</a:t>
            </a:r>
          </a:p>
          <a:p>
            <a:pPr algn="l">
              <a:spcAft>
                <a:spcPts val="200"/>
              </a:spcAft>
              <a:defRPr sz="1000">
                <a:solidFill>
                  <a:srgbClr val="C6C6C6"/>
                </a:solidFill>
                <a:latin typeface="Calibri"/>
              </a:defRPr>
            </a:pPr>
            <a:r>
              <a:rPr sz="1100"/>
              <a:t>storageProvider: s3_compatible  (not s3). Point the host at MinIO, AWS S3, GCS — same five lines.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548640" y="61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No AWS account. No IAM ticket. No cloud team. Just a Deployment and a PVC.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Live Scale Under Load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3 → 6 nodes added live, while NoSQLBench hammered at 60k ops/sec</a:t>
            </a:r>
          </a:p>
        </p:txBody>
      </p:sp>
      <p:sp>
        <p:nvSpPr>
          <p:cNvPr id="5" name="Kubectl Command Box"/>
          <p:cNvSpPr/>
          <p:nvPr/>
        </p:nvSpPr>
        <p:spPr>
          <a:xfrm>
            <a:off x="548640" y="1450000"/>
            <a:ext cx="11094720" cy="6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91440" bIns="91440" rtlCol="0" anchor="ctr"/>
          <a:lstStyle/>
          <a:p>
            <a:pPr algn="l">
              <a:defRPr sz="1100" b="0">
                <a:solidFill>
                  <a:srgbClr val="42BE65"/>
                </a:solidFill>
                <a:latin typeface="Consolas"/>
              </a:defRPr>
            </a:pPr>
            <a:r>
              <a:rPr sz="1400"/>
              <a:t>Ask Claude:  “Scale the demo cluster from 3 nodes to 6.”</a:t>
            </a:r>
          </a:p>
          <a:p>
            <a:pPr algn="l">
              <a:spcBef>
                <a:spcPts val="100"/>
              </a:spcBef>
              <a:defRPr sz="1100" b="0">
                <a:solidFill>
                  <a:srgbClr val="42BE65"/>
                </a:solidFill>
                <a:latin typeface="Consolas"/>
              </a:defRPr>
            </a:pPr>
            <a:r>
              <a:rPr sz="1400"/>
              <a:t>     → Claude picks a JSON patch on /datacenters/0/size (merge patch is rejected)</a:t>
            </a:r>
          </a:p>
        </p:txBody>
      </p:sp>
      <p:sp>
        <p:nvSpPr>
          <p:cNvPr id="10" name="Stat1 Box"/>
          <p:cNvSpPr/>
          <p:nvPr/>
        </p:nvSpPr>
        <p:spPr>
          <a:xfrm>
            <a:off x="548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~60k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ops/sec sustained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55.5 – 60.1k range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60k target held</a:t>
            </a:r>
          </a:p>
        </p:txBody>
      </p:sp>
      <p:sp>
        <p:nvSpPr>
          <p:cNvPr id="11" name="Stat2 Box"/>
          <p:cNvSpPr/>
          <p:nvPr/>
        </p:nvSpPr>
        <p:spPr>
          <a:xfrm>
            <a:off x="3413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ZERO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errors throughout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0 NB errors  ·  0 exceptions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0 blocked thread-pool tasks</a:t>
            </a:r>
          </a:p>
        </p:txBody>
      </p:sp>
      <p:sp>
        <p:nvSpPr>
          <p:cNvPr id="12" name="Stat3 Box"/>
          <p:cNvSpPr/>
          <p:nvPr/>
        </p:nvSpPr>
        <p:spPr>
          <a:xfrm>
            <a:off x="6278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3 → 6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nodes added under load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9 min 20 s to 6 UN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RF=3 maintained throughout</a:t>
            </a:r>
          </a:p>
        </p:txBody>
      </p:sp>
      <p:sp>
        <p:nvSpPr>
          <p:cNvPr id="13" name="Stat4 Box"/>
          <p:cNvSpPr/>
          <p:nvPr/>
        </p:nvSpPr>
        <p:spPr>
          <a:xfrm>
            <a:off x="9143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8%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worst throughput dip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transient, recovered in 25 s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Zero-Copy streaming, RF=3 held</a:t>
            </a:r>
          </a:p>
        </p:txBody>
      </p:sp>
      <p:sp>
        <p:nvSpPr>
          <p:cNvPr id="20" name="Throughput Header"/>
          <p:cNvSpPr txBox="1"/>
          <p:nvPr/>
        </p:nvSpPr>
        <p:spPr>
          <a:xfrm>
            <a:off x="548640" y="4150000"/>
            <a:ext cx="1109472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C6C6C6"/>
                </a:solidFill>
                <a:latin typeface="Calibri"/>
              </a:defRPr>
            </a:pPr>
            <a:r>
              <a:t>Ownership rebalance mid-scale (nodetool status)</a:t>
            </a:r>
          </a:p>
        </p:txBody>
      </p:sp>
      <p:sp>
        <p:nvSpPr>
          <p:cNvPr id="21" name="Tput1 Box"/>
          <p:cNvSpPr/>
          <p:nvPr/>
        </p:nvSpPr>
        <p:spPr>
          <a:xfrm>
            <a:off x="1500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100%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rack3 (not yet split)</a:t>
            </a:r>
          </a:p>
        </p:txBody>
      </p:sp>
      <p:sp>
        <p:nvSpPr>
          <p:cNvPr id="22" name="Tput2 Box"/>
          <p:cNvSpPr/>
          <p:nvPr/>
        </p:nvSpPr>
        <p:spPr>
          <a:xfrm>
            <a:off x="4896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51.5%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rack1 + rack2 (halved)</a:t>
            </a:r>
          </a:p>
        </p:txBody>
      </p:sp>
      <p:sp>
        <p:nvSpPr>
          <p:cNvPr id="23" name="Tput3 Box"/>
          <p:cNvSpPr/>
          <p:nvPr/>
        </p:nvSpPr>
        <p:spPr>
          <a:xfrm>
            <a:off x="8292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48.5%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the two new joiners</a:t>
            </a:r>
          </a:p>
        </p:txBody>
      </p:sp>
      <p:sp>
        <p:nvSpPr>
          <p:cNvPr id="30" name="Arrow A"/>
          <p:cNvSpPr/>
          <p:nvPr/>
        </p:nvSpPr>
        <p:spPr>
          <a:xfrm rot="5400000">
            <a:off x="4045136" y="4845136"/>
            <a:ext cx="109728" cy="109728"/>
          </a:xfrm>
          <a:prstGeom prst="triangle">
            <a:avLst/>
          </a:prstGeom>
          <a:solidFill>
            <a:srgbClr val="6F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Arrow B"/>
          <p:cNvSpPr/>
          <p:nvPr/>
        </p:nvSpPr>
        <p:spPr>
          <a:xfrm rot="5400000">
            <a:off x="7441136" y="4845136"/>
            <a:ext cx="109728" cy="109728"/>
          </a:xfrm>
          <a:prstGeom prst="triangle">
            <a:avLst/>
          </a:prstGeom>
          <a:solidFill>
            <a:srgbClr val="6F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0" name="Footer"/>
          <p:cNvSpPr txBox="1"/>
          <p:nvPr/>
        </p:nvSpPr>
        <p:spPr>
          <a:xfrm>
            <a:off x="548640" y="56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In 2018 this was a multi-day project. In 2026, it’s one sentence of English.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What is MCP?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78A9FF"/>
                </a:solidFill>
                <a:latin typeface="Calibri"/>
              </a:defRPr>
            </a:pPr>
            <a:r>
              <a:rPr sz="1400"/>
              <a:t>AI Agent / Claude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MCP Client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719072"/>
            <a:ext cx="658368" cy="36576"/>
          </a:xfrm>
          <a:prstGeom prst="rect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Isosceles Triangle 6"/>
          <p:cNvSpPr/>
          <p:nvPr/>
        </p:nvSpPr>
        <p:spPr>
          <a:xfrm rot="5400000">
            <a:off x="3547872" y="1682495"/>
            <a:ext cx="109728" cy="109728"/>
          </a:xfrm>
          <a:prstGeom prst="triangle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Rectangle 7"/>
          <p:cNvSpPr/>
          <p:nvPr/>
        </p:nvSpPr>
        <p:spPr>
          <a:xfrm>
            <a:off x="3749039" y="1463040"/>
            <a:ext cx="256032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1192E8"/>
                </a:solidFill>
                <a:latin typeface="Calibri"/>
              </a:defRPr>
            </a:pPr>
            <a:r>
              <a:rPr sz="1400"/>
              <a:t>MCP Server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Exposes tools via protocol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Runs as service or container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19072"/>
            <a:ext cx="658368" cy="36576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Isosceles Triangle 9"/>
          <p:cNvSpPr/>
          <p:nvPr/>
        </p:nvSpPr>
        <p:spPr>
          <a:xfrm rot="5400000">
            <a:off x="7022592" y="1682495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7223760" y="146304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009D9A"/>
                </a:solidFill>
                <a:latin typeface="Calibri"/>
              </a:defRPr>
            </a:pPr>
            <a:r>
              <a:rPr sz="1400"/>
              <a:t>External System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Database, API, K8s, etc.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86000"/>
            <a:ext cx="9144000" cy="5486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0">
                <a:solidFill>
                  <a:srgbClr val="C6C6C6"/>
                </a:solidFill>
                <a:latin typeface="Calibri"/>
              </a:defRPr>
            </a:pPr>
            <a:r>
              <a:rPr sz="1600"/>
              <a:t>A standard for giving AI models structured access to external tools and data.</a:t>
            </a:r>
            <a:br>
              <a:rPr sz="1600"/>
            </a:br>
            <a:r>
              <a:rPr sz="1600"/>
              <a:t>Server exposes tools  →  Agent calls them  →  Results flow back as context.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26080"/>
            <a:ext cx="11064240" cy="18288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548640" y="31089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Build Narrow, Not Wide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20440"/>
            <a:ext cx="5303520" cy="2926080"/>
          </a:xfrm>
          <a:prstGeom prst="rect">
            <a:avLst/>
          </a:prstGeom>
          <a:solidFill>
            <a:srgbClr val="262626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731520" y="3566160"/>
            <a:ext cx="457200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24A148"/>
                </a:solidFill>
                <a:latin typeface="Calibri"/>
              </a:defRPr>
            </a:pPr>
            <a:r>
              <a:rPr sz="1600"/>
              <a:t>Domain-Specific MCP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0">
                <a:solidFill>
                  <a:srgbClr val="C6C6C6"/>
                </a:solidFill>
                <a:latin typeface="Calibri"/>
              </a:defRPr>
            </a:pPr>
            <a:r>
              <a:rPr sz="1100"/>
              <a:t>e.g., easy-cass-mcp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20624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Returns exactly what's needed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get_table_latency  →  3 rows, key metrics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Token-efficient: hundreds of tokens per call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02920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Speaks the domain language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CQL queries, not generic kubectl describe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Agent understands C* concepts natively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852160"/>
            <a:ext cx="4937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Context window stays clean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Room for reasoning, follow-ups, multi-step 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520440"/>
            <a:ext cx="5303520" cy="2926080"/>
          </a:xfrm>
          <a:prstGeom prst="rect">
            <a:avLst/>
          </a:prstGeom>
          <a:solidFill>
            <a:srgbClr val="262626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6400800" y="3566160"/>
            <a:ext cx="457200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DA1E28"/>
                </a:solidFill>
                <a:latin typeface="Calibri"/>
              </a:defRPr>
            </a:pPr>
            <a:r>
              <a:rPr sz="1600"/>
              <a:t>Generic MCP 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404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0">
                <a:solidFill>
                  <a:srgbClr val="C6C6C6"/>
                </a:solidFill>
                <a:latin typeface="Calibri"/>
              </a:defRPr>
            </a:pPr>
            <a:r>
              <a:rPr sz="1100"/>
              <a:t>e.g., "containers" K8s MCP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20624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Dumps entire cluster state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get_pods →  thousands of tokens per call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Labels, annotations, status conditions, specs...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02920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Model drowns in metadata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Can't distinguish signal from noise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Answers become generic, not actionable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852160"/>
            <a:ext cx="4937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Context window exhausted fast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No room for multi-step reasoning or follow-ups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MCP Servers vs Agent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777240"/>
            <a:ext cx="73152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0">
                <a:solidFill>
                  <a:srgbClr val="C6C6C6"/>
                </a:solidFill>
                <a:latin typeface="Calibri"/>
              </a:defRPr>
            </a:pPr>
            <a:r>
              <a:rPr sz="1400"/>
              <a:t>Two complementary approaches — best used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303520" cy="5212080"/>
          </a:xfrm>
          <a:prstGeom prst="rect">
            <a:avLst/>
          </a:prstGeom>
          <a:solidFill>
            <a:srgbClr val="262626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000" b="1">
                <a:solidFill>
                  <a:srgbClr val="1192E8"/>
                </a:solidFill>
                <a:latin typeface="Calibri"/>
              </a:defRPr>
            </a:pPr>
            <a:r>
              <a:rPr sz="2800" dirty="0"/>
              <a:t>MCP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572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Live data access — the data plane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 dirty="0"/>
              <a:t>What it is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 dirty="0"/>
              <a:t>Running service exposing tools</a:t>
            </a:r>
            <a:br>
              <a:rPr sz="1200" dirty="0"/>
            </a:br>
            <a:r>
              <a:rPr sz="1200" dirty="0"/>
              <a:t>via Model Context Protocol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Where it runs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Separate process or container</a:t>
            </a:r>
            <a:br>
              <a:rPr sz="1200"/>
            </a:br>
            <a:r>
              <a:rPr sz="1200"/>
              <a:t>(deployed infrastructure)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What it provides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Live data access — query, mutate,</a:t>
            </a:r>
            <a:br>
              <a:rPr sz="1200"/>
            </a:br>
            <a:r>
              <a:rPr sz="1200"/>
              <a:t>observe in real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0690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Context cost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Each tool call's results fill</a:t>
            </a:r>
            <a:br>
              <a:rPr sz="1200"/>
            </a:br>
            <a:r>
              <a:rPr sz="1200"/>
              <a:t>the context window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7548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Maintenance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Write code, deploy, monitor</a:t>
            </a:r>
            <a:br>
              <a:rPr sz="1200"/>
            </a:br>
            <a:r>
              <a:rPr sz="1200"/>
              <a:t>a running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440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Best for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Real-time data, actions with</a:t>
            </a:r>
            <a:br>
              <a:rPr sz="1200"/>
            </a:br>
            <a:r>
              <a:rPr sz="1200"/>
              <a:t>side effects, live observation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234440"/>
            <a:ext cx="5303520" cy="5212080"/>
          </a:xfrm>
          <a:prstGeom prst="rect">
            <a:avLst/>
          </a:prstGeom>
          <a:solidFill>
            <a:srgbClr val="262626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5" name="TextBox 14"/>
          <p:cNvSpPr txBox="1"/>
          <p:nvPr/>
        </p:nvSpPr>
        <p:spPr>
          <a:xfrm>
            <a:off x="6492240" y="128016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000" b="1">
                <a:solidFill>
                  <a:srgbClr val="8A3FFC"/>
                </a:solidFill>
                <a:latin typeface="Calibri"/>
              </a:defRPr>
            </a:pPr>
            <a:r>
              <a:rPr sz="2800" dirty="0"/>
              <a:t>Agent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645920"/>
            <a:ext cx="4572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Domain knowledge — the control plane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011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What it is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Markdown file with trigger conditions</a:t>
            </a:r>
            <a:br>
              <a:rPr sz="1200"/>
            </a:br>
            <a:r>
              <a:rPr sz="1200"/>
              <a:t>and instructions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6974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Where it runs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Loaded into the agent's context</a:t>
            </a:r>
            <a:br>
              <a:rPr sz="1200"/>
            </a:br>
            <a:r>
              <a:rPr sz="1200"/>
              <a:t>window on-demand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3832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What it provides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Domain knowledge, procedures,</a:t>
            </a:r>
            <a:br>
              <a:rPr sz="1200"/>
            </a:br>
            <a:r>
              <a:rPr sz="1200"/>
              <a:t>runbooks, playbooks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40690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Context cost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Loaded once when triggered —</a:t>
            </a:r>
            <a:br>
              <a:rPr sz="1200"/>
            </a:br>
            <a:r>
              <a:rPr sz="1200"/>
              <a:t>predictable footprint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47548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Maintenance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Edit a markdown file —</a:t>
            </a:r>
            <a:br>
              <a:rPr sz="1200"/>
            </a:br>
            <a:r>
              <a:rPr sz="1200"/>
              <a:t>no deployment needed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5440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Best for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Runbooks, deployment playbooks,</a:t>
            </a:r>
            <a:br>
              <a:rPr sz="1200"/>
            </a:br>
            <a:r>
              <a:rPr sz="1200"/>
              <a:t>troubleshooting procedures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537960"/>
            <a:ext cx="11064240" cy="2286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109728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1600"/>
              <a:t>Together:  MCP for observation  +  Skills for action  =  AI that knows what's happening AND what to do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Three Cassandra Skills, Three Lenses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Each operates on the same MCP-collected data — with a different stance</a:t>
            </a:r>
          </a:p>
        </p:txBody>
      </p:sp>
      <p:sp>
        <p:nvSpPr>
          <p:cNvPr id="10" name="Diagnose Label"/>
          <p:cNvSpPr txBox="1"/>
          <p:nvPr/>
        </p:nvSpPr>
        <p:spPr>
          <a:xfrm>
            <a:off x="54864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Systematic problem-finding</a:t>
            </a:r>
          </a:p>
        </p:txBody>
      </p:sp>
      <p:sp>
        <p:nvSpPr>
          <p:cNvPr id="11" name="Diagnose Box"/>
          <p:cNvSpPr/>
          <p:nvPr/>
        </p:nvSpPr>
        <p:spPr>
          <a:xfrm>
            <a:off x="54864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1192E8"/>
                </a:solidFill>
                <a:latin typeface="Consolas"/>
              </a:defRPr>
            </a:pPr>
            <a:r>
              <a:rPr sz="2400"/>
              <a:t>/diagnose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USE method across all nodes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Utilization, saturation, errors — CPU, memory, disk, network, thread pools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Compares every node for outliers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Connects observations a dashboard would never join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000" b="1"/>
              <a:t>Live finding: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“CFS throttling: 6.7% of periods — pods at 60% of quota, hosts 25% idle. Flat dashboards miss this.”</a:t>
            </a:r>
          </a:p>
        </p:txBody>
      </p:sp>
      <p:sp>
        <p:nvSpPr>
          <p:cNvPr id="20" name="Optimize Label"/>
          <p:cNvSpPr txBox="1"/>
          <p:nvPr/>
        </p:nvSpPr>
        <p:spPr>
          <a:xfrm>
            <a:off x="439600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Tier-ranked tuning</a:t>
            </a:r>
          </a:p>
        </p:txBody>
      </p:sp>
      <p:sp>
        <p:nvSpPr>
          <p:cNvPr id="21" name="Optimize Box"/>
          <p:cNvSpPr/>
          <p:nvPr/>
        </p:nvSpPr>
        <p:spPr>
          <a:xfrm>
            <a:off x="439600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F1C21B"/>
                </a:solidFill>
                <a:latin typeface="Consolas"/>
              </a:defRPr>
            </a:pPr>
            <a:r>
              <a:rPr sz="2400"/>
              <a:t>/optimize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Concrete deltas, ranked by impact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cassandra.yaml + ALTER TABLE deltas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Each comes with reason and expected impact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Tier 1 / Tier 2 / Tier 3 priority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F1C21B"/>
                </a:solidFill>
                <a:latin typeface="Calibri"/>
              </a:defRPr>
            </a:pPr>
            <a:r>
              <a:rPr sz="1000" b="1"/>
              <a:t>Live recommendation: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“key_cache_size_in_mb: 0 in operator default. Table requests caching: ALL — silently ignored. Fix to 100. Expected: 92k → 110-120k ops/sec.”</a:t>
            </a:r>
          </a:p>
        </p:txBody>
      </p:sp>
      <p:sp>
        <p:nvSpPr>
          <p:cNvPr id="30" name="Expert Label"/>
          <p:cNvSpPr txBox="1"/>
          <p:nvPr/>
        </p:nvSpPr>
        <p:spPr>
          <a:xfrm>
            <a:off x="824336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Opinionated big-picture</a:t>
            </a:r>
          </a:p>
        </p:txBody>
      </p:sp>
      <p:sp>
        <p:nvSpPr>
          <p:cNvPr id="31" name="Expert Box"/>
          <p:cNvSpPr/>
          <p:nvPr/>
        </p:nvSpPr>
        <p:spPr>
          <a:xfrm>
            <a:off x="824336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2400"/>
              <a:t>/expert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Trade-offs and production-readiness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Anti-patterns, defensible-vs-dangerous defaults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Real C* community stances baked in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“Here’s what I’d actually do, and why”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000" b="1"/>
              <a:t>Live quote: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“softPodAntiAffinity is defensible only for dev/CI/workshop — not for any RF=3 cluster where availability matters.”</a:t>
            </a:r>
          </a:p>
        </p:txBody>
      </p:sp>
      <p:sp>
        <p:nvSpPr>
          <p:cNvPr id="60" name="Footer"/>
          <p:cNvSpPr txBox="1"/>
          <p:nvPr/>
        </p:nvSpPr>
        <p:spPr>
          <a:xfrm>
            <a:off x="548640" y="57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78A9FF"/>
                </a:solidFill>
                <a:latin typeface="Calibri"/>
              </a:defRPr>
            </a:pPr>
            <a:r>
              <a:t>Same MCP data feed, three opinions  —  github.com/rustyrazorblade/skills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Two Failures, Neither Layer Could See Both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Cassandra can’t see its ceiling. Kubernetes can’t see a dead node. The skill closes the loop.</a:t>
            </a:r>
          </a:p>
        </p:txBody>
      </p:sp>
      <p:sp>
        <p:nvSpPr>
          <p:cNvPr id="10" name="F1 Header"/>
          <p:cNvSpPr txBox="1"/>
          <p:nvPr/>
        </p:nvSpPr>
        <p:spPr>
          <a:xfrm>
            <a:off x="548640" y="140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F1C21B"/>
                </a:solidFill>
                <a:latin typeface="Calibri"/>
              </a:defRPr>
            </a:pPr>
            <a:r>
              <a:rPr sz="1300"/>
              <a:t>Failure 1  —  Cassandra can’t see its own ceiling</a:t>
            </a:r>
          </a:p>
        </p:txBody>
      </p:sp>
      <p:sp>
        <p:nvSpPr>
          <p:cNvPr id="11" name="F1 Box"/>
          <p:cNvSpPr/>
          <p:nvPr/>
        </p:nvSpPr>
        <p:spPr>
          <a:xfrm>
            <a:off x="548640" y="1700000"/>
            <a:ext cx="5400000" cy="2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100" b="1">
                <a:solidFill>
                  <a:srgbClr val="F1C21B"/>
                </a:solidFill>
                <a:latin typeface="Calibri"/>
              </a:defRPr>
            </a:pPr>
            <a:r>
              <a:rPr sz="1200" b="1"/>
              <a:t>CFS throttling — on bursts, not on average</a:t>
            </a:r>
          </a:p>
          <a:p>
            <a:pPr algn="l">
              <a:spcAft>
                <a:spcPts val="2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Cassandra container CPU   6.7 – 8.8 cores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FF8389"/>
                </a:solidFill>
              </a:rPr>
              <a:t>Configured limit                   14  ← only ~60% used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CFS periods throttled       peaks at 6.7 %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Worker node CPU              24 – 36 %  ← idle</a:t>
            </a:r>
          </a:p>
          <a:p>
            <a:pPr algn="l">
              <a:spcAft>
                <a:spcPts val="200"/>
              </a:spcAft>
              <a:defRPr sz="1000" i="1">
                <a:solidFill>
                  <a:srgbClr val="C6C6C6"/>
                </a:solidFill>
                <a:latin typeface="Calibri"/>
              </a:defRPr>
            </a:pPr>
            <a:r>
              <a:rPr sz="1100" i="1"/>
              <a:t>Inside Cassandra: nothing wrong. `nodetool tpstats` is clean, thread-pool queues are shallow.</a:t>
            </a:r>
          </a:p>
          <a:p>
            <a:pPr algn="l">
              <a:spcBef>
                <a:spcPts val="100"/>
              </a:spcBef>
              <a:defRPr sz="1050" b="1">
                <a:solidFill>
                  <a:srgbClr val="F1C21B"/>
                </a:solidFill>
                <a:latin typeface="Calibri"/>
              </a:defRPr>
            </a:pPr>
            <a:r>
              <a:rPr sz="1150" b="1"/>
              <a:t>Visible only from cAdvisor  →  OpenShift Thanos</a:t>
            </a:r>
          </a:p>
        </p:txBody>
      </p:sp>
      <p:sp>
        <p:nvSpPr>
          <p:cNvPr id="20" name="F2 Header"/>
          <p:cNvSpPr txBox="1"/>
          <p:nvPr/>
        </p:nvSpPr>
        <p:spPr>
          <a:xfrm>
            <a:off x="6148640" y="14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300"/>
              <a:t>Failure 2  —  Kubernetes can’t see a dead node</a:t>
            </a:r>
          </a:p>
        </p:txBody>
      </p:sp>
      <p:sp>
        <p:nvSpPr>
          <p:cNvPr id="21" name="F2 Box"/>
          <p:cNvSpPr/>
          <p:nvPr/>
        </p:nvSpPr>
        <p:spPr>
          <a:xfrm>
            <a:off x="6148640" y="1700000"/>
            <a:ext cx="5500000" cy="2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100" b="1">
                <a:solidFill>
                  <a:srgbClr val="FF8389"/>
                </a:solidFill>
                <a:latin typeface="Calibri"/>
              </a:defRPr>
            </a:pPr>
            <a:r>
              <a:rPr sz="1200" b="1"/>
              <a:t>Disk-full + commit_failure_policy: stop</a:t>
            </a:r>
          </a:p>
          <a:p>
            <a:pPr algn="l">
              <a:spcAft>
                <a:spcPts val="150"/>
              </a:spcAft>
              <a:defRPr sz="900" b="1">
                <a:solidFill>
                  <a:srgbClr val="8D8D8D"/>
                </a:solidFill>
                <a:latin typeface="Consolas"/>
              </a:defRPr>
            </a:pPr>
            <a:r>
              <a:rPr sz="1000"/>
              <a:t>$ kubectl get pods -l ...=cassandra</a:t>
            </a:r>
          </a:p>
          <a:p>
            <a:pPr algn="l">
              <a:spcBef>
                <a:spcPts val="0"/>
              </a:spcBef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demo-dc1-rack1-sts-0   3/3   Running</a:t>
            </a:r>
          </a:p>
          <a:p>
            <a:pPr algn="l">
              <a:spcBef>
                <a:spcPts val="0"/>
              </a:spcBef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demo-dc1-rack2-sts-0   3/3   Running    </a:t>
            </a:r>
            <a:r>
              <a:rPr sz="1000" b="1">
                <a:solidFill>
                  <a:srgbClr val="FF8389"/>
                </a:solidFill>
              </a:rPr>
              <a:t>&lt;- dead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demo-dc1-rack3-sts-0   3/3   Running    </a:t>
            </a:r>
            <a:r>
              <a:rPr sz="1000" b="1">
                <a:solidFill>
                  <a:srgbClr val="FF8389"/>
                </a:solidFill>
              </a:rPr>
              <a:t>&lt;- dead</a:t>
            </a:r>
          </a:p>
          <a:p>
            <a:pPr algn="l">
              <a:spcAft>
                <a:spcPts val="150"/>
              </a:spcAft>
              <a:defRPr sz="900" b="1">
                <a:solidFill>
                  <a:srgbClr val="8D8D8D"/>
                </a:solidFill>
                <a:latin typeface="Consolas"/>
              </a:defRPr>
            </a:pPr>
            <a:r>
              <a:rPr sz="1000"/>
              <a:t>$ nodetool status</a:t>
            </a:r>
          </a:p>
          <a:p>
            <a:pPr algn="l">
              <a:spcBef>
                <a:spcPts val="0"/>
              </a:spcBef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UN  10.129.2.173  rack1</a:t>
            </a:r>
          </a:p>
          <a:p>
            <a:pPr algn="l">
              <a:spcBef>
                <a:spcPts val="0"/>
              </a:spcBef>
              <a:defRPr sz="900">
                <a:solidFill>
                  <a:srgbClr val="FF8389"/>
                </a:solidFill>
                <a:latin typeface="Consolas"/>
              </a:defRPr>
            </a:pPr>
            <a:r>
              <a:rPr sz="1000" b="1"/>
              <a:t>DN  10.131.0.91   rack2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FF8389"/>
                </a:solidFill>
                <a:latin typeface="Consolas"/>
              </a:defRPr>
            </a:pPr>
            <a:r>
              <a:rPr sz="1000" b="1"/>
              <a:t>DN  10.131.2.31   rack3</a:t>
            </a:r>
          </a:p>
          <a:p>
            <a:pPr algn="l">
              <a:spcBef>
                <a:spcPts val="100"/>
              </a:spcBef>
              <a:defRPr sz="1050" b="1">
                <a:solidFill>
                  <a:srgbClr val="FF8389"/>
                </a:solidFill>
                <a:latin typeface="Calibri"/>
              </a:defRPr>
            </a:pPr>
            <a:r>
              <a:rPr sz="1100" b="1"/>
              <a:t>JVM alive → pod alive → ring dead</a:t>
            </a:r>
          </a:p>
        </p:txBody>
      </p:sp>
      <p:sp>
        <p:nvSpPr>
          <p:cNvPr id="30" name="Fix Header"/>
          <p:cNvSpPr txBox="1"/>
          <p:nvPr/>
        </p:nvSpPr>
        <p:spPr>
          <a:xfrm>
            <a:off x="548640" y="4320000"/>
            <a:ext cx="1109472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got fixed because of the analysis</a:t>
            </a:r>
          </a:p>
        </p:txBody>
      </p:sp>
      <p:sp>
        <p:nvSpPr>
          <p:cNvPr id="31" name="Fix Box"/>
          <p:cNvSpPr/>
          <p:nvPr/>
        </p:nvSpPr>
        <p:spPr>
          <a:xfrm>
            <a:off x="548640" y="4620000"/>
            <a:ext cx="1109472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91440" rIns="91440" bIns="73152" rtlCol="0" anchor="t"/>
          <a:lstStyle/>
          <a:p>
            <a:pPr marL="228600" indent="-228600" algn="l">
              <a:spcAft>
                <a:spcPts val="3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commit_failure_policy: stop → die  </a:t>
            </a:r>
            <a:r>
              <a:rPr sz="1100"/>
              <a:t>—  JVM exits, pod goes CrashLoopBackOff, Kubernetes sees the failure</a:t>
            </a:r>
          </a:p>
          <a:p>
            <a:pPr marL="228600" indent="-228600" algn="l">
              <a:spcAft>
                <a:spcPts val="3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commitlog_sync_period: 10000 ms → 2000 ms  </a:t>
            </a:r>
            <a:r>
              <a:rPr sz="1100"/>
              <a:t>—  the 10s default is for spinning disks</a:t>
            </a:r>
          </a:p>
          <a:p>
            <a:pPr marL="228600" indent="-228600" algn="l">
              <a:spcAft>
                <a:spcPts val="3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PVCs 50Gi → 150Gi  </a:t>
            </a:r>
            <a:r>
              <a:rPr sz="1100"/>
              <a:t>—  size for write throughput × duration, not for the dataset</a:t>
            </a:r>
          </a:p>
          <a:p>
            <a:pPr marL="228600" indent="-228600" algn="l">
              <a:spcAft>
                <a:spcPts val="2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Grafana panels 11 – 13: PVC used, growth rate, </a:t>
            </a:r>
            <a:r>
              <a:rPr sz="1100" b="1">
                <a:solidFill>
                  <a:srgbClr val="F1C21B"/>
                </a:solidFill>
              </a:rPr>
              <a:t>projected hours until full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548640" y="61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One failure invisible to Cassandra, one invisible to Kubernetes. Neither `nodetool` alone nor `kubectl` alone gets you there.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9CFC8-A3A8-916D-A336-952955F25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>
            <a:extLst>
              <a:ext uri="{FF2B5EF4-FFF2-40B4-BE49-F238E27FC236}">
                <a16:creationId xmlns:a16="http://schemas.microsoft.com/office/drawing/2014/main" id="{71B3FEB2-270B-AECA-2F61-4B8159B6A1D0}"/>
              </a:ext>
            </a:extLst>
          </p:cNvPr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6B1F904-D0A5-1949-02B9-57928CCC86EC}"/>
              </a:ext>
            </a:extLst>
          </p:cNvPr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FFFFFF"/>
                </a:solidFill>
                <a:latin typeface="Calibri"/>
              </a:defRPr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Workshop Repo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Footer">
            <a:extLst>
              <a:ext uri="{FF2B5EF4-FFF2-40B4-BE49-F238E27FC236}">
                <a16:creationId xmlns:a16="http://schemas.microsoft.com/office/drawing/2014/main" id="{63B42C49-4F67-B960-894D-B774613D0BC8}"/>
              </a:ext>
            </a:extLst>
          </p:cNvPr>
          <p:cNvSpPr txBox="1"/>
          <p:nvPr/>
        </p:nvSpPr>
        <p:spPr>
          <a:xfrm>
            <a:off x="3952262" y="5685060"/>
            <a:ext cx="4287473" cy="4114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1">
                <a:solidFill>
                  <a:srgbClr val="78A9FF"/>
                </a:solidFill>
                <a:latin typeface="Calibri"/>
              </a:defRPr>
            </a:pPr>
            <a:r>
              <a:rPr lang="en-US" sz="2400" b="1" dirty="0" err="1">
                <a:solidFill>
                  <a:srgbClr val="78A9FF"/>
                </a:solidFill>
                <a:latin typeface="Calibri"/>
              </a:rPr>
              <a:t>i</a:t>
            </a:r>
            <a:r>
              <a:rPr kumimoji="0" lang="en-US" sz="2400" b="1" u="none" strike="noStrike" kern="1200" cap="none" spc="0" normalizeH="0" baseline="0" noProof="0" dirty="0" err="1">
                <a:ln>
                  <a:noFill/>
                </a:ln>
                <a:solidFill>
                  <a:srgbClr val="78A9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bm.biz</a:t>
            </a:r>
            <a:r>
              <a:rPr kumimoji="0" lang="en-US" sz="2400" b="1" u="none" strike="noStrike" kern="1200" cap="none" spc="0" normalizeH="0" baseline="0" noProof="0" dirty="0">
                <a:ln>
                  <a:noFill/>
                </a:ln>
                <a:solidFill>
                  <a:srgbClr val="78A9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/k8ssandra-claude-repo</a:t>
            </a:r>
            <a:endParaRPr kumimoji="0" sz="2400" b="1" u="none" strike="noStrike" kern="1200" cap="none" spc="0" normalizeH="0" baseline="0" noProof="0" dirty="0">
              <a:ln>
                <a:noFill/>
              </a:ln>
              <a:solidFill>
                <a:srgbClr val="78A9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C01F33-6E8B-BE1A-C94F-F59A2FBDEA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2951" y="1515951"/>
            <a:ext cx="3826097" cy="3826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626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3311</Words>
  <Application>Microsoft Macintosh PowerPoint</Application>
  <PresentationFormat>Widescreen</PresentationFormat>
  <Paragraphs>536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James Colvin</cp:lastModifiedBy>
  <cp:revision>9</cp:revision>
  <dcterms:created xsi:type="dcterms:W3CDTF">2013-01-27T09:14:16Z</dcterms:created>
  <dcterms:modified xsi:type="dcterms:W3CDTF">2026-09-22T18:48:18Z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1.0.151</vt:lpwstr>
  </property>
  <property fmtid="{D5CDD505-2E9C-101B-9397-08002B2CF9AE}" pid="3" name="OfficeCLI.LastModified">
    <vt:lpwstr>2026-09-21T20:10:23Z</vt:lpwstr>
  </property>
</Properties>
</file>