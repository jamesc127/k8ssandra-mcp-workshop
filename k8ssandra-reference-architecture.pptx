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Control C* Con Claude Code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3200" b="0">
                <a:solidFill>
                  <a:srgbClr val="78A9FF"/>
                </a:solidFill>
                <a:latin typeface="Calibri"/>
              </a:defRPr>
            </a:pPr>
            <a:r>
              <a:rPr lang="en-US" dirty="0"/>
              <a:t>MCP + Skills = Awesome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2743200" cy="274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8229600" cy="7315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600" b="0">
                <a:solidFill>
                  <a:srgbClr val="C6C6C6"/>
                </a:solidFill>
                <a:latin typeface="Calibri"/>
              </a:defRPr>
            </a:pPr>
            <a:r>
              <a:t>Apache Cassandra on Amazon EKS with k8ssandra-operator</a:t>
            </a:r>
            <a:br/>
            <a:r>
              <a:t>and MCP-based AI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100" b="0">
                <a:solidFill>
                  <a:srgbClr val="C6C6C6"/>
                </a:solidFill>
                <a:latin typeface="Calibri"/>
              </a:defRPr>
            </a:pPr>
            <a:r>
              <a:t>IBM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itle"/>
          <p:cNvSpPr txBox="1"/>
          <p:nvPr/>
        </p:nvSpPr>
        <p:spPr>
          <a:xfrm>
            <a:off x="960120" y="365760"/>
            <a:ext cx="10000000" cy="5029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Evolution of Cassandra Operations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60120" y="960120"/>
            <a:ext cx="100000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400" b="1">
                <a:solidFill>
                  <a:srgbClr val="78A9FF"/>
                </a:solidFill>
                <a:latin typeface="Calibri"/>
              </a:defRPr>
            </a:pPr>
            <a:r>
              <a:t>From bespoke YAML to declarative platforms</a:t>
            </a:r>
          </a:p>
        </p:txBody>
      </p:sp>
      <p:sp>
        <p:nvSpPr>
          <p:cNvPr id="10" name="Era1 Label"/>
          <p:cNvSpPr txBox="1"/>
          <p:nvPr/>
        </p:nvSpPr>
        <p:spPr>
          <a:xfrm>
            <a:off x="548640" y="1500000"/>
            <a:ext cx="2500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000" b="1">
                <a:solidFill>
                  <a:srgbClr val="C6C6C6"/>
                </a:solidFill>
                <a:latin typeface="Calibri"/>
              </a:defRPr>
            </a:pPr>
            <a:r>
              <a:rPr sz="1200"/>
              <a:t>Pre-Kubernetes Era</a:t>
            </a:r>
          </a:p>
        </p:txBody>
      </p:sp>
      <p:sp>
        <p:nvSpPr>
          <p:cNvPr id="11" name="Era1 Box"/>
          <p:cNvSpPr/>
          <p:nvPr/>
        </p:nvSpPr>
        <p:spPr>
          <a:xfrm>
            <a:off x="548640" y="1800000"/>
            <a:ext cx="2500000" cy="2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8D8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91440" bIns="73152" rtlCol="0" anchor="t"/>
          <a:lstStyle/>
          <a:p>
            <a:pPr algn="ctr">
              <a:spcAft>
                <a:spcPts val="800"/>
              </a:spcAft>
              <a:defRPr sz="1000" b="1">
                <a:solidFill>
                  <a:srgbClr val="C6C6C6"/>
                </a:solidFill>
                <a:latin typeface="Calibri"/>
              </a:defRPr>
            </a:pPr>
            <a:r>
              <a:rPr sz="1600"/>
              <a:t>Hand-Edited YAMLs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cassandra.yaml on every node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SSH-and-edit rolling restarts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Seeds, racks, GC tuning bespoke per cluster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One bad indent = a node out of the ring</a:t>
            </a:r>
          </a:p>
        </p:txBody>
      </p:sp>
      <p:sp>
        <p:nvSpPr>
          <p:cNvPr id="12" name="Era1 Tagline"/>
          <p:cNvSpPr txBox="1"/>
          <p:nvPr/>
        </p:nvSpPr>
        <p:spPr>
          <a:xfrm>
            <a:off x="548640" y="4550000"/>
            <a:ext cx="25000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900" b="0" i="1">
                <a:solidFill>
                  <a:srgbClr val="8D8D8D"/>
                </a:solidFill>
                <a:latin typeface="Calibri"/>
              </a:defRPr>
            </a:pPr>
            <a:r>
              <a:rPr sz="1300" i="1"/>
              <a:t>“The Dark Ages”</a:t>
            </a:r>
          </a:p>
        </p:txBody>
      </p:sp>
      <p:sp>
        <p:nvSpPr>
          <p:cNvPr id="20" name="Era2 Label"/>
          <p:cNvSpPr txBox="1"/>
          <p:nvPr/>
        </p:nvSpPr>
        <p:spPr>
          <a:xfrm>
            <a:off x="6214802" y="1503226"/>
            <a:ext cx="2500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000" b="1">
                <a:solidFill>
                  <a:srgbClr val="C6C6C6"/>
                </a:solidFill>
                <a:latin typeface="Calibri"/>
              </a:defRPr>
            </a:pPr>
            <a:r>
              <a:rPr sz="1200" dirty="0"/>
              <a:t>DIY Kubernetes</a:t>
            </a:r>
          </a:p>
        </p:txBody>
      </p:sp>
      <p:sp>
        <p:nvSpPr>
          <p:cNvPr id="21" name="Era2 Box"/>
          <p:cNvSpPr/>
          <p:nvPr/>
        </p:nvSpPr>
        <p:spPr>
          <a:xfrm>
            <a:off x="6278480" y="1800000"/>
            <a:ext cx="2500000" cy="2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FF8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91440" bIns="73152" rtlCol="0" anchor="t"/>
          <a:lstStyle/>
          <a:p>
            <a:pPr algn="ctr">
              <a:spcAft>
                <a:spcPts val="800"/>
              </a:spcAft>
              <a:defRPr sz="1000" b="1">
                <a:solidFill>
                  <a:srgbClr val="FF8389"/>
                </a:solidFill>
                <a:latin typeface="Calibri"/>
              </a:defRPr>
            </a:pPr>
            <a:r>
              <a:rPr sz="1600"/>
              <a:t>Hand-Rolled StatefulSets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Init containers for seed discovery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Manual PV lifecycle: lose a node, orphan a volume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Rack labels, anti-affinity, token math by hand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K8s doesn’t know about streaming or repair state</a:t>
            </a:r>
          </a:p>
        </p:txBody>
      </p:sp>
      <p:sp>
        <p:nvSpPr>
          <p:cNvPr id="22" name="Era2 Tagline"/>
          <p:cNvSpPr txBox="1"/>
          <p:nvPr/>
        </p:nvSpPr>
        <p:spPr>
          <a:xfrm>
            <a:off x="6278480" y="4550000"/>
            <a:ext cx="25000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900" b="0" i="1">
                <a:solidFill>
                  <a:srgbClr val="FF8389"/>
                </a:solidFill>
                <a:latin typeface="Calibri"/>
              </a:defRPr>
            </a:pPr>
            <a:r>
              <a:rPr sz="1300" i="1" dirty="0"/>
              <a:t>“Hope and Pain”</a:t>
            </a:r>
          </a:p>
        </p:txBody>
      </p:sp>
      <p:sp>
        <p:nvSpPr>
          <p:cNvPr id="30" name="Era3 Label"/>
          <p:cNvSpPr txBox="1"/>
          <p:nvPr/>
        </p:nvSpPr>
        <p:spPr>
          <a:xfrm>
            <a:off x="3392055" y="1500000"/>
            <a:ext cx="2500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000" b="1">
                <a:solidFill>
                  <a:srgbClr val="C6C6C6"/>
                </a:solidFill>
                <a:latin typeface="Calibri"/>
              </a:defRPr>
            </a:pPr>
            <a:r>
              <a:rPr sz="1200"/>
              <a:t>Infrastructure-as-Code</a:t>
            </a:r>
          </a:p>
        </p:txBody>
      </p:sp>
      <p:sp>
        <p:nvSpPr>
          <p:cNvPr id="31" name="Era3 Box"/>
          <p:cNvSpPr/>
          <p:nvPr/>
        </p:nvSpPr>
        <p:spPr>
          <a:xfrm>
            <a:off x="3392055" y="1800000"/>
            <a:ext cx="2500000" cy="2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91440" bIns="73152" rtlCol="0" anchor="t"/>
          <a:lstStyle/>
          <a:p>
            <a:pPr algn="ctr">
              <a:spcAft>
                <a:spcPts val="800"/>
              </a:spcAft>
              <a:defRPr sz="1000" b="1">
                <a:solidFill>
                  <a:srgbClr val="F1C21B"/>
                </a:solidFill>
                <a:latin typeface="Calibri"/>
              </a:defRPr>
            </a:pPr>
            <a:r>
              <a:rPr sz="1400"/>
              <a:t>Ansible · Terraform · Puppet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Repeatable deploys (when nothing breaks mid-play)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Config drift better (after the variable escaping)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Still imperative: gets you there, doesn’t keep you there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No self-healing — a dead node waits for a human</a:t>
            </a:r>
          </a:p>
        </p:txBody>
      </p:sp>
      <p:sp>
        <p:nvSpPr>
          <p:cNvPr id="32" name="Era3 Tagline"/>
          <p:cNvSpPr txBox="1"/>
          <p:nvPr/>
        </p:nvSpPr>
        <p:spPr>
          <a:xfrm>
            <a:off x="3392055" y="4550000"/>
            <a:ext cx="25000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900" b="0" i="1">
                <a:solidFill>
                  <a:srgbClr val="F1C21B"/>
                </a:solidFill>
                <a:latin typeface="Calibri"/>
              </a:defRPr>
            </a:pPr>
            <a:r>
              <a:rPr sz="1300" i="1"/>
              <a:t>“Better, not solved”</a:t>
            </a:r>
          </a:p>
        </p:txBody>
      </p:sp>
      <p:sp>
        <p:nvSpPr>
          <p:cNvPr id="40" name="Era4 Label"/>
          <p:cNvSpPr txBox="1"/>
          <p:nvPr/>
        </p:nvSpPr>
        <p:spPr>
          <a:xfrm>
            <a:off x="9207438" y="1500000"/>
            <a:ext cx="2500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000" b="1">
                <a:solidFill>
                  <a:srgbClr val="C6C6C6"/>
                </a:solidFill>
                <a:latin typeface="Calibri"/>
              </a:defRPr>
            </a:pPr>
            <a:r>
              <a:rPr sz="1200"/>
              <a:t>Operator Era</a:t>
            </a:r>
          </a:p>
        </p:txBody>
      </p:sp>
      <p:sp>
        <p:nvSpPr>
          <p:cNvPr id="41" name="Era4 Box"/>
          <p:cNvSpPr/>
          <p:nvPr/>
        </p:nvSpPr>
        <p:spPr>
          <a:xfrm>
            <a:off x="9207438" y="1800000"/>
            <a:ext cx="2500000" cy="2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91440" bIns="73152" rtlCol="0" anchor="t"/>
          <a:lstStyle/>
          <a:p>
            <a:pPr algn="ctr">
              <a:spcAft>
                <a:spcPts val="800"/>
              </a:spcAft>
              <a:defRPr sz="1000" b="1">
                <a:solidFill>
                  <a:srgbClr val="42BE65"/>
                </a:solidFill>
                <a:latin typeface="Calibri"/>
              </a:defRPr>
            </a:pPr>
            <a:r>
              <a:rPr sz="1600"/>
              <a:t>k8ssandra-operator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~25 lines of declarative YAML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Self-healing: pod dies, replacement scheduled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Medusa, Reaper, metrics — batteries included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Manages the cluster — operating it still takes expertise</a:t>
            </a:r>
          </a:p>
        </p:txBody>
      </p:sp>
      <p:sp>
        <p:nvSpPr>
          <p:cNvPr id="42" name="Era4 Tagline"/>
          <p:cNvSpPr txBox="1"/>
          <p:nvPr/>
        </p:nvSpPr>
        <p:spPr>
          <a:xfrm>
            <a:off x="9207438" y="4550000"/>
            <a:ext cx="25000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900" b="0" i="1">
                <a:solidFill>
                  <a:srgbClr val="42BE65"/>
                </a:solidFill>
                <a:latin typeface="Calibri"/>
              </a:defRPr>
            </a:pPr>
            <a:r>
              <a:rPr sz="1300" i="1"/>
              <a:t>“Declarative · Self-healing”</a:t>
            </a:r>
          </a:p>
        </p:txBody>
      </p:sp>
      <p:sp>
        <p:nvSpPr>
          <p:cNvPr id="50" name="Decoration 1"/>
          <p:cNvSpPr/>
          <p:nvPr/>
        </p:nvSpPr>
        <p:spPr>
          <a:xfrm>
            <a:off x="3120093" y="3131712"/>
            <a:ext cx="118872" cy="3657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Arrow 1"/>
          <p:cNvSpPr/>
          <p:nvPr/>
        </p:nvSpPr>
        <p:spPr>
          <a:xfrm rot="5400000">
            <a:off x="3240074" y="3095136"/>
            <a:ext cx="109728" cy="109728"/>
          </a:xfrm>
          <a:prstGeom prst="triangl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2" name="Decoration 2"/>
          <p:cNvSpPr/>
          <p:nvPr/>
        </p:nvSpPr>
        <p:spPr>
          <a:xfrm>
            <a:off x="5985923" y="3138881"/>
            <a:ext cx="118872" cy="3657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3" name="Arrow 2"/>
          <p:cNvSpPr/>
          <p:nvPr/>
        </p:nvSpPr>
        <p:spPr>
          <a:xfrm rot="5400000">
            <a:off x="6105074" y="3095136"/>
            <a:ext cx="109728" cy="109728"/>
          </a:xfrm>
          <a:prstGeom prst="triangl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Decoration 3"/>
          <p:cNvSpPr/>
          <p:nvPr/>
        </p:nvSpPr>
        <p:spPr>
          <a:xfrm>
            <a:off x="8860726" y="3131712"/>
            <a:ext cx="118872" cy="3657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5" name="Arrow 3"/>
          <p:cNvSpPr/>
          <p:nvPr/>
        </p:nvSpPr>
        <p:spPr>
          <a:xfrm rot="5400000">
            <a:off x="8970074" y="3095136"/>
            <a:ext cx="109728" cy="109728"/>
          </a:xfrm>
          <a:prstGeom prst="triangl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Footer Hook"/>
          <p:cNvSpPr txBox="1"/>
          <p:nvPr/>
        </p:nvSpPr>
        <p:spPr>
          <a:xfrm>
            <a:off x="548640" y="5200000"/>
            <a:ext cx="11094720" cy="32004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400" b="1">
                <a:solidFill>
                  <a:srgbClr val="78A9FF"/>
                </a:solidFill>
                <a:latin typeface="Calibri"/>
              </a:defRPr>
            </a:pPr>
            <a:r>
              <a:t>Where we are today  —  next: how AI tooling closes the operator-knowledge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9144000" cy="5029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AWS / EKS Infrastructure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548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100" b="1">
                <a:solidFill>
                  <a:srgbClr val="78A9FF"/>
                </a:solidFill>
                <a:latin typeface="Calibri"/>
              </a:defRPr>
            </a:pPr>
            <a:r>
              <a:rPr sz="1600"/>
              <a:t>AWS Region: us-east-1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solidFill>
            <a:srgbClr val="1C1C1C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000" b="1">
                <a:solidFill>
                  <a:srgbClr val="C6C6C6"/>
                </a:solidFill>
                <a:latin typeface="Calibri"/>
              </a:defRPr>
            </a:pPr>
            <a:r>
              <a:rPr sz="1200"/>
              <a:t>VPC (eksctl-managed)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10698480" cy="1005840"/>
          </a:xfrm>
          <a:prstGeom prst="rect">
            <a:avLst/>
          </a:prstGeom>
          <a:solidFill>
            <a:srgbClr val="202020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2286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900" b="1">
                <a:solidFill>
                  <a:srgbClr val="009D9A"/>
                </a:solidFill>
                <a:latin typeface="Calibri"/>
              </a:defRPr>
            </a:pPr>
            <a:r>
              <a:rPr sz="1100"/>
              <a:t>Public Subnets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10512"/>
            <a:ext cx="36576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800" b="0">
                <a:solidFill>
                  <a:srgbClr val="4A4A4A"/>
                </a:solidFill>
                <a:latin typeface="Calibri"/>
              </a:defRPr>
            </a:pPr>
            <a:r>
              <a:rPr sz="1050"/>
              <a:t>tagged: kubernetes.io/role/elb=1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03120"/>
            <a:ext cx="256032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192E8"/>
                </a:solidFill>
                <a:latin typeface="Calibri"/>
              </a:defRPr>
            </a:pPr>
            <a:r>
              <a:rPr sz="1200"/>
              <a:t>Internet-Facing NLB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Port 8000 (TCP)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a2838...elb.amazonaws.com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103120"/>
            <a:ext cx="2286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78A9FF"/>
                </a:solidFill>
                <a:latin typeface="Calibri"/>
              </a:defRPr>
            </a:pPr>
            <a:r>
              <a:rPr sz="1200"/>
              <a:t>Internet / Claude Desktop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331720"/>
            <a:ext cx="1097280" cy="36576"/>
          </a:xfrm>
          <a:prstGeom prst="rect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Isosceles Triangle 13"/>
          <p:cNvSpPr/>
          <p:nvPr/>
        </p:nvSpPr>
        <p:spPr>
          <a:xfrm rot="16200000">
            <a:off x="3566160" y="2295144"/>
            <a:ext cx="109728" cy="109728"/>
          </a:xfrm>
          <a:prstGeom prst="triangle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10698480" cy="3246120"/>
          </a:xfrm>
          <a:prstGeom prst="rect">
            <a:avLst/>
          </a:prstGeom>
          <a:solidFill>
            <a:srgbClr val="202020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914400" y="2999232"/>
            <a:ext cx="2286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900" b="1">
                <a:solidFill>
                  <a:srgbClr val="009D9A"/>
                </a:solidFill>
                <a:latin typeface="Calibri"/>
              </a:defRPr>
            </a:pPr>
            <a:r>
              <a:rPr sz="1100"/>
              <a:t>Private Subnets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999232"/>
            <a:ext cx="4572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800" b="0">
                <a:solidFill>
                  <a:srgbClr val="4A4A4A"/>
                </a:solidFill>
                <a:latin typeface="Calibri"/>
              </a:defRPr>
            </a:pPr>
            <a:r>
              <a:rPr sz="1050"/>
              <a:t>tagged: kubernetes.io/role/internal-elb=1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91840"/>
            <a:ext cx="1033272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1097280" y="3319272"/>
            <a:ext cx="4572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000" b="1">
                <a:solidFill>
                  <a:srgbClr val="78A9FF"/>
                </a:solidFill>
                <a:latin typeface="Calibri"/>
              </a:defRPr>
            </a:pPr>
            <a:r>
              <a:rPr sz="1200"/>
              <a:t>EKS Cluster: k8ssandra-cluster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319272"/>
            <a:ext cx="4572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900" b="0">
                <a:solidFill>
                  <a:srgbClr val="C6C6C6"/>
                </a:solidFill>
                <a:latin typeface="Calibri"/>
              </a:defRPr>
            </a:pPr>
            <a:r>
              <a:rPr sz="1100"/>
              <a:t>K8s 1.31  |  OIDC Provider enabled (IRSA)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11880"/>
            <a:ext cx="4572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900" b="1">
                <a:solidFill>
                  <a:srgbClr val="C6C6C6"/>
                </a:solidFill>
                <a:latin typeface="Calibri"/>
              </a:defRPr>
            </a:pPr>
            <a:r>
              <a:rPr sz="1100"/>
              <a:t>Managed Node Group: cassandra-workers  (6 nodes, showing 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886200"/>
            <a:ext cx="301752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200"/>
              <a:t>m5.4xlarge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16 vCPU / 64 GiB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50 GiB gp3 root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privateNetworking: true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886200"/>
            <a:ext cx="301752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200"/>
              <a:t>m5.4xlarge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16 vCPU / 64 GiB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50 GiB gp3 root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privateNetworking: true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59" y="3886200"/>
            <a:ext cx="301752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200"/>
              <a:t>m5.4xlarge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16 vCPU / 64 GiB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50 GiB gp3 root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privateNetworking: 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37760"/>
            <a:ext cx="54864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900" b="1">
                <a:solidFill>
                  <a:srgbClr val="C6C6C6"/>
                </a:solidFill>
                <a:latin typeface="Calibri"/>
              </a:defRPr>
            </a:pPr>
            <a:r>
              <a:rPr sz="1100"/>
              <a:t>EBS Volumes (gp3, dynamic provisioning via CSI)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5212080"/>
            <a:ext cx="3017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09D9A"/>
                </a:solidFill>
                <a:latin typeface="Calibri"/>
              </a:defRPr>
            </a:pPr>
            <a:r>
              <a:rPr sz="1100"/>
              <a:t>PVC: 5Gi RWO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server-data-0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5212080"/>
            <a:ext cx="3017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09D9A"/>
                </a:solidFill>
                <a:latin typeface="Calibri"/>
              </a:defRPr>
            </a:pPr>
            <a:r>
              <a:rPr sz="1100"/>
              <a:t>PVC: 5Gi RWO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server-data-1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59" y="5212080"/>
            <a:ext cx="301752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09D9A"/>
                </a:solidFill>
                <a:latin typeface="Calibri"/>
              </a:defRPr>
            </a:pPr>
            <a:r>
              <a:rPr sz="1100"/>
              <a:t>PVC: 5Gi RWO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server-data-2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2743200"/>
            <a:ext cx="36576" cy="521208"/>
          </a:xfrm>
          <a:prstGeom prst="rect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1975104" y="3227832"/>
            <a:ext cx="109728" cy="109728"/>
          </a:xfrm>
          <a:prstGeom prst="triangle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9144000" cy="5029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Kubernetes Namespace &amp; Workload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4434840"/>
          </a:xfrm>
          <a:prstGeom prst="rect">
            <a:avLst/>
          </a:prstGeom>
          <a:solidFill>
            <a:srgbClr val="262626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2004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100" b="1">
                <a:solidFill>
                  <a:srgbClr val="78A9FF"/>
                </a:solidFill>
                <a:latin typeface="Calibri"/>
              </a:defRPr>
            </a:pPr>
            <a:r>
              <a:t>Namespace: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000" b="1">
                <a:solidFill>
                  <a:srgbClr val="78A9FF"/>
                </a:solidFill>
                <a:latin typeface="Calibri"/>
              </a:defRPr>
            </a:pPr>
            <a:r>
              <a:rPr sz="1400"/>
              <a:t>Operators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47472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400"/>
              <a:t>k8ssandra-operator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1 replica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Watches: K8ssandraCluster CR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47472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400"/>
              <a:t>cass-operator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1 replica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Watches: CassandraDatacenter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106424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000" b="1">
                <a:solidFill>
                  <a:srgbClr val="78A9FF"/>
                </a:solidFill>
                <a:latin typeface="Calibri"/>
              </a:defRPr>
            </a:pPr>
            <a:r>
              <a:rPr sz="1400"/>
              <a:t>Cassandra Ring  (StatefulSet: demo-dc1-default-sts)  —  4-6 CPU / 3-6Gi req/limit  ·  softPodAntiAffinity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347472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1192E8"/>
                </a:solidFill>
                <a:latin typeface="Calibri"/>
              </a:defRPr>
            </a:pPr>
            <a:r>
              <a:rPr sz="1200"/>
              <a:t>Pod: demo-dc1-default-sts-0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Containers: cassandra, server-system-log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PVC: 5Gi ebs-gp3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Port: 9042 (CQL)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743200"/>
            <a:ext cx="347472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1192E8"/>
                </a:solidFill>
                <a:latin typeface="Calibri"/>
              </a:defRPr>
            </a:pPr>
            <a:r>
              <a:rPr sz="1200"/>
              <a:t>Pod: demo-dc1-default-sts-1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Containers: cassandra, server-system-log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PVC: 5Gi ebs-gp3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Port: 9042 (CQL)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2743200"/>
            <a:ext cx="347472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1192E8"/>
                </a:solidFill>
                <a:latin typeface="Calibri"/>
              </a:defRPr>
            </a:pPr>
            <a:r>
              <a:rPr sz="1200"/>
              <a:t>Pod: demo-dc1-default-sts-2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Containers: cassandra, server-system-log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PVC: 5Gi ebs-gp3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Port: 9042 (CQL)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420624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24A148"/>
                </a:solidFill>
                <a:latin typeface="Calibri"/>
              </a:defRPr>
            </a:pPr>
            <a:r>
              <a:rPr sz="1400"/>
              <a:t>easy-cass-mcp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1 replica  |  Port 8000 (HTTP/SSE)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FASTMCP_SERVER_HOST=0.0.0.0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Creds: demo-superuser Secret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384048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C6C6C6"/>
                </a:solidFill>
                <a:latin typeface="Calibri"/>
              </a:defRPr>
            </a:pPr>
            <a:r>
              <a:rPr sz="1400"/>
              <a:t>nosqlbench-load  (Job)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ConfigMap-mounted workload YAML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Phases: schema / rampup / main  (1h @ 100k ops/sec)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threads=400, errors=count, anti-affinity vs cassandra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840480"/>
            <a:ext cx="2286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900" b="1">
                <a:solidFill>
                  <a:srgbClr val="C6C6C6"/>
                </a:solidFill>
                <a:latin typeface="Calibri"/>
              </a:defRPr>
            </a:pPr>
            <a:r>
              <a:rPr sz="1200"/>
              <a:t>Webhook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4114800"/>
            <a:ext cx="2286000" cy="39447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C6C6C6"/>
                </a:solidFill>
                <a:latin typeface="Calibri"/>
              </a:defRPr>
            </a:pPr>
            <a:r>
              <a:rPr sz="1100" dirty="0"/>
              <a:t>k8ssandra-operator-webhook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 dirty="0"/>
              <a:t>:443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4509270"/>
            <a:ext cx="2286000" cy="428489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C6C6C6"/>
                </a:solidFill>
                <a:latin typeface="Calibri"/>
              </a:defRPr>
            </a:pPr>
            <a:r>
              <a:rPr sz="1100" dirty="0" err="1"/>
              <a:t>cass</a:t>
            </a:r>
            <a:r>
              <a:rPr sz="1100" dirty="0"/>
              <a:t>-operator-webhook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 dirty="0"/>
              <a:t>:443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623560"/>
            <a:ext cx="5303520" cy="960120"/>
          </a:xfrm>
          <a:prstGeom prst="rect">
            <a:avLst/>
          </a:prstGeom>
          <a:solidFill>
            <a:srgbClr val="262626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32004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000" b="1">
                <a:solidFill>
                  <a:srgbClr val="009D9A"/>
                </a:solidFill>
                <a:latin typeface="Calibri"/>
              </a:defRPr>
            </a:pPr>
            <a:r>
              <a:rPr sz="1400"/>
              <a:t>Namespace: cert-manager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943600"/>
            <a:ext cx="150876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200"/>
              <a:t>cert-manager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TLS certs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5943600"/>
            <a:ext cx="150876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200"/>
              <a:t>cainjector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CA bundles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5943600"/>
            <a:ext cx="150876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200"/>
              <a:t>webhook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Validates CRs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5623560"/>
            <a:ext cx="6147680" cy="960120"/>
          </a:xfrm>
          <a:prstGeom prst="rect">
            <a:avLst/>
          </a:prstGeom>
          <a:solidFill>
            <a:srgbClr val="262626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6126480" y="5669280"/>
            <a:ext cx="32004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000" b="1">
                <a:solidFill>
                  <a:srgbClr val="009D9A"/>
                </a:solidFill>
                <a:latin typeface="Calibri"/>
              </a:defRPr>
            </a:pPr>
            <a:r>
              <a:rPr sz="1400"/>
              <a:t>Namespace: kube-system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5943600"/>
            <a:ext cx="90960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/>
              <a:t>aws-node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x3 DaemonSet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7520" y="5943600"/>
            <a:ext cx="90960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/>
              <a:t>kube-proxy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x3 iptables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560" y="5943600"/>
            <a:ext cx="90960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/>
              <a:t>coredns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x2 DNS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29600" y="5943600"/>
            <a:ext cx="90960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/>
              <a:t>ebs-csi-ctrl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x2 IRSA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30640" y="5943600"/>
            <a:ext cx="90960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/>
              <a:t>ebs-csi-node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x3 DaemonSet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131680" y="5943600"/>
            <a:ext cx="90960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000"/>
              <a:t>metrics-server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kubectl 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9144000" cy="5029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Flow &amp; Deployment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300" b="1">
                <a:solidFill>
                  <a:srgbClr val="78A9FF"/>
                </a:solidFill>
                <a:latin typeface="Calibri"/>
              </a:defRPr>
            </a:pPr>
            <a:r>
              <a:t>Data Flow: Claude Desktop to Cassandra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78A9FF"/>
                </a:solidFill>
                <a:latin typeface="Calibri"/>
              </a:defRPr>
            </a:pPr>
            <a:r>
              <a:rPr sz="1600"/>
              <a:t>Claude Desktop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macOS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MCP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965960"/>
            <a:ext cx="54864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700" b="0">
                <a:solidFill>
                  <a:srgbClr val="C6C6C6"/>
                </a:solidFill>
                <a:latin typeface="Calibri"/>
              </a:defRPr>
            </a:pPr>
            <a:r>
              <a:rPr sz="1000"/>
              <a:t>stdio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691640"/>
            <a:ext cx="749808" cy="36576"/>
          </a:xfrm>
          <a:prstGeom prst="rect">
            <a:avLst/>
          </a:prstGeom>
          <a:solidFill>
            <a:srgbClr val="78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Isosceles Triangle 7"/>
          <p:cNvSpPr/>
          <p:nvPr/>
        </p:nvSpPr>
        <p:spPr>
          <a:xfrm rot="5400000">
            <a:off x="3364991" y="1655064"/>
            <a:ext cx="109728" cy="109728"/>
          </a:xfrm>
          <a:prstGeom prst="triangle">
            <a:avLst/>
          </a:prstGeom>
          <a:solidFill>
            <a:srgbClr val="78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18288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200"/>
              <a:t>npx mcp-remote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stdio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965960"/>
            <a:ext cx="54864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700" b="0">
                <a:solidFill>
                  <a:srgbClr val="C6C6C6"/>
                </a:solidFill>
                <a:latin typeface="Calibri"/>
              </a:defRPr>
            </a:pPr>
            <a:r>
              <a:rPr sz="1000"/>
              <a:t>HTTP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691640"/>
            <a:ext cx="749808" cy="36576"/>
          </a:xfrm>
          <a:prstGeom prst="rect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6199632" y="1655064"/>
            <a:ext cx="109728" cy="109728"/>
          </a:xfrm>
          <a:prstGeom prst="triangle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10312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192E8"/>
                </a:solidFill>
                <a:latin typeface="Calibri"/>
              </a:defRPr>
            </a:pPr>
            <a:r>
              <a:rPr sz="1200"/>
              <a:t>Internet-Facing NLB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Port 8000 (TCP)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11064240" cy="1188720"/>
          </a:xfrm>
          <a:prstGeom prst="rect">
            <a:avLst/>
          </a:prstGeom>
          <a:solidFill>
            <a:srgbClr val="262626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731520" y="2404872"/>
            <a:ext cx="18288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000" b="1">
                <a:solidFill>
                  <a:srgbClr val="78A9FF"/>
                </a:solidFill>
                <a:latin typeface="Calibri"/>
              </a:defRPr>
            </a:pPr>
            <a:r>
              <a:rPr sz="1200"/>
              <a:t>EKS Cluster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176272"/>
            <a:ext cx="36576" cy="246887"/>
          </a:xfrm>
          <a:prstGeom prst="rect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7278624" y="2386584"/>
            <a:ext cx="109728" cy="109728"/>
          </a:xfrm>
          <a:prstGeom prst="triangle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>
            <a:off x="5943600" y="2651760"/>
            <a:ext cx="2743200" cy="731520"/>
          </a:xfrm>
          <a:prstGeom prst="rect">
            <a:avLst/>
          </a:prstGeom>
          <a:solidFill>
            <a:srgbClr val="2A2A2A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24A148"/>
                </a:solidFill>
                <a:latin typeface="Calibri"/>
              </a:defRPr>
            </a:pPr>
            <a:r>
              <a:rPr sz="1200"/>
              <a:t>easy-cass-mcp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Port 8000  |  MCP Server (SSE)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Creds: demo-superuser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51760"/>
            <a:ext cx="3200400" cy="731520"/>
          </a:xfrm>
          <a:prstGeom prst="rect">
            <a:avLst/>
          </a:prstGeom>
          <a:solidFill>
            <a:srgbClr val="2A2A2A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192E8"/>
                </a:solidFill>
                <a:latin typeface="Calibri"/>
              </a:defRPr>
            </a:pPr>
            <a:r>
              <a:rPr sz="1200"/>
              <a:t>Cassandra Ring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sts-0 / sts-1 / sts-2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RF=3, DC=dc1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Headless: demo-dc1-all-pods-svc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46120"/>
            <a:ext cx="109728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700" b="0">
                <a:solidFill>
                  <a:srgbClr val="C6C6C6"/>
                </a:solidFill>
                <a:latin typeface="Calibri"/>
              </a:defRPr>
            </a:pPr>
            <a:r>
              <a:rPr sz="1000"/>
              <a:t>CQL 9042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971800"/>
            <a:ext cx="1554480" cy="36576"/>
          </a:xfrm>
          <a:prstGeom prst="rect">
            <a:avLst/>
          </a:prstGeom>
          <a:solidFill>
            <a:srgbClr val="00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Isosceles Triangle 21"/>
          <p:cNvSpPr/>
          <p:nvPr/>
        </p:nvSpPr>
        <p:spPr>
          <a:xfrm rot="16200000">
            <a:off x="4005072" y="2935224"/>
            <a:ext cx="109728" cy="109728"/>
          </a:xfrm>
          <a:prstGeom prst="triangle">
            <a:avLst/>
          </a:prstGeom>
          <a:solidFill>
            <a:srgbClr val="00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54864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300" b="1">
                <a:solidFill>
                  <a:srgbClr val="78A9FF"/>
                </a:solidFill>
                <a:latin typeface="Calibri"/>
              </a:defRPr>
            </a:pPr>
            <a:r>
              <a:t>Deployment Pipeline (deploy.sh)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69080"/>
            <a:ext cx="15621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900" b="1">
                <a:solidFill>
                  <a:srgbClr val="C6C6C6"/>
                </a:solidFill>
                <a:latin typeface="Calibri"/>
              </a:defRPr>
            </a:pPr>
            <a:r>
              <a:rPr sz="1100"/>
              <a:t>Step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156210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9D9A"/>
                </a:solidFill>
                <a:latin typeface="Calibri"/>
              </a:defRPr>
            </a:pPr>
            <a:r>
              <a:rPr sz="1200"/>
              <a:t>StorageClass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ebs-gp3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EBS CSI 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12080"/>
            <a:ext cx="156210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800" b="0">
                <a:solidFill>
                  <a:srgbClr val="C6C6C6"/>
                </a:solidFill>
                <a:latin typeface="Calibri"/>
              </a:defRPr>
            </a:pPr>
            <a:r>
              <a:rPr sz="1050"/>
              <a:t>instant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29028" y="4709160"/>
            <a:ext cx="118872" cy="3657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2211324" y="4672584"/>
            <a:ext cx="109728" cy="109728"/>
          </a:xfrm>
          <a:prstGeom prst="triangl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2339340" y="4069080"/>
            <a:ext cx="15621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900" b="1">
                <a:solidFill>
                  <a:srgbClr val="C6C6C6"/>
                </a:solidFill>
                <a:latin typeface="Calibri"/>
              </a:defRPr>
            </a:pPr>
            <a:r>
              <a:rPr sz="1100"/>
              <a:t>Step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9340" y="4343400"/>
            <a:ext cx="156210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200"/>
              <a:t>cert-manager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Helm chart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ns: cert-manager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9340" y="5212080"/>
            <a:ext cx="156210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800" b="0">
                <a:solidFill>
                  <a:srgbClr val="C6C6C6"/>
                </a:solidFill>
                <a:latin typeface="Calibri"/>
              </a:defRPr>
            </a:pPr>
            <a:r>
              <a:rPr sz="1050"/>
              <a:t>~2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19728" y="4709160"/>
            <a:ext cx="118872" cy="3657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4002024" y="4672584"/>
            <a:ext cx="109728" cy="109728"/>
          </a:xfrm>
          <a:prstGeom prst="triangl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0" name="TextBox 100"/>
          <p:cNvSpPr txBox="1"/>
          <p:nvPr/>
        </p:nvSpPr>
        <p:spPr>
          <a:xfrm>
            <a:off x="4130040" y="4069080"/>
            <a:ext cx="15621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900" b="1">
                <a:solidFill>
                  <a:srgbClr val="C6C6C6"/>
                </a:solidFill>
                <a:latin typeface="Calibri"/>
              </a:defRPr>
            </a:pPr>
            <a:r>
              <a:rPr sz="1100"/>
              <a:t>Step 3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4130040" y="4343400"/>
            <a:ext cx="156210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200"/>
              <a:t>metrics-server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Helm chart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ns: kube-system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130040" y="5212080"/>
            <a:ext cx="156210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800" b="0">
                <a:solidFill>
                  <a:srgbClr val="C6C6C6"/>
                </a:solidFill>
                <a:latin typeface="Calibri"/>
              </a:defRPr>
            </a:pPr>
            <a:r>
              <a:rPr sz="1050"/>
              <a:t>~2 min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5710428" y="4709160"/>
            <a:ext cx="118872" cy="3657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4" name="Isosceles Triangle 104"/>
          <p:cNvSpPr/>
          <p:nvPr/>
        </p:nvSpPr>
        <p:spPr>
          <a:xfrm rot="5400000">
            <a:off x="5792724" y="4672584"/>
            <a:ext cx="109728" cy="109728"/>
          </a:xfrm>
          <a:prstGeom prst="triangl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5920740" y="4069080"/>
            <a:ext cx="15621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900" b="1">
                <a:solidFill>
                  <a:srgbClr val="C6C6C6"/>
                </a:solidFill>
                <a:latin typeface="Calibri"/>
              </a:defRPr>
            </a:pPr>
            <a:r>
              <a:rPr sz="1100"/>
              <a:t>Step 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20740" y="4343400"/>
            <a:ext cx="156210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200"/>
              <a:t>k8ssandra-operator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Helm chart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ns: default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0740" y="5212080"/>
            <a:ext cx="156210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800" b="0">
                <a:solidFill>
                  <a:srgbClr val="C6C6C6"/>
                </a:solidFill>
                <a:latin typeface="Calibri"/>
              </a:defRPr>
            </a:pPr>
            <a:r>
              <a:rPr sz="1050"/>
              <a:t>~2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01128" y="4709160"/>
            <a:ext cx="118872" cy="3657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Isosceles Triangle 37"/>
          <p:cNvSpPr/>
          <p:nvPr/>
        </p:nvSpPr>
        <p:spPr>
          <a:xfrm rot="5400000">
            <a:off x="7583424" y="4672584"/>
            <a:ext cx="109728" cy="109728"/>
          </a:xfrm>
          <a:prstGeom prst="triangl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7711440" y="4069080"/>
            <a:ext cx="15621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900" b="1">
                <a:solidFill>
                  <a:srgbClr val="C6C6C6"/>
                </a:solidFill>
                <a:latin typeface="Calibri"/>
              </a:defRPr>
            </a:pPr>
            <a:r>
              <a:rPr sz="1100"/>
              <a:t>Step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11440" y="4343400"/>
            <a:ext cx="156210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F62FE"/>
                </a:solidFill>
                <a:latin typeface="Calibri"/>
              </a:defRPr>
            </a:pPr>
            <a:r>
              <a:rPr sz="1200"/>
              <a:t>K8ssandraCluster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CR: demo  (v5.0.8)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3-node, 5Gi, 2G heap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1440" y="5212080"/>
            <a:ext cx="156210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800" b="0">
                <a:solidFill>
                  <a:srgbClr val="C6C6C6"/>
                </a:solidFill>
                <a:latin typeface="Calibri"/>
              </a:defRPr>
            </a:pPr>
            <a:r>
              <a:rPr sz="1050"/>
              <a:t>~5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91828" y="4709160"/>
            <a:ext cx="118872" cy="3657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Isosceles Triangle 42"/>
          <p:cNvSpPr/>
          <p:nvPr/>
        </p:nvSpPr>
        <p:spPr>
          <a:xfrm rot="5400000">
            <a:off x="9374124" y="4672584"/>
            <a:ext cx="109728" cy="109728"/>
          </a:xfrm>
          <a:prstGeom prst="triangl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TextBox 43"/>
          <p:cNvSpPr txBox="1"/>
          <p:nvPr/>
        </p:nvSpPr>
        <p:spPr>
          <a:xfrm>
            <a:off x="9502140" y="4069080"/>
            <a:ext cx="15621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900" b="1">
                <a:solidFill>
                  <a:srgbClr val="C6C6C6"/>
                </a:solidFill>
                <a:latin typeface="Calibri"/>
              </a:defRPr>
            </a:pPr>
            <a:r>
              <a:rPr sz="1100"/>
              <a:t>Step 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2140" y="4343400"/>
            <a:ext cx="156210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24A148"/>
                </a:solidFill>
                <a:latin typeface="Calibri"/>
              </a:defRPr>
            </a:pPr>
            <a:r>
              <a:rPr sz="1200"/>
              <a:t>Apps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easy-cass-mcp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50"/>
              <a:t>nosqlbench, NLB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2140" y="5212080"/>
            <a:ext cx="156210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800" b="0">
                <a:solidFill>
                  <a:srgbClr val="C6C6C6"/>
                </a:solidFill>
                <a:latin typeface="Calibri"/>
              </a:defRPr>
            </a:pPr>
            <a:r>
              <a:rPr sz="1050"/>
              <a:t>~3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532120"/>
            <a:ext cx="100584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100" b="1">
                <a:solidFill>
                  <a:srgbClr val="C6C6C6"/>
                </a:solidFill>
                <a:latin typeface="Calibri"/>
              </a:defRPr>
            </a:pPr>
            <a:r>
              <a:rPr sz="1600"/>
              <a:t>Total fresh deploy: ~14-17 min  (+  EKS cluster creation: ~15-20 min)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9144000" cy="5029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Kubernetes Resource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200" b="1">
                <a:solidFill>
                  <a:srgbClr val="78A9FF"/>
                </a:solidFill>
                <a:latin typeface="Calibri"/>
              </a:defRPr>
            </a:pPr>
            <a:r>
              <a:rPr sz="1400"/>
              <a:t>Custom Resource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560320" cy="1051560"/>
          </a:xfrm>
          <a:prstGeom prst="rect">
            <a:avLst/>
          </a:prstGeom>
          <a:solidFill>
            <a:srgbClr val="2A2A2A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400"/>
              <a:t>K8ssandraCluster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k8ssandra.io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name: demo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serverVersion: 5.0.8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datacenters: dc1, size: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600200"/>
            <a:ext cx="64008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700" b="0">
                <a:solidFill>
                  <a:srgbClr val="C6C6C6"/>
                </a:solidFill>
                <a:latin typeface="Calibri"/>
              </a:defRPr>
            </a:pPr>
            <a:r>
              <a:rPr sz="1050"/>
              <a:t>creates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783080"/>
            <a:ext cx="704088" cy="36576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Isosceles Triangle 7"/>
          <p:cNvSpPr/>
          <p:nvPr/>
        </p:nvSpPr>
        <p:spPr>
          <a:xfrm rot="5400000">
            <a:off x="3867911" y="1746504"/>
            <a:ext cx="109728" cy="109728"/>
          </a:xfrm>
          <a:prstGeom prst="triangl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ectangle 8"/>
          <p:cNvSpPr/>
          <p:nvPr/>
        </p:nvSpPr>
        <p:spPr>
          <a:xfrm>
            <a:off x="4114800" y="1325880"/>
            <a:ext cx="2286000" cy="731520"/>
          </a:xfrm>
          <a:prstGeom prst="rect">
            <a:avLst/>
          </a:prstGeom>
          <a:solidFill>
            <a:srgbClr val="2A2A2A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400"/>
              <a:t>CassandraDatacenter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cassandra.datastax.com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name: dc1, size: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84831"/>
            <a:ext cx="640080" cy="1828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700" b="0">
                <a:solidFill>
                  <a:srgbClr val="C6C6C6"/>
                </a:solidFill>
                <a:latin typeface="Calibri"/>
              </a:defRPr>
            </a:pPr>
            <a:r>
              <a:rPr sz="1050"/>
              <a:t>manages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103120"/>
            <a:ext cx="36576" cy="338328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5084064" y="2404872"/>
            <a:ext cx="109728" cy="109728"/>
          </a:xfrm>
          <a:prstGeom prst="triangl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Rectangle 12"/>
          <p:cNvSpPr/>
          <p:nvPr/>
        </p:nvSpPr>
        <p:spPr>
          <a:xfrm>
            <a:off x="4114800" y="2514600"/>
            <a:ext cx="228600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192E8"/>
                </a:solidFill>
                <a:latin typeface="Calibri"/>
              </a:defRPr>
            </a:pPr>
            <a:r>
              <a:rPr sz="1400"/>
              <a:t>StatefulSet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demo-dc1-default-sts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replicas: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256032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9D9A"/>
                </a:solidFill>
                <a:latin typeface="Calibri"/>
              </a:defRPr>
            </a:pPr>
            <a:r>
              <a:rPr sz="1400" dirty="0"/>
              <a:t>cert-</a:t>
            </a:r>
            <a:r>
              <a:rPr sz="1400" dirty="0" err="1"/>
              <a:t>manager.io</a:t>
            </a:r>
            <a:endParaRPr sz="1400" dirty="0"/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 dirty="0"/>
              <a:t>Issuer / </a:t>
            </a:r>
            <a:r>
              <a:rPr sz="1100" dirty="0" err="1"/>
              <a:t>ClusterIssuer</a:t>
            </a:r>
            <a:endParaRPr sz="1100" dirty="0"/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 dirty="0"/>
              <a:t>Certificate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 dirty="0" err="1"/>
              <a:t>CertificateRequest</a:t>
            </a:r>
            <a:endParaRPr sz="1100" dirty="0"/>
          </a:p>
        </p:txBody>
      </p:sp>
      <p:sp>
        <p:nvSpPr>
          <p:cNvPr id="15" name="TextBox 14"/>
          <p:cNvSpPr txBox="1"/>
          <p:nvPr/>
        </p:nvSpPr>
        <p:spPr>
          <a:xfrm>
            <a:off x="6949440" y="1005840"/>
            <a:ext cx="36576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200" b="1">
                <a:solidFill>
                  <a:srgbClr val="78A9FF"/>
                </a:solidFill>
                <a:latin typeface="Calibri"/>
              </a:defRPr>
            </a:pPr>
            <a:r>
              <a:rPr sz="1400"/>
              <a:t>Storage Chain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325880"/>
            <a:ext cx="22860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09D9A"/>
                </a:solidFill>
                <a:latin typeface="Calibri"/>
              </a:defRPr>
            </a:pPr>
            <a:r>
              <a:rPr sz="1200"/>
              <a:t>StorageClass: ebs-gp3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provisioner: ebs.csi.aws.com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WaitForFirstConsumer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/>
              <a:t>reclaimPolicy: Delete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691640"/>
            <a:ext cx="384048" cy="3657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9674352" y="1655064"/>
            <a:ext cx="109728" cy="109728"/>
          </a:xfrm>
          <a:prstGeom prst="triangle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Rectangle 18"/>
          <p:cNvSpPr/>
          <p:nvPr/>
        </p:nvSpPr>
        <p:spPr>
          <a:xfrm>
            <a:off x="9875520" y="999465"/>
            <a:ext cx="1920240" cy="462506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 dirty="0"/>
              <a:t>server-data-sts-0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 dirty="0"/>
              <a:t>5Gi, RWO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507689"/>
            <a:ext cx="1920240" cy="411481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 dirty="0"/>
              <a:t>server-data-sts-1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 dirty="0"/>
              <a:t>5Gi, RWO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1964888"/>
            <a:ext cx="1920240" cy="392355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 dirty="0"/>
              <a:t>server-data-sts-2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 dirty="0"/>
              <a:t>5Gi, RWO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331720"/>
            <a:ext cx="36576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200" b="1">
                <a:solidFill>
                  <a:srgbClr val="78A9FF"/>
                </a:solidFill>
                <a:latin typeface="Calibri"/>
              </a:defRPr>
            </a:pPr>
            <a:r>
              <a:rPr sz="1400"/>
              <a:t>Secrets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2606040"/>
            <a:ext cx="484632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demo-superuser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 dirty="0"/>
              <a:t>Auto-generated by k8ssandra-operator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 dirty="0"/>
              <a:t>Keys: username, password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100" dirty="0"/>
              <a:t>Ref by: easy-</a:t>
            </a:r>
            <a:r>
              <a:rPr sz="1100" dirty="0" err="1"/>
              <a:t>cass</a:t>
            </a:r>
            <a:r>
              <a:rPr sz="1100" dirty="0"/>
              <a:t>-</a:t>
            </a:r>
            <a:r>
              <a:rPr sz="1100" dirty="0" err="1"/>
              <a:t>mcp</a:t>
            </a:r>
            <a:r>
              <a:rPr sz="1100" dirty="0"/>
              <a:t>, </a:t>
            </a:r>
            <a:r>
              <a:rPr sz="1100" dirty="0" err="1"/>
              <a:t>nosqlbench</a:t>
            </a:r>
            <a:endParaRPr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200" b="1">
                <a:solidFill>
                  <a:srgbClr val="78A9FF"/>
                </a:solidFill>
                <a:latin typeface="Calibri"/>
              </a:defRPr>
            </a:pPr>
            <a:r>
              <a:rPr sz="1400"/>
              <a:t>Headless Services (ClusterIP: None)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5029200" cy="338328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/>
              <a:t>demo-dc1-all-pods-service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Ports: 9042, 8080, 9103, 9000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24528"/>
            <a:ext cx="5029200" cy="338328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/>
              <a:t>demo-dc1-contact-points-service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Client contact 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08576"/>
            <a:ext cx="5029200" cy="338328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/>
              <a:t>demo-dc1-service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Datacenter 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92624"/>
            <a:ext cx="5029200" cy="338328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/>
              <a:t>demo-seed-service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Gossip seed discovery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76672"/>
            <a:ext cx="5029200" cy="338328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rPr sz="1100"/>
              <a:t>demo-dc1-additional-seed-service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Additional seed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4572000" cy="4572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900" b="0">
                <a:solidFill>
                  <a:srgbClr val="C6C6C6"/>
                </a:solidFill>
                <a:latin typeface="Calibri"/>
              </a:defRPr>
            </a:pPr>
            <a:r>
              <a:rPr sz="1200"/>
              <a:t>Used by: easy-cass-mcp, nosqlbench,</a:t>
            </a:r>
            <a:br>
              <a:rPr sz="1200"/>
            </a:br>
            <a:r>
              <a:rPr sz="1200"/>
              <a:t>Cassandra Python driver pod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7316" y="3520440"/>
            <a:ext cx="36576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200" b="1">
                <a:solidFill>
                  <a:srgbClr val="78A9FF"/>
                </a:solidFill>
                <a:latin typeface="Calibri"/>
              </a:defRPr>
            </a:pPr>
            <a:r>
              <a:rPr sz="1400"/>
              <a:t>Additional CRDs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37316" y="3840480"/>
            <a:ext cx="2011680" cy="877824"/>
          </a:xfrm>
          <a:prstGeom prst="rect">
            <a:avLst/>
          </a:prstGeom>
          <a:solidFill>
            <a:srgbClr val="2A2A2A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8A3FFC"/>
                </a:solidFill>
                <a:latin typeface="Calibri"/>
              </a:defRPr>
            </a:pPr>
            <a:r>
              <a:rPr sz="1200"/>
              <a:t>control.k8ssandra.io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CassandraTask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K8ssandraTask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ScheduledTask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86155" y="3840480"/>
            <a:ext cx="2011680" cy="1280160"/>
          </a:xfrm>
          <a:prstGeom prst="rect">
            <a:avLst/>
          </a:prstGeom>
          <a:solidFill>
            <a:srgbClr val="2A2A2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09D9A"/>
                </a:solidFill>
                <a:latin typeface="Calibri"/>
              </a:defRPr>
            </a:pPr>
            <a:r>
              <a:rPr sz="1200"/>
              <a:t>medusa.k8ssandra.io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MedusaBackup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MedusaBackupJob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MedusaBackupSchedule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MedusaRestoreJob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MedusaConfiguration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34995" y="3840480"/>
            <a:ext cx="2011680" cy="475488"/>
          </a:xfrm>
          <a:prstGeom prst="rect">
            <a:avLst/>
          </a:prstGeom>
          <a:solidFill>
            <a:srgbClr val="2A2A2A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1192E8"/>
                </a:solidFill>
                <a:latin typeface="Calibri"/>
              </a:defRPr>
            </a:pPr>
            <a:r>
              <a:rPr sz="1200"/>
              <a:t>reaper.k8ssandra.io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C6C6C6"/>
                </a:solidFill>
                <a:latin typeface="Calibri"/>
              </a:defRPr>
            </a:pPr>
            <a:r>
              <a:rPr sz="1050"/>
              <a:t>Reaper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9144000" cy="5029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400" b="1">
                <a:solidFill>
                  <a:srgbClr val="78A9FF"/>
                </a:solidFill>
                <a:latin typeface="Calibri"/>
              </a:defRPr>
            </a:pPr>
            <a:r>
              <a:t>What is MCP?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28600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78A9FF"/>
                </a:solidFill>
                <a:latin typeface="Calibri"/>
              </a:defRPr>
            </a:pPr>
            <a:r>
              <a:rPr sz="1400"/>
              <a:t>AI Agent / Claude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00"/>
              <a:t>MCP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719072"/>
            <a:ext cx="658368" cy="36576"/>
          </a:xfrm>
          <a:prstGeom prst="rect">
            <a:avLst/>
          </a:prstGeom>
          <a:solidFill>
            <a:srgbClr val="78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Isosceles Triangle 6"/>
          <p:cNvSpPr/>
          <p:nvPr/>
        </p:nvSpPr>
        <p:spPr>
          <a:xfrm rot="5400000">
            <a:off x="3547872" y="1682495"/>
            <a:ext cx="109728" cy="109728"/>
          </a:xfrm>
          <a:prstGeom prst="triangle">
            <a:avLst/>
          </a:prstGeom>
          <a:solidFill>
            <a:srgbClr val="78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3749039" y="1463040"/>
            <a:ext cx="256032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1192E8"/>
                </a:solidFill>
                <a:latin typeface="Calibri"/>
              </a:defRPr>
            </a:pPr>
            <a:r>
              <a:rPr sz="1400"/>
              <a:t>MCP Server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00"/>
              <a:t>Exposes tools via protocol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00"/>
              <a:t>Runs as service or 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19072"/>
            <a:ext cx="658368" cy="36576"/>
          </a:xfrm>
          <a:prstGeom prst="rect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Isosceles Triangle 9"/>
          <p:cNvSpPr/>
          <p:nvPr/>
        </p:nvSpPr>
        <p:spPr>
          <a:xfrm rot="5400000">
            <a:off x="7022592" y="1682495"/>
            <a:ext cx="109728" cy="109728"/>
          </a:xfrm>
          <a:prstGeom prst="triangle">
            <a:avLst/>
          </a:prstGeom>
          <a:solidFill>
            <a:srgbClr val="119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7223760" y="1463040"/>
            <a:ext cx="228600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009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09D9A"/>
                </a:solidFill>
                <a:latin typeface="Calibri"/>
              </a:defRPr>
            </a:pPr>
            <a:r>
              <a:rPr sz="1400"/>
              <a:t>External System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C6C6C6"/>
                </a:solidFill>
                <a:latin typeface="Calibri"/>
              </a:defRPr>
            </a:pPr>
            <a:r>
              <a:rPr sz="1000"/>
              <a:t>Database, API, K8s,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9144000" cy="54864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200" b="0">
                <a:solidFill>
                  <a:srgbClr val="C6C6C6"/>
                </a:solidFill>
                <a:latin typeface="Calibri"/>
              </a:defRPr>
            </a:pPr>
            <a:r>
              <a:rPr sz="1600"/>
              <a:t>A standard for giving AI models structured access to external tools and data.</a:t>
            </a:r>
            <a:br>
              <a:rPr sz="1600"/>
            </a:br>
            <a:r>
              <a:rPr sz="1600"/>
              <a:t>Server exposes tools  →  Agent calls them  →  Results flow back as 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11064240" cy="18288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400" b="1">
                <a:solidFill>
                  <a:srgbClr val="78A9FF"/>
                </a:solidFill>
                <a:latin typeface="Calibri"/>
              </a:defRPr>
            </a:pPr>
            <a:r>
              <a:t>Build Narrow, Not Wide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5303520" cy="2926080"/>
          </a:xfrm>
          <a:prstGeom prst="rect">
            <a:avLst/>
          </a:prstGeom>
          <a:solidFill>
            <a:srgbClr val="262626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572000" cy="32004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200" b="1">
                <a:solidFill>
                  <a:srgbClr val="24A148"/>
                </a:solidFill>
                <a:latin typeface="Calibri"/>
              </a:defRPr>
            </a:pPr>
            <a:r>
              <a:rPr sz="1600"/>
              <a:t>Domain-Specific MCP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4572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000" b="0">
                <a:solidFill>
                  <a:srgbClr val="C6C6C6"/>
                </a:solidFill>
                <a:latin typeface="Calibri"/>
              </a:defRPr>
            </a:pPr>
            <a:r>
              <a:rPr sz="1100"/>
              <a:t>e.g., easy-cass-mcp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493776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Returns exactly what's needed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get_table_latency  →  3 rows, key metrics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Token-efficient: hundreds of tokens per 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493776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Speaks the domain language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CQL queries, not generic kubectl describe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Agent understands C* concepts natively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852160"/>
            <a:ext cx="493776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Context window stays clean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Room for reasoning, follow-ups, multi-step 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5303520" cy="2926080"/>
          </a:xfrm>
          <a:prstGeom prst="rect">
            <a:avLst/>
          </a:prstGeom>
          <a:solidFill>
            <a:srgbClr val="262626"/>
          </a:solidFill>
          <a:ln w="12700"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4572000" cy="32004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200" b="1">
                <a:solidFill>
                  <a:srgbClr val="DA1E28"/>
                </a:solidFill>
                <a:latin typeface="Calibri"/>
              </a:defRPr>
            </a:pPr>
            <a:r>
              <a:rPr sz="1600"/>
              <a:t>Generic MCP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40480"/>
            <a:ext cx="4572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000" b="0">
                <a:solidFill>
                  <a:srgbClr val="C6C6C6"/>
                </a:solidFill>
                <a:latin typeface="Calibri"/>
              </a:defRPr>
            </a:pPr>
            <a:r>
              <a:rPr sz="1100"/>
              <a:t>e.g., "containers" K8s MCP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206240"/>
            <a:ext cx="493776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Dumps entire cluster state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get_pods →  thousands of tokens per call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Labels, annotations, status conditions, specs...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029200"/>
            <a:ext cx="493776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Model drowns in metadata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Can't distinguish signal from noise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Answers become generic, not actionable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852160"/>
            <a:ext cx="493776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sz="1100"/>
              <a:t>Context window exhausted fast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No room for multi-step reasoning or follow-ups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9144000" cy="5029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MCP Servers vs Agent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77240"/>
            <a:ext cx="73152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300" b="0">
                <a:solidFill>
                  <a:srgbClr val="C6C6C6"/>
                </a:solidFill>
                <a:latin typeface="Calibri"/>
              </a:defRPr>
            </a:pPr>
            <a:r>
              <a:rPr sz="1400"/>
              <a:t>Two complementary approaches — best used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03520" cy="5212080"/>
          </a:xfrm>
          <a:prstGeom prst="rect">
            <a:avLst/>
          </a:prstGeom>
          <a:solidFill>
            <a:srgbClr val="262626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000" b="1">
                <a:solidFill>
                  <a:srgbClr val="1192E8"/>
                </a:solidFill>
                <a:latin typeface="Calibri"/>
              </a:defRPr>
            </a:pPr>
            <a:r>
              <a:rPr sz="2800" dirty="0"/>
              <a:t>MCP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5720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100" b="0">
                <a:solidFill>
                  <a:srgbClr val="C6C6C6"/>
                </a:solidFill>
                <a:latin typeface="Calibri"/>
              </a:defRPr>
            </a:pPr>
            <a:r>
              <a:t>Live data access — the data plane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192E8"/>
                </a:solidFill>
                <a:latin typeface="Calibri"/>
              </a:defRPr>
            </a:pPr>
            <a:r>
              <a:rPr sz="1400" dirty="0"/>
              <a:t>What it is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 dirty="0"/>
              <a:t>Running service exposing tools</a:t>
            </a:r>
            <a:br>
              <a:rPr sz="1200" dirty="0"/>
            </a:br>
            <a:r>
              <a:rPr sz="1200" dirty="0"/>
              <a:t>via Model Context 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192E8"/>
                </a:solidFill>
                <a:latin typeface="Calibri"/>
              </a:defRPr>
            </a:pPr>
            <a:r>
              <a:rPr sz="1400"/>
              <a:t>Where it runs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Separate process or container</a:t>
            </a:r>
            <a:br>
              <a:rPr sz="1200"/>
            </a:br>
            <a:r>
              <a:rPr sz="1200"/>
              <a:t>(deployed infrastructure)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192E8"/>
                </a:solidFill>
                <a:latin typeface="Calibri"/>
              </a:defRPr>
            </a:pPr>
            <a:r>
              <a:rPr sz="1400"/>
              <a:t>What it provides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Live data access — query, mutate,</a:t>
            </a:r>
            <a:br>
              <a:rPr sz="1200"/>
            </a:br>
            <a:r>
              <a:rPr sz="1200"/>
              <a:t>observe in real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690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192E8"/>
                </a:solidFill>
                <a:latin typeface="Calibri"/>
              </a:defRPr>
            </a:pPr>
            <a:r>
              <a:rPr sz="1400"/>
              <a:t>Context cost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Each tool call's results fill</a:t>
            </a:r>
            <a:br>
              <a:rPr sz="1200"/>
            </a:br>
            <a:r>
              <a:rPr sz="1200"/>
              <a:t>the context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192E8"/>
                </a:solidFill>
                <a:latin typeface="Calibri"/>
              </a:defRPr>
            </a:pPr>
            <a:r>
              <a:rPr sz="1400"/>
              <a:t>Maintenance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Write code, deploy, monitor</a:t>
            </a:r>
            <a:br>
              <a:rPr sz="1200"/>
            </a:br>
            <a:r>
              <a:rPr sz="1200"/>
              <a:t>a running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4406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192E8"/>
                </a:solidFill>
                <a:latin typeface="Calibri"/>
              </a:defRPr>
            </a:pPr>
            <a:r>
              <a:rPr sz="1400"/>
              <a:t>Best for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Real-time data, actions with</a:t>
            </a:r>
            <a:br>
              <a:rPr sz="1200"/>
            </a:br>
            <a:r>
              <a:rPr sz="1200"/>
              <a:t>side effects, live observation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303520" cy="5212080"/>
          </a:xfrm>
          <a:prstGeom prst="rect">
            <a:avLst/>
          </a:prstGeom>
          <a:solidFill>
            <a:srgbClr val="262626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000" b="1">
                <a:solidFill>
                  <a:srgbClr val="8A3FFC"/>
                </a:solidFill>
                <a:latin typeface="Calibri"/>
              </a:defRPr>
            </a:pPr>
            <a:r>
              <a:rPr sz="2800" dirty="0"/>
              <a:t>Agent 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45720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100" b="0">
                <a:solidFill>
                  <a:srgbClr val="C6C6C6"/>
                </a:solidFill>
                <a:latin typeface="Calibri"/>
              </a:defRPr>
            </a:pPr>
            <a:r>
              <a:t>Domain knowledge — the control plane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116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400"/>
              <a:t>What it is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Markdown file with trigger conditions</a:t>
            </a:r>
            <a:br>
              <a:rPr sz="1200"/>
            </a:br>
            <a:r>
              <a:rPr sz="1200"/>
              <a:t>and instructions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6974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400"/>
              <a:t>Where it runs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Loaded into the agent's context</a:t>
            </a:r>
            <a:br>
              <a:rPr sz="1200"/>
            </a:br>
            <a:r>
              <a:rPr sz="1200"/>
              <a:t>window on-demand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3832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400"/>
              <a:t>What it provides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Domain knowledge, procedures,</a:t>
            </a:r>
            <a:br>
              <a:rPr sz="1200"/>
            </a:br>
            <a:r>
              <a:rPr sz="1200"/>
              <a:t>runbooks, playbooks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40690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400"/>
              <a:t>Context cost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Loaded once when triggered —</a:t>
            </a:r>
            <a:br>
              <a:rPr sz="1200"/>
            </a:br>
            <a:r>
              <a:rPr sz="1200"/>
              <a:t>predictable footprint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7548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400"/>
              <a:t>Maintenance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Edit a markdown file —</a:t>
            </a:r>
            <a:br>
              <a:rPr sz="1200"/>
            </a:br>
            <a:r>
              <a:rPr sz="1200"/>
              <a:t>no deployment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5440680"/>
            <a:ext cx="49377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45720" bIns="36576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8A3FFC"/>
                </a:solidFill>
                <a:latin typeface="Calibri"/>
              </a:defRPr>
            </a:pPr>
            <a:r>
              <a:rPr sz="1400"/>
              <a:t>Best for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F4F4F4"/>
                </a:solidFill>
                <a:latin typeface="Calibri"/>
              </a:defRPr>
            </a:pPr>
            <a:r>
              <a:rPr sz="1200"/>
              <a:t>Runbooks, deployment playbooks,</a:t>
            </a:r>
            <a:br>
              <a:rPr sz="1200"/>
            </a:br>
            <a:r>
              <a:rPr sz="1200"/>
              <a:t>troubleshooting procedures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731520" y="6537960"/>
            <a:ext cx="109728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600"/>
              <a:t>Together:  MCP for observation  +  Skills for action  =  AI that knows what's happening AND what to 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itle"/>
          <p:cNvSpPr txBox="1"/>
          <p:nvPr/>
        </p:nvSpPr>
        <p:spPr>
          <a:xfrm>
            <a:off x="960120" y="365760"/>
            <a:ext cx="10000000" cy="5029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Three Cassandra Skills, Three Lenses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60120" y="960120"/>
            <a:ext cx="100000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400" b="1">
                <a:solidFill>
                  <a:srgbClr val="78A9FF"/>
                </a:solidFill>
                <a:latin typeface="Calibri"/>
              </a:defRPr>
            </a:pPr>
            <a:r>
              <a:t>Each operates on the same MCP-collected data — with a different stance</a:t>
            </a:r>
          </a:p>
        </p:txBody>
      </p:sp>
      <p:sp>
        <p:nvSpPr>
          <p:cNvPr id="10" name="Diagnose Label"/>
          <p:cNvSpPr txBox="1"/>
          <p:nvPr/>
        </p:nvSpPr>
        <p:spPr>
          <a:xfrm>
            <a:off x="548640" y="1500000"/>
            <a:ext cx="3400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100" b="1">
                <a:solidFill>
                  <a:srgbClr val="C6C6C6"/>
                </a:solidFill>
                <a:latin typeface="Calibri"/>
              </a:defRPr>
            </a:pPr>
            <a:r>
              <a:rPr sz="1300"/>
              <a:t>Systematic problem-finding</a:t>
            </a:r>
          </a:p>
        </p:txBody>
      </p:sp>
      <p:sp>
        <p:nvSpPr>
          <p:cNvPr id="11" name="Diagnose Box"/>
          <p:cNvSpPr/>
          <p:nvPr/>
        </p:nvSpPr>
        <p:spPr>
          <a:xfrm>
            <a:off x="548640" y="1800000"/>
            <a:ext cx="3400000" cy="3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119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46304" bIns="91440" rtlCol="0" anchor="t"/>
          <a:lstStyle/>
          <a:p>
            <a:pPr algn="ctr">
              <a:spcAft>
                <a:spcPts val="600"/>
              </a:spcAft>
              <a:defRPr sz="1000" b="1">
                <a:solidFill>
                  <a:srgbClr val="1192E8"/>
                </a:solidFill>
                <a:latin typeface="Consolas"/>
              </a:defRPr>
            </a:pPr>
            <a:r>
              <a:rPr sz="2400"/>
              <a:t>/diagnose</a:t>
            </a:r>
          </a:p>
          <a:p>
            <a:pPr algn="ctr">
              <a:spcBef>
                <a:spcPts val="100"/>
              </a:spcBef>
              <a:spcAft>
                <a:spcPts val="500"/>
              </a:spcAft>
              <a:defRPr sz="900" i="1">
                <a:solidFill>
                  <a:srgbClr val="8D8D8D"/>
                </a:solidFill>
                <a:latin typeface="Calibri"/>
              </a:defRPr>
            </a:pPr>
            <a:r>
              <a:rPr sz="1100" i="1"/>
              <a:t>USE method across all nodes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Utilization, saturation, errors — CPU, memory, disk, network, thread pools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Compares every node for outliers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Connects observations a dashboard would never join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900" b="1">
                <a:solidFill>
                  <a:srgbClr val="1192E8"/>
                </a:solidFill>
                <a:latin typeface="Calibri"/>
              </a:defRPr>
            </a:pPr>
            <a:r>
              <a:rPr sz="1000" b="1"/>
              <a:t>Live finding: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00" i="1">
                <a:solidFill>
                  <a:srgbClr val="C6C6C6"/>
                </a:solidFill>
                <a:latin typeface="Calibri"/>
              </a:defRPr>
            </a:pPr>
            <a:r>
              <a:rPr sz="1000" i="1"/>
              <a:t>“CFS throttling: pods at 6.0/6.0 CPU, hosts at 30-70%, zero pending tasks. Flat dashboards miss this.”</a:t>
            </a:r>
          </a:p>
        </p:txBody>
      </p:sp>
      <p:sp>
        <p:nvSpPr>
          <p:cNvPr id="20" name="Optimize Label"/>
          <p:cNvSpPr txBox="1"/>
          <p:nvPr/>
        </p:nvSpPr>
        <p:spPr>
          <a:xfrm>
            <a:off x="4396000" y="1500000"/>
            <a:ext cx="3400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100" b="1">
                <a:solidFill>
                  <a:srgbClr val="C6C6C6"/>
                </a:solidFill>
                <a:latin typeface="Calibri"/>
              </a:defRPr>
            </a:pPr>
            <a:r>
              <a:rPr sz="1300"/>
              <a:t>Tier-ranked tuning</a:t>
            </a:r>
          </a:p>
        </p:txBody>
      </p:sp>
      <p:sp>
        <p:nvSpPr>
          <p:cNvPr id="21" name="Optimize Box"/>
          <p:cNvSpPr/>
          <p:nvPr/>
        </p:nvSpPr>
        <p:spPr>
          <a:xfrm>
            <a:off x="4396000" y="1800000"/>
            <a:ext cx="3400000" cy="3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46304" bIns="91440" rtlCol="0" anchor="t"/>
          <a:lstStyle/>
          <a:p>
            <a:pPr algn="ctr">
              <a:spcAft>
                <a:spcPts val="600"/>
              </a:spcAft>
              <a:defRPr sz="1000" b="1">
                <a:solidFill>
                  <a:srgbClr val="F1C21B"/>
                </a:solidFill>
                <a:latin typeface="Consolas"/>
              </a:defRPr>
            </a:pPr>
            <a:r>
              <a:rPr sz="2400"/>
              <a:t>/optimize</a:t>
            </a:r>
          </a:p>
          <a:p>
            <a:pPr algn="ctr">
              <a:spcBef>
                <a:spcPts val="100"/>
              </a:spcBef>
              <a:spcAft>
                <a:spcPts val="500"/>
              </a:spcAft>
              <a:defRPr sz="900" i="1">
                <a:solidFill>
                  <a:srgbClr val="8D8D8D"/>
                </a:solidFill>
                <a:latin typeface="Calibri"/>
              </a:defRPr>
            </a:pPr>
            <a:r>
              <a:rPr sz="1100" i="1"/>
              <a:t>Concrete deltas, ranked by impact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cassandra.yaml + ALTER TABLE deltas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Each comes with reason and expected impact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Tier 1 / Tier 2 / Tier 3 priority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900" b="1">
                <a:solidFill>
                  <a:srgbClr val="F1C21B"/>
                </a:solidFill>
                <a:latin typeface="Calibri"/>
              </a:defRPr>
            </a:pPr>
            <a:r>
              <a:rPr sz="1000" b="1"/>
              <a:t>Live recommendation: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00" i="1">
                <a:solidFill>
                  <a:srgbClr val="C6C6C6"/>
                </a:solidFill>
                <a:latin typeface="Calibri"/>
              </a:defRPr>
            </a:pPr>
            <a:r>
              <a:rPr sz="1000" i="1"/>
              <a:t>“key_cache_size_in_mb: 0 in operator default. Table requests caching: ALL — silently ignored. Fix to 100. Expected: 92k → 110-120k ops/sec.”</a:t>
            </a:r>
          </a:p>
        </p:txBody>
      </p:sp>
      <p:sp>
        <p:nvSpPr>
          <p:cNvPr id="30" name="Expert Label"/>
          <p:cNvSpPr txBox="1"/>
          <p:nvPr/>
        </p:nvSpPr>
        <p:spPr>
          <a:xfrm>
            <a:off x="8243360" y="1500000"/>
            <a:ext cx="3400000" cy="22860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100" b="1">
                <a:solidFill>
                  <a:srgbClr val="C6C6C6"/>
                </a:solidFill>
                <a:latin typeface="Calibri"/>
              </a:defRPr>
            </a:pPr>
            <a:r>
              <a:rPr sz="1300"/>
              <a:t>Opinionated big-picture</a:t>
            </a:r>
          </a:p>
        </p:txBody>
      </p:sp>
      <p:sp>
        <p:nvSpPr>
          <p:cNvPr id="31" name="Expert Box"/>
          <p:cNvSpPr/>
          <p:nvPr/>
        </p:nvSpPr>
        <p:spPr>
          <a:xfrm>
            <a:off x="8243360" y="1800000"/>
            <a:ext cx="3400000" cy="3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46304" bIns="91440" rtlCol="0" anchor="t"/>
          <a:lstStyle/>
          <a:p>
            <a:pPr algn="ctr">
              <a:spcAft>
                <a:spcPts val="600"/>
              </a:spcAft>
              <a:defRPr sz="1000" b="1">
                <a:solidFill>
                  <a:srgbClr val="8A3FFC"/>
                </a:solidFill>
                <a:latin typeface="Consolas"/>
              </a:defRPr>
            </a:pPr>
            <a:r>
              <a:rPr sz="2400"/>
              <a:t>/expert</a:t>
            </a:r>
          </a:p>
          <a:p>
            <a:pPr algn="ctr">
              <a:spcBef>
                <a:spcPts val="100"/>
              </a:spcBef>
              <a:spcAft>
                <a:spcPts val="500"/>
              </a:spcAft>
              <a:defRPr sz="900" i="1">
                <a:solidFill>
                  <a:srgbClr val="8D8D8D"/>
                </a:solidFill>
                <a:latin typeface="Calibri"/>
              </a:defRPr>
            </a:pPr>
            <a:r>
              <a:rPr sz="1100" i="1"/>
              <a:t>Trade-offs and production-readiness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Anti-patterns, defensible-vs-dangerous defaults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Real C* community stances baked in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“Here’s what I’d actually do, and why”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900" b="1">
                <a:solidFill>
                  <a:srgbClr val="8A3FFC"/>
                </a:solidFill>
                <a:latin typeface="Calibri"/>
              </a:defRPr>
            </a:pPr>
            <a:r>
              <a:rPr sz="1000" b="1"/>
              <a:t>Live quote: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00" i="1">
                <a:solidFill>
                  <a:srgbClr val="C6C6C6"/>
                </a:solidFill>
                <a:latin typeface="Calibri"/>
              </a:defRPr>
            </a:pPr>
            <a:r>
              <a:rPr sz="1000" i="1"/>
              <a:t>“softPodAntiAffinity is defensible only for dev/CI/workshop — not for any RF=3 cluster where availability matters.”</a:t>
            </a:r>
          </a:p>
        </p:txBody>
      </p:sp>
      <p:sp>
        <p:nvSpPr>
          <p:cNvPr id="60" name="Footer"/>
          <p:cNvSpPr txBox="1"/>
          <p:nvPr/>
        </p:nvSpPr>
        <p:spPr>
          <a:xfrm>
            <a:off x="548640" y="5700000"/>
            <a:ext cx="11094720" cy="32004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200" b="1">
                <a:solidFill>
                  <a:srgbClr val="78A9FF"/>
                </a:solidFill>
                <a:latin typeface="Calibri"/>
              </a:defRPr>
            </a:pPr>
            <a:r>
              <a:t>Same MCP data feed, three opinions  —  github.com/rustyrazorblade/skills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itle"/>
          <p:cNvSpPr txBox="1"/>
          <p:nvPr/>
        </p:nvSpPr>
        <p:spPr>
          <a:xfrm>
            <a:off x="960120" y="365760"/>
            <a:ext cx="10000000" cy="5029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Live Scale Under Load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60120" y="960120"/>
            <a:ext cx="1000000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l">
              <a:defRPr sz="1400" b="1">
                <a:solidFill>
                  <a:srgbClr val="78A9FF"/>
                </a:solidFill>
                <a:latin typeface="Calibri"/>
              </a:defRPr>
            </a:pPr>
            <a:r>
              <a:t>3 → 6 → 9 nodes added live, while NoSQLBench hammered at 100k ops/sec</a:t>
            </a:r>
          </a:p>
        </p:txBody>
      </p:sp>
      <p:sp>
        <p:nvSpPr>
          <p:cNvPr id="5" name="Kubectl Command Box"/>
          <p:cNvSpPr/>
          <p:nvPr/>
        </p:nvSpPr>
        <p:spPr>
          <a:xfrm>
            <a:off x="548640" y="1450000"/>
            <a:ext cx="11094720" cy="600000"/>
          </a:xfrm>
          <a:prstGeom prst="rect">
            <a:avLst/>
          </a:prstGeom>
          <a:solidFill>
            <a:srgbClr val="0A0A0A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91440" bIns="91440" rtlCol="0" anchor="ctr"/>
          <a:lstStyle/>
          <a:p>
            <a:pPr algn="l">
              <a:defRPr sz="1100" b="0">
                <a:solidFill>
                  <a:srgbClr val="42BE65"/>
                </a:solidFill>
                <a:latin typeface="Consolas"/>
              </a:defRPr>
            </a:pPr>
            <a:r>
              <a:rPr sz="1400"/>
              <a:t>$  kubectl patch k8ssandracluster demo --type=json \\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42BE65"/>
                </a:solidFill>
                <a:latin typeface="Consolas"/>
              </a:defRPr>
            </a:pPr>
            <a:r>
              <a:rPr sz="1400"/>
              <a:t>     -p='[{"op":"replace","path":"/spec/cassandra/datacenters/0/size","value":9}]'</a:t>
            </a:r>
          </a:p>
        </p:txBody>
      </p:sp>
      <p:sp>
        <p:nvSpPr>
          <p:cNvPr id="10" name="Stat1 Box"/>
          <p:cNvSpPr/>
          <p:nvPr/>
        </p:nvSpPr>
        <p:spPr>
          <a:xfrm>
            <a:off x="548640" y="2250000"/>
            <a:ext cx="2500000" cy="1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/>
          <a:lstStyle/>
          <a:p>
            <a:pPr algn="ctr">
              <a:spcAft>
                <a:spcPts val="200"/>
              </a:spcAft>
              <a:defRPr sz="3600" b="1">
                <a:solidFill>
                  <a:srgbClr val="42BE65"/>
                </a:solidFill>
                <a:latin typeface="Calibri"/>
              </a:defRPr>
            </a:pPr>
            <a:r>
              <a:rPr sz="4400"/>
              <a:t>~92k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/>
              <a:t>ops/sec sustained</a:t>
            </a:r>
          </a:p>
          <a:p>
            <a:pPr algn="ctr">
              <a:spcBef>
                <a:spcPts val="10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over the 1-hour run</a:t>
            </a:r>
          </a:p>
          <a:p>
            <a:pPr algn="ctr">
              <a:spcBef>
                <a:spcPts val="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of the 100k target</a:t>
            </a:r>
          </a:p>
        </p:txBody>
      </p:sp>
      <p:sp>
        <p:nvSpPr>
          <p:cNvPr id="11" name="Stat2 Box"/>
          <p:cNvSpPr/>
          <p:nvPr/>
        </p:nvSpPr>
        <p:spPr>
          <a:xfrm>
            <a:off x="3413640" y="2250000"/>
            <a:ext cx="2500000" cy="1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/>
          <a:lstStyle/>
          <a:p>
            <a:pPr algn="ctr">
              <a:spcAft>
                <a:spcPts val="200"/>
              </a:spcAft>
              <a:defRPr sz="3600" b="1">
                <a:solidFill>
                  <a:srgbClr val="42BE65"/>
                </a:solidFill>
                <a:latin typeface="Calibri"/>
              </a:defRPr>
            </a:pPr>
            <a:r>
              <a:rPr sz="4400"/>
              <a:t>ZERO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/>
              <a:t>errors throughout</a:t>
            </a:r>
          </a:p>
          <a:p>
            <a:pPr algn="ctr">
              <a:spcBef>
                <a:spcPts val="10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0 NB errors  ·  0 exceptions</a:t>
            </a:r>
          </a:p>
          <a:p>
            <a:pPr algn="ctr">
              <a:spcBef>
                <a:spcPts val="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0 blocked thread-pool tasks</a:t>
            </a:r>
          </a:p>
        </p:txBody>
      </p:sp>
      <p:sp>
        <p:nvSpPr>
          <p:cNvPr id="12" name="Stat3 Box"/>
          <p:cNvSpPr/>
          <p:nvPr/>
        </p:nvSpPr>
        <p:spPr>
          <a:xfrm>
            <a:off x="6278640" y="2250000"/>
            <a:ext cx="2500000" cy="1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/>
          <a:lstStyle/>
          <a:p>
            <a:pPr algn="ctr">
              <a:spcAft>
                <a:spcPts val="200"/>
              </a:spcAft>
              <a:defRPr sz="3600" b="1">
                <a:solidFill>
                  <a:srgbClr val="42BE65"/>
                </a:solidFill>
                <a:latin typeface="Calibri"/>
              </a:defRPr>
            </a:pPr>
            <a:r>
              <a:rPr sz="4400"/>
              <a:t>3 → 9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/>
              <a:t>nodes added under load</a:t>
            </a:r>
          </a:p>
          <a:p>
            <a:pPr algn="ctr">
              <a:spcBef>
                <a:spcPts val="10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in two ~5.5-min steps</a:t>
            </a:r>
          </a:p>
          <a:p>
            <a:pPr algn="ctr">
              <a:spcBef>
                <a:spcPts val="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RF=3 maintained throughout</a:t>
            </a:r>
          </a:p>
        </p:txBody>
      </p:sp>
      <p:sp>
        <p:nvSpPr>
          <p:cNvPr id="13" name="Stat4 Box"/>
          <p:cNvSpPr/>
          <p:nvPr/>
        </p:nvSpPr>
        <p:spPr>
          <a:xfrm>
            <a:off x="9143640" y="2250000"/>
            <a:ext cx="2500000" cy="17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42B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/>
          <a:lstStyle/>
          <a:p>
            <a:pPr algn="ctr">
              <a:spcAft>
                <a:spcPts val="200"/>
              </a:spcAft>
              <a:defRPr sz="3600" b="1">
                <a:solidFill>
                  <a:srgbClr val="42BE65"/>
                </a:solidFill>
                <a:latin typeface="Calibri"/>
              </a:defRPr>
            </a:pPr>
            <a:r>
              <a:rPr sz="4400"/>
              <a:t>~7 sec</a:t>
            </a:r>
          </a:p>
          <a:p>
            <a:pPr algn="ctr">
              <a:spcBef>
                <a:spcPts val="10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/>
              <a:t>per bootstrap stream</a:t>
            </a:r>
          </a:p>
          <a:p>
            <a:pPr algn="ctr">
              <a:spcBef>
                <a:spcPts val="10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42-138 MB via Zero-Copy</a:t>
            </a:r>
          </a:p>
          <a:p>
            <a:pPr algn="ctr">
              <a:spcBef>
                <a:spcPts val="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050"/>
              <a:t>(used to take hours)</a:t>
            </a:r>
          </a:p>
        </p:txBody>
      </p:sp>
      <p:sp>
        <p:nvSpPr>
          <p:cNvPr id="20" name="Throughput Header"/>
          <p:cNvSpPr txBox="1"/>
          <p:nvPr/>
        </p:nvSpPr>
        <p:spPr>
          <a:xfrm>
            <a:off x="548640" y="4150000"/>
            <a:ext cx="11094720" cy="2743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200" b="1">
                <a:solidFill>
                  <a:srgbClr val="C6C6C6"/>
                </a:solidFill>
                <a:latin typeface="Calibri"/>
              </a:defRPr>
            </a:pPr>
            <a:r>
              <a:t>Throughput grew linearly in node count</a:t>
            </a:r>
          </a:p>
        </p:txBody>
      </p:sp>
      <p:sp>
        <p:nvSpPr>
          <p:cNvPr id="21" name="Tput1 Box"/>
          <p:cNvSpPr/>
          <p:nvPr/>
        </p:nvSpPr>
        <p:spPr>
          <a:xfrm>
            <a:off x="1500000" y="4500000"/>
            <a:ext cx="2400000" cy="800000"/>
          </a:xfrm>
          <a:prstGeom prst="rect">
            <a:avLst/>
          </a:prstGeom>
          <a:solidFill>
            <a:srgbClr val="262626"/>
          </a:solidFill>
          <a:ln w="6350">
            <a:solidFill>
              <a:srgbClr val="6F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73152" rIns="91440" bIns="73152" rtlCol="0" anchor="ctr"/>
          <a:lstStyle/>
          <a:p>
            <a:pPr algn="ctr">
              <a:defRPr sz="2000" b="1">
                <a:solidFill>
                  <a:srgbClr val="78A9FF"/>
                </a:solidFill>
                <a:latin typeface="Calibri"/>
              </a:defRPr>
            </a:pPr>
            <a:r>
              <a:rPr sz="2400"/>
              <a:t>~32k</a:t>
            </a:r>
          </a:p>
          <a:p>
            <a:pPr algn="ctr">
              <a:spcBef>
                <a:spcPts val="10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3 nodes</a:t>
            </a:r>
          </a:p>
        </p:txBody>
      </p:sp>
      <p:sp>
        <p:nvSpPr>
          <p:cNvPr id="22" name="Tput2 Box"/>
          <p:cNvSpPr/>
          <p:nvPr/>
        </p:nvSpPr>
        <p:spPr>
          <a:xfrm>
            <a:off x="4896000" y="4500000"/>
            <a:ext cx="2400000" cy="800000"/>
          </a:xfrm>
          <a:prstGeom prst="rect">
            <a:avLst/>
          </a:prstGeom>
          <a:solidFill>
            <a:srgbClr val="262626"/>
          </a:solidFill>
          <a:ln w="6350">
            <a:solidFill>
              <a:srgbClr val="6F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73152" rIns="91440" bIns="73152" rtlCol="0" anchor="ctr"/>
          <a:lstStyle/>
          <a:p>
            <a:pPr algn="ctr">
              <a:defRPr sz="2000" b="1">
                <a:solidFill>
                  <a:srgbClr val="78A9FF"/>
                </a:solidFill>
                <a:latin typeface="Calibri"/>
              </a:defRPr>
            </a:pPr>
            <a:r>
              <a:rPr sz="2400"/>
              <a:t>~85k</a:t>
            </a:r>
          </a:p>
          <a:p>
            <a:pPr algn="ctr">
              <a:spcBef>
                <a:spcPts val="10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6 nodes</a:t>
            </a:r>
          </a:p>
        </p:txBody>
      </p:sp>
      <p:sp>
        <p:nvSpPr>
          <p:cNvPr id="23" name="Tput3 Box"/>
          <p:cNvSpPr/>
          <p:nvPr/>
        </p:nvSpPr>
        <p:spPr>
          <a:xfrm>
            <a:off x="8292000" y="4500000"/>
            <a:ext cx="2400000" cy="800000"/>
          </a:xfrm>
          <a:prstGeom prst="rect">
            <a:avLst/>
          </a:prstGeom>
          <a:solidFill>
            <a:srgbClr val="262626"/>
          </a:solidFill>
          <a:ln w="6350">
            <a:solidFill>
              <a:srgbClr val="6F6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73152" rIns="91440" bIns="73152" rtlCol="0" anchor="ctr"/>
          <a:lstStyle/>
          <a:p>
            <a:pPr algn="ctr">
              <a:defRPr sz="2000" b="1">
                <a:solidFill>
                  <a:srgbClr val="78A9FF"/>
                </a:solidFill>
                <a:latin typeface="Calibri"/>
              </a:defRPr>
            </a:pPr>
            <a:r>
              <a:rPr sz="2400"/>
              <a:t>~105k</a:t>
            </a:r>
          </a:p>
          <a:p>
            <a:pPr algn="ctr">
              <a:spcBef>
                <a:spcPts val="100"/>
              </a:spcBef>
              <a:defRPr sz="900">
                <a:solidFill>
                  <a:srgbClr val="C6C6C6"/>
                </a:solidFill>
                <a:latin typeface="Calibri"/>
              </a:defRPr>
            </a:pPr>
            <a:r>
              <a:rPr sz="1100"/>
              <a:t>9 nodes</a:t>
            </a:r>
          </a:p>
        </p:txBody>
      </p:sp>
      <p:sp>
        <p:nvSpPr>
          <p:cNvPr id="30" name="Arrow A"/>
          <p:cNvSpPr/>
          <p:nvPr/>
        </p:nvSpPr>
        <p:spPr>
          <a:xfrm rot="5400000">
            <a:off x="4045136" y="4845136"/>
            <a:ext cx="109728" cy="109728"/>
          </a:xfrm>
          <a:prstGeom prst="triangle">
            <a:avLst/>
          </a:prstGeom>
          <a:solidFill>
            <a:srgbClr val="6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Arrow B"/>
          <p:cNvSpPr/>
          <p:nvPr/>
        </p:nvSpPr>
        <p:spPr>
          <a:xfrm rot="5400000">
            <a:off x="7441136" y="4845136"/>
            <a:ext cx="109728" cy="109728"/>
          </a:xfrm>
          <a:prstGeom prst="triangle">
            <a:avLst/>
          </a:prstGeom>
          <a:solidFill>
            <a:srgbClr val="6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Footer"/>
          <p:cNvSpPr txBox="1"/>
          <p:nvPr/>
        </p:nvSpPr>
        <p:spPr>
          <a:xfrm>
            <a:off x="548640" y="5600000"/>
            <a:ext cx="11094720" cy="320040"/>
          </a:xfrm>
          <a:prstGeom prst="rect">
            <a:avLst/>
          </a:prstGeom>
          <a:noFill/>
        </p:spPr>
        <p:txBody>
          <a:bodyPr wrap="square" lIns="0" tIns="0"/>
          <a:lstStyle/>
          <a:p>
            <a:pPr algn="ctr">
              <a:defRPr sz="1400" b="1" i="1">
                <a:solidFill>
                  <a:srgbClr val="78A9FF"/>
                </a:solidFill>
                <a:latin typeface="Calibri"/>
              </a:defRPr>
            </a:pPr>
            <a:r>
              <a:rPr i="1"/>
              <a:t>In 2018 this was a multi-day project. In 2026, it’s a kubectl one-liner.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9CFC8-A3A8-916D-A336-952955F2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>
            <a:extLst>
              <a:ext uri="{FF2B5EF4-FFF2-40B4-BE49-F238E27FC236}">
                <a16:creationId xmlns:a16="http://schemas.microsoft.com/office/drawing/2014/main" id="{71B3FEB2-270B-AECA-2F61-4B8159B6A1D0}"/>
              </a:ext>
            </a:extLst>
          </p:cNvPr>
          <p:cNvSpPr/>
          <p:nvPr/>
        </p:nvSpPr>
        <p:spPr>
          <a:xfrm>
            <a:off x="731520" y="365760"/>
            <a:ext cx="54864" cy="41148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6B1F904-D0A5-1949-02B9-57928CCC86EC}"/>
              </a:ext>
            </a:extLst>
          </p:cNvPr>
          <p:cNvSpPr txBox="1"/>
          <p:nvPr/>
        </p:nvSpPr>
        <p:spPr>
          <a:xfrm>
            <a:off x="960120" y="365760"/>
            <a:ext cx="10000000" cy="502920"/>
          </a:xfrm>
          <a:prstGeom prst="rect">
            <a:avLst/>
          </a:prstGeom>
          <a:noFill/>
        </p:spPr>
        <p:txBody>
          <a:bodyPr wrap="square" lIns="0" t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Workshop Repo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Footer">
            <a:extLst>
              <a:ext uri="{FF2B5EF4-FFF2-40B4-BE49-F238E27FC236}">
                <a16:creationId xmlns:a16="http://schemas.microsoft.com/office/drawing/2014/main" id="{63B42C49-4F67-B960-894D-B774613D0BC8}"/>
              </a:ext>
            </a:extLst>
          </p:cNvPr>
          <p:cNvSpPr txBox="1"/>
          <p:nvPr/>
        </p:nvSpPr>
        <p:spPr>
          <a:xfrm>
            <a:off x="3952262" y="5685060"/>
            <a:ext cx="4287473" cy="411480"/>
          </a:xfrm>
          <a:prstGeom prst="rect">
            <a:avLst/>
          </a:prstGeom>
          <a:noFill/>
        </p:spPr>
        <p:txBody>
          <a:bodyPr wrap="square" lIns="0" tIns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1">
                <a:solidFill>
                  <a:srgbClr val="78A9FF"/>
                </a:solidFill>
                <a:latin typeface="Calibri"/>
              </a:defRPr>
            </a:pPr>
            <a:r>
              <a:rPr lang="en-US" sz="2400" b="1" dirty="0" err="1">
                <a:solidFill>
                  <a:srgbClr val="78A9FF"/>
                </a:solidFill>
                <a:latin typeface="Calibri"/>
              </a:rPr>
              <a:t>i</a:t>
            </a:r>
            <a:r>
              <a:rPr kumimoji="0" lang="en-US" sz="2400" b="1" u="none" strike="noStrike" kern="1200" cap="none" spc="0" normalizeH="0" baseline="0" noProof="0" dirty="0" err="1">
                <a:ln>
                  <a:noFill/>
                </a:ln>
                <a:solidFill>
                  <a:srgbClr val="78A9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bm.biz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srgbClr val="78A9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/k8ssandra-claude-repo</a:t>
            </a:r>
            <a:endParaRPr kumimoji="0" sz="2400" b="1" u="none" strike="noStrike" kern="1200" cap="none" spc="0" normalizeH="0" baseline="0" noProof="0" dirty="0">
              <a:ln>
                <a:noFill/>
              </a:ln>
              <a:solidFill>
                <a:srgbClr val="78A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01F33-6E8B-BE1A-C94F-F59A2FBDE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951" y="1515951"/>
            <a:ext cx="3826097" cy="382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626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1632</Words>
  <Application>Microsoft Macintosh PowerPoint</Application>
  <PresentationFormat>Widescreen</PresentationFormat>
  <Paragraphs>354</Paragraphs>
  <Slides>11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 Colvin</cp:lastModifiedBy>
  <cp:revision>7</cp:revision>
  <dcterms:created xsi:type="dcterms:W3CDTF">2013-01-27T09:14:16Z</dcterms:created>
  <dcterms:modified xsi:type="dcterms:W3CDTF">2026-05-20T21:41:27Z</dcterms:modified>
  <cp:category/>
</cp:coreProperties>
</file>