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63" r:id="rId3"/>
    <p:sldId id="257" r:id="rId4"/>
    <p:sldId id="258" r:id="rId5"/>
    <p:sldId id="259" r:id="rId6"/>
    <p:sldId id="260" r:id="rId7"/>
    <p:sldId id="261" r:id="rId8"/>
    <p:sldId id="262" r:id="rId9"/>
    <p:sldId id="264" r:id="rId14"/>
    <p:sldId id="265" r:id="rId1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58"/>
  </p:normalViewPr>
  <p:slideViewPr>
    <p:cSldViewPr snapToGrid="0" snapToObjects="1">
      <p:cViewPr>
        <p:scale>
          <a:sx n="90" d="100"/>
          <a:sy n="90" d="100"/>
        </p:scale>
        <p:origin x="1976" y="84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/Relationships>
</file>

<file path=ppt/slideLayouts/_rels/slideLayout1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5/19/26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5/19/26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5/19/26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16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F6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058400" cy="109728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4800" b="1">
                <a:solidFill>
                  <a:srgbClr val="FFFFFF"/>
                </a:solidFill>
                <a:latin typeface="Calibri"/>
              </a:defRPr>
            </a:pPr>
            <a:r>
              <a:t>K8ssandra on EKS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651760"/>
            <a:ext cx="10058400" cy="73152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3200" b="0">
                <a:solidFill>
                  <a:srgbClr val="78A9FF"/>
                </a:solidFill>
                <a:latin typeface="Calibri"/>
              </a:defRPr>
            </a:pPr>
            <a:r>
              <a:t>Reference Architecture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3383280"/>
            <a:ext cx="2743200" cy="27432"/>
          </a:xfrm>
          <a:prstGeom prst="rect">
            <a:avLst/>
          </a:prstGeom>
          <a:solidFill>
            <a:srgbClr val="0F6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31520" y="3657600"/>
            <a:ext cx="8229600" cy="73152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1600" b="0">
                <a:solidFill>
                  <a:srgbClr val="C6C6C6"/>
                </a:solidFill>
                <a:latin typeface="Calibri"/>
              </a:defRPr>
            </a:pPr>
            <a:r>
              <a:t>Apache Cassandra on Amazon EKS with k8ssandra-operator</a:t>
            </a:r>
            <a:br/>
            <a:r>
              <a:t>and MCP-based AI tooling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035040"/>
            <a:ext cx="4572000" cy="36576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1100" b="0">
                <a:solidFill>
                  <a:srgbClr val="C6C6C6"/>
                </a:solidFill>
                <a:latin typeface="Calibri"/>
              </a:defRPr>
            </a:pPr>
            <a:r>
              <a:t>IBM  |  Confidential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16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Bar"/>
          <p:cNvSpPr/>
          <p:nvPr/>
        </p:nvSpPr>
        <p:spPr>
          <a:xfrm>
            <a:off x="731520" y="365760"/>
            <a:ext cx="54864" cy="411480"/>
          </a:xfrm>
          <a:prstGeom prst="rect">
            <a:avLst/>
          </a:prstGeom>
          <a:solidFill>
            <a:srgbClr val="0F6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3" name="Title"/>
          <p:cNvSpPr txBox="1"/>
          <p:nvPr/>
        </p:nvSpPr>
        <p:spPr>
          <a:xfrm>
            <a:off x="960120" y="365760"/>
            <a:ext cx="10000000" cy="50292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The Evolution of Cassandra Operations</a:t>
            </a:r>
          </a:p>
        </p:txBody>
      </p:sp>
      <p:sp>
        <p:nvSpPr>
          <p:cNvPr id="4" name="Subtitle"/>
          <p:cNvSpPr txBox="1"/>
          <p:nvPr/>
        </p:nvSpPr>
        <p:spPr>
          <a:xfrm>
            <a:off x="960120" y="960120"/>
            <a:ext cx="10000000" cy="27432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1400" b="1">
                <a:solidFill>
                  <a:srgbClr val="78A9FF"/>
                </a:solidFill>
                <a:latin typeface="Calibri"/>
              </a:defRPr>
            </a:pPr>
            <a:r>
              <a:t>From bespoke YAML to declarative platforms</a:t>
            </a:r>
          </a:p>
        </p:txBody>
      </p:sp>
      <p:sp>
        <p:nvSpPr>
          <p:cNvPr id="10" name="Era1 Label"/>
          <p:cNvSpPr txBox="1"/>
          <p:nvPr/>
        </p:nvSpPr>
        <p:spPr>
          <a:xfrm>
            <a:off x="548640" y="1500000"/>
            <a:ext cx="2500000" cy="22860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ctr">
              <a:defRPr sz="1000" b="1">
                <a:solidFill>
                  <a:srgbClr val="C6C6C6"/>
                </a:solidFill>
                <a:latin typeface="Calibri"/>
              </a:defRPr>
            </a:pPr>
            <a:r>
              <a:rPr sz="1200"/>
              <a:t>Pre-Kubernetes Era</a:t>
            </a:r>
          </a:p>
        </p:txBody>
      </p:sp>
      <p:sp>
        <p:nvSpPr>
          <p:cNvPr id="11" name="Era1 Box"/>
          <p:cNvSpPr/>
          <p:nvPr/>
        </p:nvSpPr>
        <p:spPr>
          <a:xfrm>
            <a:off x="548640" y="1800000"/>
            <a:ext cx="2500000" cy="2700000"/>
          </a:xfrm>
          <a:prstGeom prst="rect">
            <a:avLst/>
          </a:prstGeom>
          <a:solidFill>
            <a:srgbClr val="2A2A2A"/>
          </a:solidFill>
          <a:ln w="12700">
            <a:solidFill>
              <a:srgbClr val="8D8D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109728" rIns="91440" bIns="73152" rtlCol="0" anchor="t"/>
          <a:lstStyle/>
          <a:p>
            <a:pPr algn="ctr">
              <a:spcAft>
                <a:spcPts val="800"/>
              </a:spcAft>
              <a:defRPr sz="1000" b="1">
                <a:solidFill>
                  <a:srgbClr val="C6C6C6"/>
                </a:solidFill>
                <a:latin typeface="Calibri"/>
              </a:defRPr>
            </a:pPr>
            <a:r>
              <a:rPr sz="1600"/>
              <a:t>Hand-Edited YAMLs</a:t>
            </a:r>
          </a:p>
          <a:p>
            <a:pPr algn="l">
              <a:spcBef>
                <a:spcPts val="200"/>
              </a:spcBef>
              <a:spcAft>
                <a:spcPts val="300"/>
              </a:spcAft>
              <a:defRPr sz="900">
                <a:solidFill>
                  <a:srgbClr val="C6C6C6"/>
                </a:solidFill>
                <a:latin typeface="Calibri"/>
              </a:defRPr>
            </a:pPr>
            <a:r>
              <a:rPr sz="1100"/>
              <a:t>cassandra.yaml on every node</a:t>
            </a:r>
          </a:p>
          <a:p>
            <a:pPr algn="l">
              <a:spcBef>
                <a:spcPts val="200"/>
              </a:spcBef>
              <a:spcAft>
                <a:spcPts val="300"/>
              </a:spcAft>
              <a:defRPr sz="900">
                <a:solidFill>
                  <a:srgbClr val="C6C6C6"/>
                </a:solidFill>
                <a:latin typeface="Calibri"/>
              </a:defRPr>
            </a:pPr>
            <a:r>
              <a:rPr sz="1100"/>
              <a:t>SSH-and-edit rolling restarts</a:t>
            </a:r>
          </a:p>
          <a:p>
            <a:pPr algn="l">
              <a:spcBef>
                <a:spcPts val="200"/>
              </a:spcBef>
              <a:spcAft>
                <a:spcPts val="300"/>
              </a:spcAft>
              <a:defRPr sz="900">
                <a:solidFill>
                  <a:srgbClr val="C6C6C6"/>
                </a:solidFill>
                <a:latin typeface="Calibri"/>
              </a:defRPr>
            </a:pPr>
            <a:r>
              <a:rPr sz="1100"/>
              <a:t>Seeds, racks, GC tuning bespoke per cluster</a:t>
            </a:r>
          </a:p>
          <a:p>
            <a:pPr algn="l">
              <a:spcBef>
                <a:spcPts val="200"/>
              </a:spcBef>
              <a:spcAft>
                <a:spcPts val="300"/>
              </a:spcAft>
              <a:defRPr sz="900">
                <a:solidFill>
                  <a:srgbClr val="C6C6C6"/>
                </a:solidFill>
                <a:latin typeface="Calibri"/>
              </a:defRPr>
            </a:pPr>
            <a:r>
              <a:rPr sz="1100"/>
              <a:t>One bad indent = a node out of the ring</a:t>
            </a:r>
          </a:p>
        </p:txBody>
      </p:sp>
      <p:sp>
        <p:nvSpPr>
          <p:cNvPr id="12" name="Era1 Tagline"/>
          <p:cNvSpPr txBox="1"/>
          <p:nvPr/>
        </p:nvSpPr>
        <p:spPr>
          <a:xfrm>
            <a:off x="548640" y="4550000"/>
            <a:ext cx="2500000" cy="27432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ctr">
              <a:defRPr sz="900" b="0" i="1">
                <a:solidFill>
                  <a:srgbClr val="8D8D8D"/>
                </a:solidFill>
                <a:latin typeface="Calibri"/>
              </a:defRPr>
            </a:pPr>
            <a:r>
              <a:rPr sz="1300" i="1"/>
              <a:t>“The Dark Ages”</a:t>
            </a:r>
          </a:p>
        </p:txBody>
      </p:sp>
      <p:sp>
        <p:nvSpPr>
          <p:cNvPr id="20" name="Era2 Label"/>
          <p:cNvSpPr txBox="1"/>
          <p:nvPr/>
        </p:nvSpPr>
        <p:spPr>
          <a:xfrm>
            <a:off x="6151004" y="1503226"/>
            <a:ext cx="2500000" cy="22860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ctr">
              <a:defRPr sz="1000" b="1">
                <a:solidFill>
                  <a:srgbClr val="C6C6C6"/>
                </a:solidFill>
                <a:latin typeface="Calibri"/>
              </a:defRPr>
            </a:pPr>
            <a:r>
              <a:rPr sz="1200" dirty="0"/>
              <a:t>DIY Kubernetes</a:t>
            </a:r>
          </a:p>
        </p:txBody>
      </p:sp>
      <p:sp>
        <p:nvSpPr>
          <p:cNvPr id="21" name="Era2 Box"/>
          <p:cNvSpPr/>
          <p:nvPr/>
        </p:nvSpPr>
        <p:spPr>
          <a:xfrm>
            <a:off x="6214682" y="1800000"/>
            <a:ext cx="2500000" cy="2700000"/>
          </a:xfrm>
          <a:prstGeom prst="rect">
            <a:avLst/>
          </a:prstGeom>
          <a:solidFill>
            <a:srgbClr val="2A2A2A"/>
          </a:solidFill>
          <a:ln w="12700">
            <a:solidFill>
              <a:srgbClr val="FF838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109728" rIns="91440" bIns="73152" rtlCol="0" anchor="t"/>
          <a:lstStyle/>
          <a:p>
            <a:pPr algn="ctr">
              <a:spcAft>
                <a:spcPts val="800"/>
              </a:spcAft>
              <a:defRPr sz="1000" b="1">
                <a:solidFill>
                  <a:srgbClr val="FF8389"/>
                </a:solidFill>
                <a:latin typeface="Calibri"/>
              </a:defRPr>
            </a:pPr>
            <a:r>
              <a:rPr sz="1600"/>
              <a:t>Hand-Rolled StatefulSets</a:t>
            </a:r>
          </a:p>
          <a:p>
            <a:pPr algn="l">
              <a:spcBef>
                <a:spcPts val="200"/>
              </a:spcBef>
              <a:spcAft>
                <a:spcPts val="300"/>
              </a:spcAft>
              <a:defRPr sz="900">
                <a:solidFill>
                  <a:srgbClr val="C6C6C6"/>
                </a:solidFill>
                <a:latin typeface="Calibri"/>
              </a:defRPr>
            </a:pPr>
            <a:r>
              <a:rPr sz="1100"/>
              <a:t>Init containers for seed discovery</a:t>
            </a:r>
          </a:p>
          <a:p>
            <a:pPr algn="l">
              <a:spcBef>
                <a:spcPts val="200"/>
              </a:spcBef>
              <a:spcAft>
                <a:spcPts val="300"/>
              </a:spcAft>
              <a:defRPr sz="900">
                <a:solidFill>
                  <a:srgbClr val="C6C6C6"/>
                </a:solidFill>
                <a:latin typeface="Calibri"/>
              </a:defRPr>
            </a:pPr>
            <a:r>
              <a:rPr sz="1100"/>
              <a:t>Manual PV lifecycle: lose a node, orphan a volume</a:t>
            </a:r>
          </a:p>
          <a:p>
            <a:pPr algn="l">
              <a:spcBef>
                <a:spcPts val="200"/>
              </a:spcBef>
              <a:spcAft>
                <a:spcPts val="300"/>
              </a:spcAft>
              <a:defRPr sz="900">
                <a:solidFill>
                  <a:srgbClr val="C6C6C6"/>
                </a:solidFill>
                <a:latin typeface="Calibri"/>
              </a:defRPr>
            </a:pPr>
            <a:r>
              <a:rPr sz="1100"/>
              <a:t>Rack labels, anti-affinity, token math by hand</a:t>
            </a:r>
          </a:p>
          <a:p>
            <a:pPr algn="l">
              <a:spcBef>
                <a:spcPts val="200"/>
              </a:spcBef>
              <a:spcAft>
                <a:spcPts val="300"/>
              </a:spcAft>
              <a:defRPr sz="900">
                <a:solidFill>
                  <a:srgbClr val="C6C6C6"/>
                </a:solidFill>
                <a:latin typeface="Calibri"/>
              </a:defRPr>
            </a:pPr>
            <a:r>
              <a:rPr sz="1100"/>
              <a:t>K8s doesn’t know about streaming or repair state</a:t>
            </a:r>
          </a:p>
        </p:txBody>
      </p:sp>
      <p:sp>
        <p:nvSpPr>
          <p:cNvPr id="22" name="Era2 Tagline"/>
          <p:cNvSpPr txBox="1"/>
          <p:nvPr/>
        </p:nvSpPr>
        <p:spPr>
          <a:xfrm>
            <a:off x="6214682" y="4550000"/>
            <a:ext cx="2500000" cy="27432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ctr">
              <a:defRPr sz="900" b="0" i="1">
                <a:solidFill>
                  <a:srgbClr val="FF8389"/>
                </a:solidFill>
                <a:latin typeface="Calibri"/>
              </a:defRPr>
            </a:pPr>
            <a:r>
              <a:rPr sz="1300" i="1" dirty="0"/>
              <a:t>“Hope and Pain”</a:t>
            </a:r>
          </a:p>
        </p:txBody>
      </p:sp>
      <p:sp>
        <p:nvSpPr>
          <p:cNvPr id="30" name="Era3 Label"/>
          <p:cNvSpPr txBox="1"/>
          <p:nvPr/>
        </p:nvSpPr>
        <p:spPr>
          <a:xfrm>
            <a:off x="3285725" y="1500000"/>
            <a:ext cx="2500000" cy="22860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ctr">
              <a:defRPr sz="1000" b="1">
                <a:solidFill>
                  <a:srgbClr val="C6C6C6"/>
                </a:solidFill>
                <a:latin typeface="Calibri"/>
              </a:defRPr>
            </a:pPr>
            <a:r>
              <a:rPr sz="1200"/>
              <a:t>Infrastructure-as-Code</a:t>
            </a:r>
          </a:p>
        </p:txBody>
      </p:sp>
      <p:sp>
        <p:nvSpPr>
          <p:cNvPr id="31" name="Era3 Box"/>
          <p:cNvSpPr/>
          <p:nvPr/>
        </p:nvSpPr>
        <p:spPr>
          <a:xfrm>
            <a:off x="3285725" y="1800000"/>
            <a:ext cx="2500000" cy="2700000"/>
          </a:xfrm>
          <a:prstGeom prst="rect">
            <a:avLst/>
          </a:prstGeom>
          <a:solidFill>
            <a:srgbClr val="2A2A2A"/>
          </a:solidFill>
          <a:ln w="12700">
            <a:solidFill>
              <a:srgbClr val="F1C21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109728" rIns="91440" bIns="73152" rtlCol="0" anchor="t"/>
          <a:lstStyle/>
          <a:p>
            <a:pPr algn="ctr">
              <a:spcAft>
                <a:spcPts val="800"/>
              </a:spcAft>
              <a:defRPr sz="1000" b="1">
                <a:solidFill>
                  <a:srgbClr val="F1C21B"/>
                </a:solidFill>
                <a:latin typeface="Calibri"/>
              </a:defRPr>
            </a:pPr>
            <a:r>
              <a:rPr sz="1400"/>
              <a:t>Ansible · Terraform · Puppet</a:t>
            </a:r>
          </a:p>
          <a:p>
            <a:pPr algn="l">
              <a:spcBef>
                <a:spcPts val="200"/>
              </a:spcBef>
              <a:spcAft>
                <a:spcPts val="300"/>
              </a:spcAft>
              <a:defRPr sz="900">
                <a:solidFill>
                  <a:srgbClr val="C6C6C6"/>
                </a:solidFill>
                <a:latin typeface="Calibri"/>
              </a:defRPr>
            </a:pPr>
            <a:r>
              <a:rPr sz="1100"/>
              <a:t>Repeatable deploys (when nothing breaks mid-play)</a:t>
            </a:r>
          </a:p>
          <a:p>
            <a:pPr algn="l">
              <a:spcBef>
                <a:spcPts val="200"/>
              </a:spcBef>
              <a:spcAft>
                <a:spcPts val="300"/>
              </a:spcAft>
              <a:defRPr sz="900">
                <a:solidFill>
                  <a:srgbClr val="C6C6C6"/>
                </a:solidFill>
                <a:latin typeface="Calibri"/>
              </a:defRPr>
            </a:pPr>
            <a:r>
              <a:rPr sz="1100"/>
              <a:t>Config drift better (after the variable escaping)</a:t>
            </a:r>
          </a:p>
          <a:p>
            <a:pPr algn="l">
              <a:spcBef>
                <a:spcPts val="200"/>
              </a:spcBef>
              <a:spcAft>
                <a:spcPts val="300"/>
              </a:spcAft>
              <a:defRPr sz="900">
                <a:solidFill>
                  <a:srgbClr val="C6C6C6"/>
                </a:solidFill>
                <a:latin typeface="Calibri"/>
              </a:defRPr>
            </a:pPr>
            <a:r>
              <a:rPr sz="1100"/>
              <a:t>Still imperative: gets you there, doesn’t keep you there</a:t>
            </a:r>
          </a:p>
          <a:p>
            <a:pPr algn="l">
              <a:spcBef>
                <a:spcPts val="200"/>
              </a:spcBef>
              <a:spcAft>
                <a:spcPts val="300"/>
              </a:spcAft>
              <a:defRPr sz="900">
                <a:solidFill>
                  <a:srgbClr val="C6C6C6"/>
                </a:solidFill>
                <a:latin typeface="Calibri"/>
              </a:defRPr>
            </a:pPr>
            <a:r>
              <a:rPr sz="1100"/>
              <a:t>No self-healing — a dead node waits for a human</a:t>
            </a:r>
          </a:p>
        </p:txBody>
      </p:sp>
      <p:sp>
        <p:nvSpPr>
          <p:cNvPr id="32" name="Era3 Tagline"/>
          <p:cNvSpPr txBox="1"/>
          <p:nvPr/>
        </p:nvSpPr>
        <p:spPr>
          <a:xfrm>
            <a:off x="3285725" y="4550000"/>
            <a:ext cx="2500000" cy="27432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ctr">
              <a:defRPr sz="900" b="0" i="1">
                <a:solidFill>
                  <a:srgbClr val="F1C21B"/>
                </a:solidFill>
                <a:latin typeface="Calibri"/>
              </a:defRPr>
            </a:pPr>
            <a:r>
              <a:rPr sz="1300" i="1"/>
              <a:t>“Better, not solved”</a:t>
            </a:r>
          </a:p>
        </p:txBody>
      </p:sp>
      <p:sp>
        <p:nvSpPr>
          <p:cNvPr id="40" name="Era4 Label"/>
          <p:cNvSpPr txBox="1"/>
          <p:nvPr/>
        </p:nvSpPr>
        <p:spPr>
          <a:xfrm>
            <a:off x="9143640" y="1500000"/>
            <a:ext cx="2500000" cy="22860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ctr">
              <a:defRPr sz="1000" b="1">
                <a:solidFill>
                  <a:srgbClr val="C6C6C6"/>
                </a:solidFill>
                <a:latin typeface="Calibri"/>
              </a:defRPr>
            </a:pPr>
            <a:r>
              <a:rPr sz="1200"/>
              <a:t>Operator Era</a:t>
            </a:r>
          </a:p>
        </p:txBody>
      </p:sp>
      <p:sp>
        <p:nvSpPr>
          <p:cNvPr id="41" name="Era4 Box"/>
          <p:cNvSpPr/>
          <p:nvPr/>
        </p:nvSpPr>
        <p:spPr>
          <a:xfrm>
            <a:off x="9143640" y="1800000"/>
            <a:ext cx="2500000" cy="2700000"/>
          </a:xfrm>
          <a:prstGeom prst="rect">
            <a:avLst/>
          </a:prstGeom>
          <a:solidFill>
            <a:srgbClr val="2A2A2A"/>
          </a:solidFill>
          <a:ln w="12700">
            <a:solidFill>
              <a:srgbClr val="42BE6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109728" rIns="91440" bIns="73152" rtlCol="0" anchor="t"/>
          <a:lstStyle/>
          <a:p>
            <a:pPr algn="ctr">
              <a:spcAft>
                <a:spcPts val="800"/>
              </a:spcAft>
              <a:defRPr sz="1000" b="1">
                <a:solidFill>
                  <a:srgbClr val="42BE65"/>
                </a:solidFill>
                <a:latin typeface="Calibri"/>
              </a:defRPr>
            </a:pPr>
            <a:r>
              <a:rPr sz="1600"/>
              <a:t>k8ssandra-operator</a:t>
            </a:r>
          </a:p>
          <a:p>
            <a:pPr algn="l">
              <a:spcBef>
                <a:spcPts val="200"/>
              </a:spcBef>
              <a:spcAft>
                <a:spcPts val="300"/>
              </a:spcAft>
              <a:defRPr sz="900">
                <a:solidFill>
                  <a:srgbClr val="C6C6C6"/>
                </a:solidFill>
                <a:latin typeface="Calibri"/>
              </a:defRPr>
            </a:pPr>
            <a:r>
              <a:rPr sz="1100"/>
              <a:t>~25 lines of declarative YAML</a:t>
            </a:r>
          </a:p>
          <a:p>
            <a:pPr algn="l">
              <a:spcBef>
                <a:spcPts val="200"/>
              </a:spcBef>
              <a:spcAft>
                <a:spcPts val="300"/>
              </a:spcAft>
              <a:defRPr sz="900">
                <a:solidFill>
                  <a:srgbClr val="C6C6C6"/>
                </a:solidFill>
                <a:latin typeface="Calibri"/>
              </a:defRPr>
            </a:pPr>
            <a:r>
              <a:rPr sz="1100"/>
              <a:t>Self-healing: pod dies, replacement scheduled</a:t>
            </a:r>
          </a:p>
          <a:p>
            <a:pPr algn="l">
              <a:spcBef>
                <a:spcPts val="200"/>
              </a:spcBef>
              <a:spcAft>
                <a:spcPts val="300"/>
              </a:spcAft>
              <a:defRPr sz="900">
                <a:solidFill>
                  <a:srgbClr val="C6C6C6"/>
                </a:solidFill>
                <a:latin typeface="Calibri"/>
              </a:defRPr>
            </a:pPr>
            <a:r>
              <a:rPr sz="1100"/>
              <a:t>Medusa, Reaper, metrics — batteries included</a:t>
            </a:r>
          </a:p>
          <a:p>
            <a:pPr algn="l">
              <a:spcBef>
                <a:spcPts val="200"/>
              </a:spcBef>
              <a:spcAft>
                <a:spcPts val="300"/>
              </a:spcAft>
              <a:defRPr sz="900">
                <a:solidFill>
                  <a:srgbClr val="C6C6C6"/>
                </a:solidFill>
                <a:latin typeface="Calibri"/>
              </a:defRPr>
            </a:pPr>
            <a:r>
              <a:rPr sz="1100"/>
              <a:t>Manages the cluster — operating it still takes expertise</a:t>
            </a:r>
          </a:p>
        </p:txBody>
      </p:sp>
      <p:sp>
        <p:nvSpPr>
          <p:cNvPr id="42" name="Era4 Tagline"/>
          <p:cNvSpPr txBox="1"/>
          <p:nvPr/>
        </p:nvSpPr>
        <p:spPr>
          <a:xfrm>
            <a:off x="9143640" y="4550000"/>
            <a:ext cx="2500000" cy="27432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ctr">
              <a:defRPr sz="900" b="0" i="1">
                <a:solidFill>
                  <a:srgbClr val="42BE65"/>
                </a:solidFill>
                <a:latin typeface="Calibri"/>
              </a:defRPr>
            </a:pPr>
            <a:r>
              <a:rPr sz="1300" i="1"/>
              <a:t>“Declarative · Self-healing”</a:t>
            </a:r>
          </a:p>
        </p:txBody>
      </p:sp>
      <p:sp>
        <p:nvSpPr>
          <p:cNvPr id="50" name="Decoration 1"/>
          <p:cNvSpPr/>
          <p:nvPr/>
        </p:nvSpPr>
        <p:spPr>
          <a:xfrm>
            <a:off x="3066928" y="3131712"/>
            <a:ext cx="118872" cy="36576"/>
          </a:xfrm>
          <a:prstGeom prst="rect">
            <a:avLst/>
          </a:prstGeom>
          <a:solidFill>
            <a:srgbClr val="4A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51" name="Arrow 1"/>
          <p:cNvSpPr/>
          <p:nvPr/>
        </p:nvSpPr>
        <p:spPr>
          <a:xfrm rot="5400000">
            <a:off x="3176276" y="3095136"/>
            <a:ext cx="109728" cy="109728"/>
          </a:xfrm>
          <a:prstGeom prst="triangle">
            <a:avLst/>
          </a:prstGeom>
          <a:solidFill>
            <a:srgbClr val="4A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52" name="Decoration 2"/>
          <p:cNvSpPr/>
          <p:nvPr/>
        </p:nvSpPr>
        <p:spPr>
          <a:xfrm>
            <a:off x="5922125" y="3138881"/>
            <a:ext cx="118872" cy="36576"/>
          </a:xfrm>
          <a:prstGeom prst="rect">
            <a:avLst/>
          </a:prstGeom>
          <a:solidFill>
            <a:srgbClr val="4A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53" name="Arrow 2"/>
          <p:cNvSpPr/>
          <p:nvPr/>
        </p:nvSpPr>
        <p:spPr>
          <a:xfrm rot="5400000">
            <a:off x="6041276" y="3095136"/>
            <a:ext cx="109728" cy="109728"/>
          </a:xfrm>
          <a:prstGeom prst="triangle">
            <a:avLst/>
          </a:prstGeom>
          <a:solidFill>
            <a:srgbClr val="4A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54" name="Decoration 3"/>
          <p:cNvSpPr/>
          <p:nvPr/>
        </p:nvSpPr>
        <p:spPr>
          <a:xfrm>
            <a:off x="8796928" y="3131712"/>
            <a:ext cx="118872" cy="36576"/>
          </a:xfrm>
          <a:prstGeom prst="rect">
            <a:avLst/>
          </a:prstGeom>
          <a:solidFill>
            <a:srgbClr val="4A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55" name="Arrow 3"/>
          <p:cNvSpPr/>
          <p:nvPr/>
        </p:nvSpPr>
        <p:spPr>
          <a:xfrm rot="5400000">
            <a:off x="8906276" y="3095136"/>
            <a:ext cx="109728" cy="109728"/>
          </a:xfrm>
          <a:prstGeom prst="triangle">
            <a:avLst/>
          </a:prstGeom>
          <a:solidFill>
            <a:srgbClr val="4A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60" name="Footer Hook"/>
          <p:cNvSpPr txBox="1"/>
          <p:nvPr/>
        </p:nvSpPr>
        <p:spPr>
          <a:xfrm>
            <a:off x="548640" y="5200000"/>
            <a:ext cx="11094720" cy="32004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ctr">
              <a:defRPr sz="1400" b="1">
                <a:solidFill>
                  <a:srgbClr val="78A9FF"/>
                </a:solidFill>
                <a:latin typeface="Calibri"/>
              </a:defRPr>
            </a:pPr>
            <a:r>
              <a:t>Where we are today  —  next: how AI tooling closes the operator-knowledge gap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16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731520" y="365760"/>
            <a:ext cx="54864" cy="411480"/>
          </a:xfrm>
          <a:prstGeom prst="rect">
            <a:avLst/>
          </a:prstGeom>
          <a:solidFill>
            <a:srgbClr val="0F6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3" name="TextBox 2"/>
          <p:cNvSpPr txBox="1"/>
          <p:nvPr/>
        </p:nvSpPr>
        <p:spPr>
          <a:xfrm>
            <a:off x="960120" y="365760"/>
            <a:ext cx="9144000" cy="50292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AWS / EKS Infrastructure Topology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05840"/>
            <a:ext cx="11430000" cy="5486400"/>
          </a:xfrm>
          <a:prstGeom prst="rect">
            <a:avLst/>
          </a:prstGeom>
          <a:solidFill>
            <a:srgbClr val="262626"/>
          </a:solidFill>
          <a:ln w="12700">
            <a:solidFill>
              <a:srgbClr val="39393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3657600" cy="27432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1100" b="1">
                <a:solidFill>
                  <a:srgbClr val="78A9FF"/>
                </a:solidFill>
                <a:latin typeface="Calibri"/>
              </a:defRPr>
            </a:pPr>
            <a:r>
              <a:rPr sz="1600"/>
              <a:t>AWS Region: us-east-1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371600"/>
            <a:ext cx="11064240" cy="4937760"/>
          </a:xfrm>
          <a:prstGeom prst="rect">
            <a:avLst/>
          </a:prstGeom>
          <a:solidFill>
            <a:srgbClr val="1C1C1C"/>
          </a:solidFill>
          <a:ln w="12700">
            <a:solidFill>
              <a:srgbClr val="4A4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7" name="TextBox 6"/>
          <p:cNvSpPr txBox="1"/>
          <p:nvPr/>
        </p:nvSpPr>
        <p:spPr>
          <a:xfrm>
            <a:off x="731520" y="1417320"/>
            <a:ext cx="3200400" cy="27432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1000" b="1">
                <a:solidFill>
                  <a:srgbClr val="C6C6C6"/>
                </a:solidFill>
                <a:latin typeface="Calibri"/>
              </a:defRPr>
            </a:pPr>
            <a:r>
              <a:rPr sz="1200"/>
              <a:t>VPC (eksctl-managed)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1783080"/>
            <a:ext cx="10698480" cy="1005840"/>
          </a:xfrm>
          <a:prstGeom prst="rect">
            <a:avLst/>
          </a:prstGeom>
          <a:solidFill>
            <a:srgbClr val="202020"/>
          </a:solidFill>
          <a:ln w="12700">
            <a:solidFill>
              <a:srgbClr val="4A4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9" name="TextBox 8"/>
          <p:cNvSpPr txBox="1"/>
          <p:nvPr/>
        </p:nvSpPr>
        <p:spPr>
          <a:xfrm>
            <a:off x="914400" y="1810512"/>
            <a:ext cx="2286000" cy="22860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900" b="1">
                <a:solidFill>
                  <a:srgbClr val="009D9A"/>
                </a:solidFill>
                <a:latin typeface="Calibri"/>
              </a:defRPr>
            </a:pPr>
            <a:r>
              <a:rPr sz="1100"/>
              <a:t>Public Subnets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34640" y="1810512"/>
            <a:ext cx="3657600" cy="22860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800" b="0">
                <a:solidFill>
                  <a:srgbClr val="4A4A4A"/>
                </a:solidFill>
                <a:latin typeface="Calibri"/>
              </a:defRPr>
            </a:pPr>
            <a:r>
              <a:rPr sz="1050"/>
              <a:t>tagged: kubernetes.io/role/elb=1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14400" y="2103120"/>
            <a:ext cx="2560320" cy="594360"/>
          </a:xfrm>
          <a:prstGeom prst="rect">
            <a:avLst/>
          </a:prstGeom>
          <a:solidFill>
            <a:srgbClr val="2A2A2A"/>
          </a:solidFill>
          <a:ln w="12700">
            <a:solidFill>
              <a:srgbClr val="119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45720" bIns="36576" rtlCol="0" anchor="ctr"/>
          <a:lstStyle/>
          <a:p>
            <a:pPr algn="ctr">
              <a:spcAft>
                <a:spcPts val="200"/>
              </a:spcAft>
              <a:defRPr sz="1000" b="1">
                <a:solidFill>
                  <a:srgbClr val="1192E8"/>
                </a:solidFill>
                <a:latin typeface="Calibri"/>
              </a:defRPr>
            </a:pPr>
            <a:r>
              <a:rPr sz="1200"/>
              <a:t>Internet-Facing NLB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C6C6C6"/>
                </a:solidFill>
                <a:latin typeface="Calibri"/>
              </a:defRPr>
            </a:pPr>
            <a:r>
              <a:rPr sz="1050"/>
              <a:t>Port 8000 (TCP)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C6C6C6"/>
                </a:solidFill>
                <a:latin typeface="Calibri"/>
              </a:defRPr>
            </a:pPr>
            <a:r>
              <a:rPr sz="1050"/>
              <a:t>a2838...elb.amazonaws.com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0" y="2103120"/>
            <a:ext cx="2286000" cy="594360"/>
          </a:xfrm>
          <a:prstGeom prst="rect">
            <a:avLst/>
          </a:prstGeom>
          <a:solidFill>
            <a:srgbClr val="1A1A2E"/>
          </a:solidFill>
          <a:ln w="12700">
            <a:solidFill>
              <a:srgbClr val="0F62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45720" bIns="36576" rtlCol="0" anchor="ctr"/>
          <a:lstStyle/>
          <a:p>
            <a:pPr algn="ctr">
              <a:spcAft>
                <a:spcPts val="200"/>
              </a:spcAft>
              <a:defRPr sz="1000" b="1">
                <a:solidFill>
                  <a:srgbClr val="78A9FF"/>
                </a:solidFill>
                <a:latin typeface="Calibri"/>
              </a:defRPr>
            </a:pPr>
            <a:r>
              <a:rPr sz="1200"/>
              <a:t>Internet / Claude Desktop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703320" y="2331720"/>
            <a:ext cx="1097280" cy="36576"/>
          </a:xfrm>
          <a:prstGeom prst="rect">
            <a:avLst/>
          </a:prstGeom>
          <a:solidFill>
            <a:srgbClr val="1192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14" name="Isosceles Triangle 13"/>
          <p:cNvSpPr/>
          <p:nvPr/>
        </p:nvSpPr>
        <p:spPr>
          <a:xfrm rot="16200000">
            <a:off x="3566160" y="2295144"/>
            <a:ext cx="109728" cy="109728"/>
          </a:xfrm>
          <a:prstGeom prst="triangle">
            <a:avLst/>
          </a:prstGeom>
          <a:solidFill>
            <a:srgbClr val="1192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15" name="Rectangle 14"/>
          <p:cNvSpPr/>
          <p:nvPr/>
        </p:nvSpPr>
        <p:spPr>
          <a:xfrm>
            <a:off x="731520" y="2971800"/>
            <a:ext cx="10698480" cy="3246120"/>
          </a:xfrm>
          <a:prstGeom prst="rect">
            <a:avLst/>
          </a:prstGeom>
          <a:solidFill>
            <a:srgbClr val="202020"/>
          </a:solidFill>
          <a:ln w="12700">
            <a:solidFill>
              <a:srgbClr val="4A4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16" name="TextBox 15"/>
          <p:cNvSpPr txBox="1"/>
          <p:nvPr/>
        </p:nvSpPr>
        <p:spPr>
          <a:xfrm>
            <a:off x="914400" y="2999232"/>
            <a:ext cx="2286000" cy="22860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900" b="1">
                <a:solidFill>
                  <a:srgbClr val="009D9A"/>
                </a:solidFill>
                <a:latin typeface="Calibri"/>
              </a:defRPr>
            </a:pPr>
            <a:r>
              <a:rPr sz="1100"/>
              <a:t>Private Subnets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34640" y="2999232"/>
            <a:ext cx="4572000" cy="22860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800" b="0">
                <a:solidFill>
                  <a:srgbClr val="4A4A4A"/>
                </a:solidFill>
                <a:latin typeface="Calibri"/>
              </a:defRPr>
            </a:pPr>
            <a:r>
              <a:rPr sz="1050"/>
              <a:t>tagged: kubernetes.io/role/internal-elb=1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14400" y="3291840"/>
            <a:ext cx="10332720" cy="2743200"/>
          </a:xfrm>
          <a:prstGeom prst="rect">
            <a:avLst/>
          </a:prstGeom>
          <a:solidFill>
            <a:srgbClr val="1E1E1E"/>
          </a:solidFill>
          <a:ln w="12700">
            <a:solidFill>
              <a:srgbClr val="0F62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19" name="TextBox 18"/>
          <p:cNvSpPr txBox="1"/>
          <p:nvPr/>
        </p:nvSpPr>
        <p:spPr>
          <a:xfrm>
            <a:off x="1097280" y="3319272"/>
            <a:ext cx="4572000" cy="22860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1000" b="1">
                <a:solidFill>
                  <a:srgbClr val="78A9FF"/>
                </a:solidFill>
                <a:latin typeface="Calibri"/>
              </a:defRPr>
            </a:pPr>
            <a:r>
              <a:rPr sz="1200"/>
              <a:t>EKS Cluster: k8ssandra-cluster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0" y="3319272"/>
            <a:ext cx="4572000" cy="22860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900" b="0">
                <a:solidFill>
                  <a:srgbClr val="C6C6C6"/>
                </a:solidFill>
                <a:latin typeface="Calibri"/>
              </a:defRPr>
            </a:pPr>
            <a:r>
              <a:rPr sz="1100"/>
              <a:t>K8s 1.31  |  OIDC Provider enabled (IRSA)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" y="3611880"/>
            <a:ext cx="4572000" cy="22860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900" b="1">
                <a:solidFill>
                  <a:srgbClr val="C6C6C6"/>
                </a:solidFill>
                <a:latin typeface="Calibri"/>
              </a:defRPr>
            </a:pPr>
            <a:r>
              <a:rPr sz="1100"/>
              <a:t>Managed Node Group: cassandra-workers  (6 nodes, showing 3)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097280" y="3886200"/>
            <a:ext cx="3017520" cy="914400"/>
          </a:xfrm>
          <a:prstGeom prst="rect">
            <a:avLst/>
          </a:prstGeom>
          <a:solidFill>
            <a:srgbClr val="2A2A2A"/>
          </a:solidFill>
          <a:ln w="12700">
            <a:solidFill>
              <a:srgbClr val="4A4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45720" bIns="36576" rtlCol="0" anchor="ctr"/>
          <a:lstStyle/>
          <a:p>
            <a:pPr algn="ctr">
              <a:spcAft>
                <a:spcPts val="200"/>
              </a:spcAft>
              <a:defRPr sz="1000" b="1">
                <a:solidFill>
                  <a:srgbClr val="FFFFFF"/>
                </a:solidFill>
                <a:latin typeface="Calibri"/>
              </a:defRPr>
            </a:pPr>
            <a:r>
              <a:rPr sz="1200"/>
              <a:t>m5.4xlarge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C6C6C6"/>
                </a:solidFill>
                <a:latin typeface="Calibri"/>
              </a:defRPr>
            </a:pPr>
            <a:r>
              <a:rPr sz="1050"/>
              <a:t>16 vCPU / 64 GiB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C6C6C6"/>
                </a:solidFill>
                <a:latin typeface="Calibri"/>
              </a:defRPr>
            </a:pPr>
            <a:r>
              <a:rPr sz="1050"/>
              <a:t>50 GiB gp3 root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C6C6C6"/>
                </a:solidFill>
                <a:latin typeface="Calibri"/>
              </a:defRPr>
            </a:pPr>
            <a:r>
              <a:rPr sz="1050"/>
              <a:t>privateNetworking: true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89120" y="3886200"/>
            <a:ext cx="3017520" cy="914400"/>
          </a:xfrm>
          <a:prstGeom prst="rect">
            <a:avLst/>
          </a:prstGeom>
          <a:solidFill>
            <a:srgbClr val="2A2A2A"/>
          </a:solidFill>
          <a:ln w="12700">
            <a:solidFill>
              <a:srgbClr val="4A4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45720" bIns="36576" rtlCol="0" anchor="ctr"/>
          <a:lstStyle/>
          <a:p>
            <a:pPr algn="ctr">
              <a:spcAft>
                <a:spcPts val="200"/>
              </a:spcAft>
              <a:defRPr sz="1000" b="1">
                <a:solidFill>
                  <a:srgbClr val="FFFFFF"/>
                </a:solidFill>
                <a:latin typeface="Calibri"/>
              </a:defRPr>
            </a:pPr>
            <a:r>
              <a:rPr sz="1200"/>
              <a:t>m5.4xlarge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C6C6C6"/>
                </a:solidFill>
                <a:latin typeface="Calibri"/>
              </a:defRPr>
            </a:pPr>
            <a:r>
              <a:rPr sz="1050"/>
              <a:t>16 vCPU / 64 GiB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C6C6C6"/>
                </a:solidFill>
                <a:latin typeface="Calibri"/>
              </a:defRPr>
            </a:pPr>
            <a:r>
              <a:rPr sz="1050"/>
              <a:t>50 GiB gp3 root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C6C6C6"/>
                </a:solidFill>
                <a:latin typeface="Calibri"/>
              </a:defRPr>
            </a:pPr>
            <a:r>
              <a:rPr sz="1050"/>
              <a:t>privateNetworking: true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680959" y="3886200"/>
            <a:ext cx="3017520" cy="914400"/>
          </a:xfrm>
          <a:prstGeom prst="rect">
            <a:avLst/>
          </a:prstGeom>
          <a:solidFill>
            <a:srgbClr val="2A2A2A"/>
          </a:solidFill>
          <a:ln w="12700">
            <a:solidFill>
              <a:srgbClr val="4A4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45720" bIns="36576" rtlCol="0" anchor="ctr"/>
          <a:lstStyle/>
          <a:p>
            <a:pPr algn="ctr">
              <a:spcAft>
                <a:spcPts val="200"/>
              </a:spcAft>
              <a:defRPr sz="1000" b="1">
                <a:solidFill>
                  <a:srgbClr val="FFFFFF"/>
                </a:solidFill>
                <a:latin typeface="Calibri"/>
              </a:defRPr>
            </a:pPr>
            <a:r>
              <a:rPr sz="1200"/>
              <a:t>m5.4xlarge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C6C6C6"/>
                </a:solidFill>
                <a:latin typeface="Calibri"/>
              </a:defRPr>
            </a:pPr>
            <a:r>
              <a:rPr sz="1050"/>
              <a:t>16 vCPU / 64 GiB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C6C6C6"/>
                </a:solidFill>
                <a:latin typeface="Calibri"/>
              </a:defRPr>
            </a:pPr>
            <a:r>
              <a:rPr sz="1050"/>
              <a:t>50 GiB gp3 root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C6C6C6"/>
                </a:solidFill>
                <a:latin typeface="Calibri"/>
              </a:defRPr>
            </a:pPr>
            <a:r>
              <a:rPr sz="1050"/>
              <a:t>privateNetworking: true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7280" y="4937760"/>
            <a:ext cx="5486400" cy="22860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900" b="1">
                <a:solidFill>
                  <a:srgbClr val="C6C6C6"/>
                </a:solidFill>
                <a:latin typeface="Calibri"/>
              </a:defRPr>
            </a:pPr>
            <a:r>
              <a:rPr sz="1100"/>
              <a:t>EBS Volumes (gp3, dynamic provisioning via CSI)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097280" y="5212080"/>
            <a:ext cx="3017520" cy="502920"/>
          </a:xfrm>
          <a:prstGeom prst="rect">
            <a:avLst/>
          </a:prstGeom>
          <a:solidFill>
            <a:srgbClr val="2A2A2A"/>
          </a:solidFill>
          <a:ln w="12700">
            <a:solidFill>
              <a:srgbClr val="009D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45720" bIns="36576" rtlCol="0" anchor="ctr"/>
          <a:lstStyle/>
          <a:p>
            <a:pPr algn="ctr">
              <a:spcAft>
                <a:spcPts val="200"/>
              </a:spcAft>
              <a:defRPr sz="900" b="1">
                <a:solidFill>
                  <a:srgbClr val="009D9A"/>
                </a:solidFill>
                <a:latin typeface="Calibri"/>
              </a:defRPr>
            </a:pPr>
            <a:r>
              <a:rPr sz="1100"/>
              <a:t>PVC: 5Gi RWO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C6C6C6"/>
                </a:solidFill>
                <a:latin typeface="Calibri"/>
              </a:defRPr>
            </a:pPr>
            <a:r>
              <a:rPr sz="1050"/>
              <a:t>server-data-0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389120" y="5212080"/>
            <a:ext cx="3017520" cy="502920"/>
          </a:xfrm>
          <a:prstGeom prst="rect">
            <a:avLst/>
          </a:prstGeom>
          <a:solidFill>
            <a:srgbClr val="2A2A2A"/>
          </a:solidFill>
          <a:ln w="12700">
            <a:solidFill>
              <a:srgbClr val="009D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45720" bIns="36576" rtlCol="0" anchor="ctr"/>
          <a:lstStyle/>
          <a:p>
            <a:pPr algn="ctr">
              <a:spcAft>
                <a:spcPts val="200"/>
              </a:spcAft>
              <a:defRPr sz="900" b="1">
                <a:solidFill>
                  <a:srgbClr val="009D9A"/>
                </a:solidFill>
                <a:latin typeface="Calibri"/>
              </a:defRPr>
            </a:pPr>
            <a:r>
              <a:rPr sz="1100"/>
              <a:t>PVC: 5Gi RWO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C6C6C6"/>
                </a:solidFill>
                <a:latin typeface="Calibri"/>
              </a:defRPr>
            </a:pPr>
            <a:r>
              <a:rPr sz="1050"/>
              <a:t>server-data-1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680959" y="5212080"/>
            <a:ext cx="3017520" cy="502920"/>
          </a:xfrm>
          <a:prstGeom prst="rect">
            <a:avLst/>
          </a:prstGeom>
          <a:solidFill>
            <a:srgbClr val="2A2A2A"/>
          </a:solidFill>
          <a:ln w="12700">
            <a:solidFill>
              <a:srgbClr val="009D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45720" bIns="36576" rtlCol="0" anchor="ctr"/>
          <a:lstStyle/>
          <a:p>
            <a:pPr algn="ctr">
              <a:spcAft>
                <a:spcPts val="200"/>
              </a:spcAft>
              <a:defRPr sz="900" b="1">
                <a:solidFill>
                  <a:srgbClr val="009D9A"/>
                </a:solidFill>
                <a:latin typeface="Calibri"/>
              </a:defRPr>
            </a:pPr>
            <a:r>
              <a:rPr sz="1100"/>
              <a:t>PVC: 5Gi RWO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C6C6C6"/>
                </a:solidFill>
                <a:latin typeface="Calibri"/>
              </a:defRPr>
            </a:pPr>
            <a:r>
              <a:rPr sz="1050"/>
              <a:t>server-data-2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011680" y="2743200"/>
            <a:ext cx="36576" cy="521208"/>
          </a:xfrm>
          <a:prstGeom prst="rect">
            <a:avLst/>
          </a:prstGeom>
          <a:solidFill>
            <a:srgbClr val="1192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30" name="Isosceles Triangle 29"/>
          <p:cNvSpPr/>
          <p:nvPr/>
        </p:nvSpPr>
        <p:spPr>
          <a:xfrm rot="10800000">
            <a:off x="1975104" y="3227832"/>
            <a:ext cx="109728" cy="109728"/>
          </a:xfrm>
          <a:prstGeom prst="triangle">
            <a:avLst/>
          </a:prstGeom>
          <a:solidFill>
            <a:srgbClr val="1192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16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731520" y="365760"/>
            <a:ext cx="54864" cy="411480"/>
          </a:xfrm>
          <a:prstGeom prst="rect">
            <a:avLst/>
          </a:prstGeom>
          <a:solidFill>
            <a:srgbClr val="0F6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/>
          </a:p>
        </p:txBody>
      </p:sp>
      <p:sp>
        <p:nvSpPr>
          <p:cNvPr id="3" name="TextBox 2"/>
          <p:cNvSpPr txBox="1"/>
          <p:nvPr/>
        </p:nvSpPr>
        <p:spPr>
          <a:xfrm>
            <a:off x="960120" y="365760"/>
            <a:ext cx="9144000" cy="50292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Kubernetes Namespace &amp; Workload Layout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05840"/>
            <a:ext cx="11430000" cy="4434840"/>
          </a:xfrm>
          <a:prstGeom prst="rect">
            <a:avLst/>
          </a:prstGeom>
          <a:solidFill>
            <a:srgbClr val="262626"/>
          </a:solidFill>
          <a:ln w="12700">
            <a:solidFill>
              <a:srgbClr val="0F62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/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3200400" cy="27432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1100" b="1">
                <a:solidFill>
                  <a:srgbClr val="78A9FF"/>
                </a:solidFill>
                <a:latin typeface="Calibri"/>
              </a:defRPr>
            </a:pPr>
            <a:r>
              <a:t>Namespace: default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71600"/>
            <a:ext cx="3657600" cy="27432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1000" b="1">
                <a:solidFill>
                  <a:srgbClr val="78A9FF"/>
                </a:solidFill>
                <a:latin typeface="Calibri"/>
              </a:defRPr>
            </a:pPr>
            <a:r>
              <a:rPr sz="1400"/>
              <a:t>Operators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645920"/>
            <a:ext cx="3474720" cy="685800"/>
          </a:xfrm>
          <a:prstGeom prst="rect">
            <a:avLst/>
          </a:prstGeom>
          <a:solidFill>
            <a:srgbClr val="2A2A2A"/>
          </a:solidFill>
          <a:ln w="12700">
            <a:solidFill>
              <a:srgbClr val="8A3F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45720" bIns="36576" rtlCol="0" anchor="ctr"/>
          <a:lstStyle/>
          <a:p>
            <a:pPr algn="ctr">
              <a:spcAft>
                <a:spcPts val="200"/>
              </a:spcAft>
              <a:defRPr sz="1000" b="1">
                <a:solidFill>
                  <a:srgbClr val="8A3FFC"/>
                </a:solidFill>
                <a:latin typeface="Calibri"/>
              </a:defRPr>
            </a:pPr>
            <a:r>
              <a:rPr sz="1400"/>
              <a:t>k8ssandra-operator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C6C6C6"/>
                </a:solidFill>
                <a:latin typeface="Calibri"/>
              </a:defRPr>
            </a:pPr>
            <a:r>
              <a:rPr sz="1100"/>
              <a:t>1 replica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C6C6C6"/>
                </a:solidFill>
                <a:latin typeface="Calibri"/>
              </a:defRPr>
            </a:pPr>
            <a:r>
              <a:rPr sz="1100"/>
              <a:t>Watches: K8ssandraCluster CR</a:t>
            </a:r>
          </a:p>
        </p:txBody>
      </p:sp>
      <p:sp>
        <p:nvSpPr>
          <p:cNvPr id="8" name="Rectangle 7"/>
          <p:cNvSpPr/>
          <p:nvPr/>
        </p:nvSpPr>
        <p:spPr>
          <a:xfrm>
            <a:off x="4297680" y="1645920"/>
            <a:ext cx="3474720" cy="685800"/>
          </a:xfrm>
          <a:prstGeom prst="rect">
            <a:avLst/>
          </a:prstGeom>
          <a:solidFill>
            <a:srgbClr val="2A2A2A"/>
          </a:solidFill>
          <a:ln w="12700">
            <a:solidFill>
              <a:srgbClr val="8A3F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45720" bIns="36576" rtlCol="0" anchor="ctr"/>
          <a:lstStyle/>
          <a:p>
            <a:pPr algn="ctr">
              <a:spcAft>
                <a:spcPts val="200"/>
              </a:spcAft>
              <a:defRPr sz="1000" b="1">
                <a:solidFill>
                  <a:srgbClr val="8A3FFC"/>
                </a:solidFill>
                <a:latin typeface="Calibri"/>
              </a:defRPr>
            </a:pPr>
            <a:r>
              <a:rPr sz="1400"/>
              <a:t>cass-operator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C6C6C6"/>
                </a:solidFill>
                <a:latin typeface="Calibri"/>
              </a:defRPr>
            </a:pPr>
            <a:r>
              <a:rPr sz="1100"/>
              <a:t>1 replica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C6C6C6"/>
                </a:solidFill>
                <a:latin typeface="Calibri"/>
              </a:defRPr>
            </a:pPr>
            <a:r>
              <a:rPr sz="1100"/>
              <a:t>Watches: CassandraDatacenter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468880"/>
            <a:ext cx="11064240" cy="27432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1000" b="1">
                <a:solidFill>
                  <a:srgbClr val="78A9FF"/>
                </a:solidFill>
                <a:latin typeface="Calibri"/>
              </a:defRPr>
            </a:pPr>
            <a:r>
              <a:rPr sz="1400"/>
              <a:t>Cassandra Ring  (StatefulSet: demo-dc1-default-sts)  —  4-6 CPU / 3-6Gi req/limit  ·  softPodAntiAffinity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2743200"/>
            <a:ext cx="3474720" cy="868680"/>
          </a:xfrm>
          <a:prstGeom prst="rect">
            <a:avLst/>
          </a:prstGeom>
          <a:solidFill>
            <a:srgbClr val="2A2A2A"/>
          </a:solidFill>
          <a:ln w="12700">
            <a:solidFill>
              <a:srgbClr val="119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45720" bIns="36576" rtlCol="0" anchor="ctr"/>
          <a:lstStyle/>
          <a:p>
            <a:pPr algn="ctr">
              <a:spcAft>
                <a:spcPts val="200"/>
              </a:spcAft>
              <a:defRPr sz="900" b="1">
                <a:solidFill>
                  <a:srgbClr val="1192E8"/>
                </a:solidFill>
                <a:latin typeface="Calibri"/>
              </a:defRPr>
            </a:pPr>
            <a:r>
              <a:rPr sz="1200"/>
              <a:t>Pod: demo-dc1-default-sts-0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C6C6C6"/>
                </a:solidFill>
                <a:latin typeface="Calibri"/>
              </a:defRPr>
            </a:pPr>
            <a:r>
              <a:rPr sz="1100"/>
              <a:t>Containers: cassandra, server-system-log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C6C6C6"/>
                </a:solidFill>
                <a:latin typeface="Calibri"/>
              </a:defRPr>
            </a:pPr>
            <a:r>
              <a:rPr sz="1100"/>
              <a:t>PVC: 5Gi ebs-gp3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C6C6C6"/>
                </a:solidFill>
                <a:latin typeface="Calibri"/>
              </a:defRPr>
            </a:pPr>
            <a:r>
              <a:rPr sz="1100"/>
              <a:t>Port: 9042 (CQL)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97679" y="2743200"/>
            <a:ext cx="3474720" cy="868680"/>
          </a:xfrm>
          <a:prstGeom prst="rect">
            <a:avLst/>
          </a:prstGeom>
          <a:solidFill>
            <a:srgbClr val="2A2A2A"/>
          </a:solidFill>
          <a:ln w="12700">
            <a:solidFill>
              <a:srgbClr val="119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45720" bIns="36576" rtlCol="0" anchor="ctr"/>
          <a:lstStyle/>
          <a:p>
            <a:pPr algn="ctr">
              <a:spcAft>
                <a:spcPts val="200"/>
              </a:spcAft>
              <a:defRPr sz="900" b="1">
                <a:solidFill>
                  <a:srgbClr val="1192E8"/>
                </a:solidFill>
                <a:latin typeface="Calibri"/>
              </a:defRPr>
            </a:pPr>
            <a:r>
              <a:rPr sz="1200"/>
              <a:t>Pod: demo-dc1-default-sts-1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C6C6C6"/>
                </a:solidFill>
                <a:latin typeface="Calibri"/>
              </a:defRPr>
            </a:pPr>
            <a:r>
              <a:rPr sz="1100"/>
              <a:t>Containers: cassandra, server-system-log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C6C6C6"/>
                </a:solidFill>
                <a:latin typeface="Calibri"/>
              </a:defRPr>
            </a:pPr>
            <a:r>
              <a:rPr sz="1100"/>
              <a:t>PVC: 5Gi ebs-gp3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C6C6C6"/>
                </a:solidFill>
                <a:latin typeface="Calibri"/>
              </a:defRPr>
            </a:pPr>
            <a:r>
              <a:rPr sz="1100"/>
              <a:t>Port: 9042 (CQL)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046719" y="2743200"/>
            <a:ext cx="3474720" cy="868680"/>
          </a:xfrm>
          <a:prstGeom prst="rect">
            <a:avLst/>
          </a:prstGeom>
          <a:solidFill>
            <a:srgbClr val="2A2A2A"/>
          </a:solidFill>
          <a:ln w="12700">
            <a:solidFill>
              <a:srgbClr val="119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45720" bIns="36576" rtlCol="0" anchor="ctr"/>
          <a:lstStyle/>
          <a:p>
            <a:pPr algn="ctr">
              <a:spcAft>
                <a:spcPts val="200"/>
              </a:spcAft>
              <a:defRPr sz="900" b="1">
                <a:solidFill>
                  <a:srgbClr val="1192E8"/>
                </a:solidFill>
                <a:latin typeface="Calibri"/>
              </a:defRPr>
            </a:pPr>
            <a:r>
              <a:rPr sz="1200"/>
              <a:t>Pod: demo-dc1-default-sts-2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C6C6C6"/>
                </a:solidFill>
                <a:latin typeface="Calibri"/>
              </a:defRPr>
            </a:pPr>
            <a:r>
              <a:rPr sz="1100"/>
              <a:t>Containers: cassandra, server-system-log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C6C6C6"/>
                </a:solidFill>
                <a:latin typeface="Calibri"/>
              </a:defRPr>
            </a:pPr>
            <a:r>
              <a:rPr sz="1100"/>
              <a:t>PVC: 5Gi ebs-gp3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C6C6C6"/>
                </a:solidFill>
                <a:latin typeface="Calibri"/>
              </a:defRPr>
            </a:pPr>
            <a:r>
              <a:rPr sz="1100"/>
              <a:t>Port: 9042 (CQL)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3840480"/>
            <a:ext cx="4206240" cy="868680"/>
          </a:xfrm>
          <a:prstGeom prst="rect">
            <a:avLst/>
          </a:prstGeom>
          <a:solidFill>
            <a:srgbClr val="2A2A2A"/>
          </a:solidFill>
          <a:ln w="12700">
            <a:solidFill>
              <a:srgbClr val="24A1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45720" bIns="36576" rtlCol="0" anchor="ctr"/>
          <a:lstStyle/>
          <a:p>
            <a:pPr algn="ctr">
              <a:spcAft>
                <a:spcPts val="200"/>
              </a:spcAft>
              <a:defRPr sz="1000" b="1">
                <a:solidFill>
                  <a:srgbClr val="24A148"/>
                </a:solidFill>
                <a:latin typeface="Calibri"/>
              </a:defRPr>
            </a:pPr>
            <a:r>
              <a:rPr sz="1400"/>
              <a:t>easy-cass-mcp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C6C6C6"/>
                </a:solidFill>
                <a:latin typeface="Calibri"/>
              </a:defRPr>
            </a:pPr>
            <a:r>
              <a:rPr sz="1100"/>
              <a:t>1 replica  |  Port 8000 (HTTP/SSE)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C6C6C6"/>
                </a:solidFill>
                <a:latin typeface="Calibri"/>
              </a:defRPr>
            </a:pPr>
            <a:r>
              <a:rPr sz="1100"/>
              <a:t>FASTMCP_SERVER_HOST=0.0.0.0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C6C6C6"/>
                </a:solidFill>
                <a:latin typeface="Calibri"/>
              </a:defRPr>
            </a:pPr>
            <a:r>
              <a:rPr sz="1100"/>
              <a:t>Creds: demo-superuser Secret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0" y="3840480"/>
            <a:ext cx="3840480" cy="868680"/>
          </a:xfrm>
          <a:prstGeom prst="rect">
            <a:avLst/>
          </a:prstGeom>
          <a:solidFill>
            <a:srgbClr val="2A2A2A"/>
          </a:solidFill>
          <a:ln w="12700">
            <a:solidFill>
              <a:srgbClr val="4A4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45720" bIns="36576" rtlCol="0" anchor="ctr"/>
          <a:lstStyle/>
          <a:p>
            <a:pPr algn="ctr">
              <a:spcAft>
                <a:spcPts val="200"/>
              </a:spcAft>
              <a:defRPr sz="1000" b="1">
                <a:solidFill>
                  <a:srgbClr val="C6C6C6"/>
                </a:solidFill>
                <a:latin typeface="Calibri"/>
              </a:defRPr>
            </a:pPr>
            <a:r>
              <a:rPr sz="1400"/>
              <a:t>nosqlbench-load  (Job)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C6C6C6"/>
                </a:solidFill>
                <a:latin typeface="Calibri"/>
              </a:defRPr>
            </a:pPr>
            <a:r>
              <a:rPr sz="1100"/>
              <a:t>ConfigMap-mounted workload YAML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C6C6C6"/>
                </a:solidFill>
                <a:latin typeface="Calibri"/>
              </a:defRPr>
            </a:pPr>
            <a:r>
              <a:rPr sz="1100"/>
              <a:t>Phases: schema / rampup / main  (1h @ 100k ops/sec)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C6C6C6"/>
                </a:solidFill>
                <a:latin typeface="Calibri"/>
              </a:defRPr>
            </a:pPr>
            <a:r>
              <a:rPr sz="1100"/>
              <a:t>threads=400, errors=count, anti-affinity vs cassandra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26880" y="3840480"/>
            <a:ext cx="2286000" cy="22860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900" b="1">
                <a:solidFill>
                  <a:srgbClr val="C6C6C6"/>
                </a:solidFill>
                <a:latin typeface="Calibri"/>
              </a:defRPr>
            </a:pPr>
            <a:r>
              <a:rPr sz="1200"/>
              <a:t>Webhook Services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26880" y="4114800"/>
            <a:ext cx="2286000" cy="394470"/>
          </a:xfrm>
          <a:prstGeom prst="rect">
            <a:avLst/>
          </a:prstGeom>
          <a:solidFill>
            <a:srgbClr val="2A2A2A"/>
          </a:solidFill>
          <a:ln w="12700">
            <a:solidFill>
              <a:srgbClr val="4A4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45720" bIns="36576" rtlCol="0" anchor="ctr"/>
          <a:lstStyle/>
          <a:p>
            <a:pPr algn="ctr">
              <a:spcAft>
                <a:spcPts val="200"/>
              </a:spcAft>
              <a:defRPr sz="800" b="1">
                <a:solidFill>
                  <a:srgbClr val="C6C6C6"/>
                </a:solidFill>
                <a:latin typeface="Calibri"/>
              </a:defRPr>
            </a:pPr>
            <a:r>
              <a:rPr sz="1100" dirty="0"/>
              <a:t>k8ssandra-operator-webhook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700">
                <a:solidFill>
                  <a:srgbClr val="C6C6C6"/>
                </a:solidFill>
                <a:latin typeface="Calibri"/>
              </a:defRPr>
            </a:pPr>
            <a:r>
              <a:rPr sz="1050" dirty="0"/>
              <a:t>:443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326880" y="4509270"/>
            <a:ext cx="2286000" cy="428489"/>
          </a:xfrm>
          <a:prstGeom prst="rect">
            <a:avLst/>
          </a:prstGeom>
          <a:solidFill>
            <a:srgbClr val="2A2A2A"/>
          </a:solidFill>
          <a:ln w="12700">
            <a:solidFill>
              <a:srgbClr val="4A4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45720" bIns="36576" rtlCol="0" anchor="ctr"/>
          <a:lstStyle/>
          <a:p>
            <a:pPr algn="ctr">
              <a:spcAft>
                <a:spcPts val="200"/>
              </a:spcAft>
              <a:defRPr sz="800" b="1">
                <a:solidFill>
                  <a:srgbClr val="C6C6C6"/>
                </a:solidFill>
                <a:latin typeface="Calibri"/>
              </a:defRPr>
            </a:pPr>
            <a:r>
              <a:rPr sz="1100" dirty="0" err="1"/>
              <a:t>cass</a:t>
            </a:r>
            <a:r>
              <a:rPr sz="1100" dirty="0"/>
              <a:t>-operator-webhook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700">
                <a:solidFill>
                  <a:srgbClr val="C6C6C6"/>
                </a:solidFill>
                <a:latin typeface="Calibri"/>
              </a:defRPr>
            </a:pPr>
            <a:r>
              <a:rPr sz="1050" dirty="0"/>
              <a:t>:443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5623560"/>
            <a:ext cx="5303520" cy="960120"/>
          </a:xfrm>
          <a:prstGeom prst="rect">
            <a:avLst/>
          </a:prstGeom>
          <a:solidFill>
            <a:srgbClr val="262626"/>
          </a:solidFill>
          <a:ln w="12700">
            <a:solidFill>
              <a:srgbClr val="009D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/>
          </a:p>
        </p:txBody>
      </p:sp>
      <p:sp>
        <p:nvSpPr>
          <p:cNvPr id="19" name="TextBox 18"/>
          <p:cNvSpPr txBox="1"/>
          <p:nvPr/>
        </p:nvSpPr>
        <p:spPr>
          <a:xfrm>
            <a:off x="548640" y="5669280"/>
            <a:ext cx="3200400" cy="22860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1000" b="1">
                <a:solidFill>
                  <a:srgbClr val="009D9A"/>
                </a:solidFill>
                <a:latin typeface="Calibri"/>
              </a:defRPr>
            </a:pPr>
            <a:r>
              <a:rPr sz="1400"/>
              <a:t>Namespace: cert-manager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5943600"/>
            <a:ext cx="1508760" cy="502920"/>
          </a:xfrm>
          <a:prstGeom prst="rect">
            <a:avLst/>
          </a:prstGeom>
          <a:solidFill>
            <a:srgbClr val="2A2A2A"/>
          </a:solidFill>
          <a:ln w="12700">
            <a:solidFill>
              <a:srgbClr val="4A4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45720" bIns="36576" rtlCol="0" anchor="ctr"/>
          <a:lstStyle/>
          <a:p>
            <a:pPr algn="ctr">
              <a:spcAft>
                <a:spcPts val="200"/>
              </a:spcAft>
              <a:defRPr sz="900" b="1">
                <a:solidFill>
                  <a:srgbClr val="FFFFFF"/>
                </a:solidFill>
                <a:latin typeface="Calibri"/>
              </a:defRPr>
            </a:pPr>
            <a:r>
              <a:rPr sz="1200"/>
              <a:t>cert-manager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700">
                <a:solidFill>
                  <a:srgbClr val="C6C6C6"/>
                </a:solidFill>
                <a:latin typeface="Calibri"/>
              </a:defRPr>
            </a:pPr>
            <a:r>
              <a:rPr sz="1050"/>
              <a:t>TLS certs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194560" y="5943600"/>
            <a:ext cx="1508760" cy="502920"/>
          </a:xfrm>
          <a:prstGeom prst="rect">
            <a:avLst/>
          </a:prstGeom>
          <a:solidFill>
            <a:srgbClr val="2A2A2A"/>
          </a:solidFill>
          <a:ln w="12700">
            <a:solidFill>
              <a:srgbClr val="4A4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45720" bIns="36576" rtlCol="0" anchor="ctr"/>
          <a:lstStyle/>
          <a:p>
            <a:pPr algn="ctr">
              <a:spcAft>
                <a:spcPts val="200"/>
              </a:spcAft>
              <a:defRPr sz="900" b="1">
                <a:solidFill>
                  <a:srgbClr val="FFFFFF"/>
                </a:solidFill>
                <a:latin typeface="Calibri"/>
              </a:defRPr>
            </a:pPr>
            <a:r>
              <a:rPr sz="1200"/>
              <a:t>cainjector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700">
                <a:solidFill>
                  <a:srgbClr val="C6C6C6"/>
                </a:solidFill>
                <a:latin typeface="Calibri"/>
              </a:defRPr>
            </a:pPr>
            <a:r>
              <a:rPr sz="1050"/>
              <a:t>CA bundles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840480" y="5943600"/>
            <a:ext cx="1508760" cy="502920"/>
          </a:xfrm>
          <a:prstGeom prst="rect">
            <a:avLst/>
          </a:prstGeom>
          <a:solidFill>
            <a:srgbClr val="2A2A2A"/>
          </a:solidFill>
          <a:ln w="12700">
            <a:solidFill>
              <a:srgbClr val="4A4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45720" bIns="36576" rtlCol="0" anchor="ctr"/>
          <a:lstStyle/>
          <a:p>
            <a:pPr algn="ctr">
              <a:spcAft>
                <a:spcPts val="200"/>
              </a:spcAft>
              <a:defRPr sz="900" b="1">
                <a:solidFill>
                  <a:srgbClr val="FFFFFF"/>
                </a:solidFill>
                <a:latin typeface="Calibri"/>
              </a:defRPr>
            </a:pPr>
            <a:r>
              <a:rPr sz="1200"/>
              <a:t>webhook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700">
                <a:solidFill>
                  <a:srgbClr val="C6C6C6"/>
                </a:solidFill>
                <a:latin typeface="Calibri"/>
              </a:defRPr>
            </a:pPr>
            <a:r>
              <a:rPr sz="1050"/>
              <a:t>Validates CRs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943600" y="5623560"/>
            <a:ext cx="6147680" cy="960120"/>
          </a:xfrm>
          <a:prstGeom prst="rect">
            <a:avLst/>
          </a:prstGeom>
          <a:solidFill>
            <a:srgbClr val="262626"/>
          </a:solidFill>
          <a:ln w="12700">
            <a:solidFill>
              <a:srgbClr val="009D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/>
          </a:p>
        </p:txBody>
      </p:sp>
      <p:sp>
        <p:nvSpPr>
          <p:cNvPr id="24" name="TextBox 23"/>
          <p:cNvSpPr txBox="1"/>
          <p:nvPr/>
        </p:nvSpPr>
        <p:spPr>
          <a:xfrm>
            <a:off x="6126480" y="5669280"/>
            <a:ext cx="3200400" cy="22860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1000" b="1">
                <a:solidFill>
                  <a:srgbClr val="009D9A"/>
                </a:solidFill>
                <a:latin typeface="Calibri"/>
              </a:defRPr>
            </a:pPr>
            <a:r>
              <a:rPr sz="1400"/>
              <a:t>Namespace: kube-system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26480" y="5943600"/>
            <a:ext cx="909600" cy="502920"/>
          </a:xfrm>
          <a:prstGeom prst="rect">
            <a:avLst/>
          </a:prstGeom>
          <a:solidFill>
            <a:srgbClr val="2A2A2A"/>
          </a:solidFill>
          <a:ln w="12700">
            <a:solidFill>
              <a:srgbClr val="4A4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45720" bIns="36576" rtlCol="0" anchor="ctr"/>
          <a:lstStyle/>
          <a:p>
            <a:pPr algn="ctr">
              <a:spcAft>
                <a:spcPts val="200"/>
              </a:spcAft>
              <a:defRPr sz="800" b="1">
                <a:solidFill>
                  <a:srgbClr val="FFFFFF"/>
                </a:solidFill>
                <a:latin typeface="Calibri"/>
              </a:defRPr>
            </a:pPr>
            <a:r>
              <a:rPr sz="1100"/>
              <a:t>aws-node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700">
                <a:solidFill>
                  <a:srgbClr val="C6C6C6"/>
                </a:solidFill>
                <a:latin typeface="Calibri"/>
              </a:defRPr>
            </a:pPr>
            <a:r>
              <a:rPr sz="1050"/>
              <a:t>x3 DaemonSet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127520" y="5943600"/>
            <a:ext cx="909600" cy="502920"/>
          </a:xfrm>
          <a:prstGeom prst="rect">
            <a:avLst/>
          </a:prstGeom>
          <a:solidFill>
            <a:srgbClr val="2A2A2A"/>
          </a:solidFill>
          <a:ln w="12700">
            <a:solidFill>
              <a:srgbClr val="4A4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45720" bIns="36576" rtlCol="0" anchor="ctr"/>
          <a:lstStyle/>
          <a:p>
            <a:pPr algn="ctr">
              <a:spcAft>
                <a:spcPts val="200"/>
              </a:spcAft>
              <a:defRPr sz="800" b="1">
                <a:solidFill>
                  <a:srgbClr val="FFFFFF"/>
                </a:solidFill>
                <a:latin typeface="Calibri"/>
              </a:defRPr>
            </a:pPr>
            <a:r>
              <a:rPr sz="1100"/>
              <a:t>kube-proxy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700">
                <a:solidFill>
                  <a:srgbClr val="C6C6C6"/>
                </a:solidFill>
                <a:latin typeface="Calibri"/>
              </a:defRPr>
            </a:pPr>
            <a:r>
              <a:rPr sz="1050"/>
              <a:t>x3 iptables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128560" y="5943600"/>
            <a:ext cx="909600" cy="502920"/>
          </a:xfrm>
          <a:prstGeom prst="rect">
            <a:avLst/>
          </a:prstGeom>
          <a:solidFill>
            <a:srgbClr val="2A2A2A"/>
          </a:solidFill>
          <a:ln w="12700">
            <a:solidFill>
              <a:srgbClr val="4A4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45720" bIns="36576" rtlCol="0" anchor="ctr"/>
          <a:lstStyle/>
          <a:p>
            <a:pPr algn="ctr">
              <a:spcAft>
                <a:spcPts val="200"/>
              </a:spcAft>
              <a:defRPr sz="800" b="1">
                <a:solidFill>
                  <a:srgbClr val="FFFFFF"/>
                </a:solidFill>
                <a:latin typeface="Calibri"/>
              </a:defRPr>
            </a:pPr>
            <a:r>
              <a:rPr sz="1100"/>
              <a:t>coredns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700">
                <a:solidFill>
                  <a:srgbClr val="C6C6C6"/>
                </a:solidFill>
                <a:latin typeface="Calibri"/>
              </a:defRPr>
            </a:pPr>
            <a:r>
              <a:rPr sz="1050"/>
              <a:t>x2 DNS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129600" y="5943600"/>
            <a:ext cx="909600" cy="502920"/>
          </a:xfrm>
          <a:prstGeom prst="rect">
            <a:avLst/>
          </a:prstGeom>
          <a:solidFill>
            <a:srgbClr val="2A2A2A"/>
          </a:solidFill>
          <a:ln w="12700">
            <a:solidFill>
              <a:srgbClr val="4A4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45720" bIns="36576" rtlCol="0" anchor="ctr"/>
          <a:lstStyle/>
          <a:p>
            <a:pPr algn="ctr">
              <a:spcAft>
                <a:spcPts val="200"/>
              </a:spcAft>
              <a:defRPr sz="800" b="1">
                <a:solidFill>
                  <a:srgbClr val="FFFFFF"/>
                </a:solidFill>
                <a:latin typeface="Calibri"/>
              </a:defRPr>
            </a:pPr>
            <a:r>
              <a:rPr sz="1100"/>
              <a:t>ebs-csi-ctrl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700">
                <a:solidFill>
                  <a:srgbClr val="C6C6C6"/>
                </a:solidFill>
                <a:latin typeface="Calibri"/>
              </a:defRPr>
            </a:pPr>
            <a:r>
              <a:rPr sz="1050"/>
              <a:t>x2 IRSA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130640" y="5943600"/>
            <a:ext cx="909600" cy="502920"/>
          </a:xfrm>
          <a:prstGeom prst="rect">
            <a:avLst/>
          </a:prstGeom>
          <a:solidFill>
            <a:srgbClr val="2A2A2A"/>
          </a:solidFill>
          <a:ln w="12700">
            <a:solidFill>
              <a:srgbClr val="4A4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45720" bIns="36576" rtlCol="0" anchor="ctr"/>
          <a:lstStyle/>
          <a:p>
            <a:pPr algn="ctr">
              <a:spcAft>
                <a:spcPts val="200"/>
              </a:spcAft>
              <a:defRPr sz="800" b="1">
                <a:solidFill>
                  <a:srgbClr val="FFFFFF"/>
                </a:solidFill>
                <a:latin typeface="Calibri"/>
              </a:defRPr>
            </a:pPr>
            <a:r>
              <a:rPr sz="1100"/>
              <a:t>ebs-csi-node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700">
                <a:solidFill>
                  <a:srgbClr val="C6C6C6"/>
                </a:solidFill>
                <a:latin typeface="Calibri"/>
              </a:defRPr>
            </a:pPr>
            <a:r>
              <a:rPr sz="1050"/>
              <a:t>x3 DaemonSet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1131680" y="5943600"/>
            <a:ext cx="909600" cy="502920"/>
          </a:xfrm>
          <a:prstGeom prst="rect">
            <a:avLst/>
          </a:prstGeom>
          <a:solidFill>
            <a:srgbClr val="2A2A2A"/>
          </a:solidFill>
          <a:ln w="12700">
            <a:solidFill>
              <a:srgbClr val="4A4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45720" bIns="36576" rtlCol="0" anchor="ctr"/>
          <a:lstStyle/>
          <a:p>
            <a:pPr algn="ctr">
              <a:spcAft>
                <a:spcPts val="200"/>
              </a:spcAft>
              <a:defRPr sz="800" b="1">
                <a:solidFill>
                  <a:srgbClr val="FFFFFF"/>
                </a:solidFill>
                <a:latin typeface="Calibri"/>
              </a:defRPr>
            </a:pPr>
            <a:r>
              <a:rPr sz="1000"/>
              <a:t>metrics-server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700">
                <a:solidFill>
                  <a:srgbClr val="C6C6C6"/>
                </a:solidFill>
                <a:latin typeface="Calibri"/>
              </a:defRPr>
            </a:pPr>
            <a:r>
              <a:rPr sz="1050"/>
              <a:t>kubectl top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16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731520" y="365760"/>
            <a:ext cx="54864" cy="411480"/>
          </a:xfrm>
          <a:prstGeom prst="rect">
            <a:avLst/>
          </a:prstGeom>
          <a:solidFill>
            <a:srgbClr val="0F6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3" name="TextBox 2"/>
          <p:cNvSpPr txBox="1"/>
          <p:nvPr/>
        </p:nvSpPr>
        <p:spPr>
          <a:xfrm>
            <a:off x="960120" y="365760"/>
            <a:ext cx="9144000" cy="50292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Data Flow &amp; Deployment Pipeline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60120"/>
            <a:ext cx="7315200" cy="27432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1300" b="1">
                <a:solidFill>
                  <a:srgbClr val="78A9FF"/>
                </a:solidFill>
                <a:latin typeface="Calibri"/>
              </a:defRPr>
            </a:pPr>
            <a:r>
              <a:t>Data Flow: Claude Desktop to Cassandra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71600"/>
            <a:ext cx="2011680" cy="777240"/>
          </a:xfrm>
          <a:prstGeom prst="rect">
            <a:avLst/>
          </a:prstGeom>
          <a:solidFill>
            <a:srgbClr val="2A2A2A"/>
          </a:solidFill>
          <a:ln w="12700">
            <a:solidFill>
              <a:srgbClr val="0F62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45720" bIns="36576" rtlCol="0" anchor="ctr"/>
          <a:lstStyle/>
          <a:p>
            <a:pPr algn="ctr">
              <a:spcAft>
                <a:spcPts val="200"/>
              </a:spcAft>
              <a:defRPr sz="1100" b="1">
                <a:solidFill>
                  <a:srgbClr val="78A9FF"/>
                </a:solidFill>
                <a:latin typeface="Calibri"/>
              </a:defRPr>
            </a:pPr>
            <a:r>
              <a:rPr sz="1600"/>
              <a:t>Claude Desktop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C6C6C6"/>
                </a:solidFill>
                <a:latin typeface="Calibri"/>
              </a:defRPr>
            </a:pPr>
            <a:r>
              <a:rPr sz="1050"/>
              <a:t>macOS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C6C6C6"/>
                </a:solidFill>
                <a:latin typeface="Calibri"/>
              </a:defRPr>
            </a:pPr>
            <a:r>
              <a:rPr sz="1050"/>
              <a:t>MCP Client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97480" y="1965960"/>
            <a:ext cx="548640" cy="18288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ctr">
              <a:defRPr sz="700" b="0">
                <a:solidFill>
                  <a:srgbClr val="C6C6C6"/>
                </a:solidFill>
                <a:latin typeface="Calibri"/>
              </a:defRPr>
            </a:pPr>
            <a:r>
              <a:rPr sz="1000"/>
              <a:t>stdio</a:t>
            </a:r>
          </a:p>
        </p:txBody>
      </p:sp>
      <p:sp>
        <p:nvSpPr>
          <p:cNvPr id="7" name="Rectangle 6"/>
          <p:cNvSpPr/>
          <p:nvPr/>
        </p:nvSpPr>
        <p:spPr>
          <a:xfrm>
            <a:off x="2651760" y="1691640"/>
            <a:ext cx="749808" cy="36576"/>
          </a:xfrm>
          <a:prstGeom prst="rect">
            <a:avLst/>
          </a:prstGeom>
          <a:solidFill>
            <a:srgbClr val="78A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8" name="Isosceles Triangle 7"/>
          <p:cNvSpPr/>
          <p:nvPr/>
        </p:nvSpPr>
        <p:spPr>
          <a:xfrm rot="5400000">
            <a:off x="3364991" y="1655064"/>
            <a:ext cx="109728" cy="109728"/>
          </a:xfrm>
          <a:prstGeom prst="triangle">
            <a:avLst/>
          </a:prstGeom>
          <a:solidFill>
            <a:srgbClr val="78A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9" name="Rectangle 8"/>
          <p:cNvSpPr/>
          <p:nvPr/>
        </p:nvSpPr>
        <p:spPr>
          <a:xfrm>
            <a:off x="3566160" y="1371600"/>
            <a:ext cx="1828800" cy="777240"/>
          </a:xfrm>
          <a:prstGeom prst="rect">
            <a:avLst/>
          </a:prstGeom>
          <a:solidFill>
            <a:srgbClr val="2A2A2A"/>
          </a:solidFill>
          <a:ln w="12700">
            <a:solidFill>
              <a:srgbClr val="4A4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45720" bIns="36576" rtlCol="0" anchor="ctr"/>
          <a:lstStyle/>
          <a:p>
            <a:pPr algn="ctr">
              <a:spcAft>
                <a:spcPts val="200"/>
              </a:spcAft>
              <a:defRPr sz="1000" b="1">
                <a:solidFill>
                  <a:srgbClr val="FFFFFF"/>
                </a:solidFill>
                <a:latin typeface="Calibri"/>
              </a:defRPr>
            </a:pPr>
            <a:r>
              <a:rPr sz="1200"/>
              <a:t>npx mcp-remote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C6C6C6"/>
                </a:solidFill>
                <a:latin typeface="Calibri"/>
              </a:defRPr>
            </a:pPr>
            <a:r>
              <a:rPr sz="1050"/>
              <a:t>stdio bridge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532120" y="1965960"/>
            <a:ext cx="548640" cy="18288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ctr">
              <a:defRPr sz="700" b="0">
                <a:solidFill>
                  <a:srgbClr val="C6C6C6"/>
                </a:solidFill>
                <a:latin typeface="Calibri"/>
              </a:defRPr>
            </a:pPr>
            <a:r>
              <a:rPr sz="1000"/>
              <a:t>HTTP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0" y="1691640"/>
            <a:ext cx="749808" cy="36576"/>
          </a:xfrm>
          <a:prstGeom prst="rect">
            <a:avLst/>
          </a:prstGeom>
          <a:solidFill>
            <a:srgbClr val="1192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12" name="Isosceles Triangle 11"/>
          <p:cNvSpPr/>
          <p:nvPr/>
        </p:nvSpPr>
        <p:spPr>
          <a:xfrm rot="5400000">
            <a:off x="6199632" y="1655064"/>
            <a:ext cx="109728" cy="109728"/>
          </a:xfrm>
          <a:prstGeom prst="triangle">
            <a:avLst/>
          </a:prstGeom>
          <a:solidFill>
            <a:srgbClr val="1192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13" name="Rectangle 12"/>
          <p:cNvSpPr/>
          <p:nvPr/>
        </p:nvSpPr>
        <p:spPr>
          <a:xfrm>
            <a:off x="6400800" y="1371600"/>
            <a:ext cx="2103120" cy="777240"/>
          </a:xfrm>
          <a:prstGeom prst="rect">
            <a:avLst/>
          </a:prstGeom>
          <a:solidFill>
            <a:srgbClr val="2A2A2A"/>
          </a:solidFill>
          <a:ln w="12700">
            <a:solidFill>
              <a:srgbClr val="119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45720" bIns="36576" rtlCol="0" anchor="ctr"/>
          <a:lstStyle/>
          <a:p>
            <a:pPr algn="ctr">
              <a:spcAft>
                <a:spcPts val="200"/>
              </a:spcAft>
              <a:defRPr sz="1000" b="1">
                <a:solidFill>
                  <a:srgbClr val="1192E8"/>
                </a:solidFill>
                <a:latin typeface="Calibri"/>
              </a:defRPr>
            </a:pPr>
            <a:r>
              <a:rPr sz="1200"/>
              <a:t>Internet-Facing NLB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C6C6C6"/>
                </a:solidFill>
                <a:latin typeface="Calibri"/>
              </a:defRPr>
            </a:pPr>
            <a:r>
              <a:rPr sz="1050"/>
              <a:t>Port 8000 (TCP)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2377440"/>
            <a:ext cx="11064240" cy="1188720"/>
          </a:xfrm>
          <a:prstGeom prst="rect">
            <a:avLst/>
          </a:prstGeom>
          <a:solidFill>
            <a:srgbClr val="262626"/>
          </a:solidFill>
          <a:ln w="12700">
            <a:solidFill>
              <a:srgbClr val="0F62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15" name="TextBox 14"/>
          <p:cNvSpPr txBox="1"/>
          <p:nvPr/>
        </p:nvSpPr>
        <p:spPr>
          <a:xfrm>
            <a:off x="731520" y="2404872"/>
            <a:ext cx="1828800" cy="22860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1000" b="1">
                <a:solidFill>
                  <a:srgbClr val="78A9FF"/>
                </a:solidFill>
                <a:latin typeface="Calibri"/>
              </a:defRPr>
            </a:pPr>
            <a:r>
              <a:rPr sz="1200"/>
              <a:t>EKS Cluster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15200" y="2176272"/>
            <a:ext cx="36576" cy="246887"/>
          </a:xfrm>
          <a:prstGeom prst="rect">
            <a:avLst/>
          </a:prstGeom>
          <a:solidFill>
            <a:srgbClr val="1192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17" name="Isosceles Triangle 16"/>
          <p:cNvSpPr/>
          <p:nvPr/>
        </p:nvSpPr>
        <p:spPr>
          <a:xfrm rot="10800000">
            <a:off x="7278624" y="2386584"/>
            <a:ext cx="109728" cy="109728"/>
          </a:xfrm>
          <a:prstGeom prst="triangle">
            <a:avLst/>
          </a:prstGeom>
          <a:solidFill>
            <a:srgbClr val="1192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18" name="Rectangle 17"/>
          <p:cNvSpPr/>
          <p:nvPr/>
        </p:nvSpPr>
        <p:spPr>
          <a:xfrm>
            <a:off x="5943600" y="2651760"/>
            <a:ext cx="2743200" cy="731520"/>
          </a:xfrm>
          <a:prstGeom prst="rect">
            <a:avLst/>
          </a:prstGeom>
          <a:solidFill>
            <a:srgbClr val="2A2A2A"/>
          </a:solidFill>
          <a:ln w="12700">
            <a:solidFill>
              <a:srgbClr val="24A1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45720" bIns="36576" rtlCol="0" anchor="ctr"/>
          <a:lstStyle/>
          <a:p>
            <a:pPr algn="ctr">
              <a:spcAft>
                <a:spcPts val="200"/>
              </a:spcAft>
              <a:defRPr sz="1000" b="1">
                <a:solidFill>
                  <a:srgbClr val="24A148"/>
                </a:solidFill>
                <a:latin typeface="Calibri"/>
              </a:defRPr>
            </a:pPr>
            <a:r>
              <a:rPr sz="1200"/>
              <a:t>easy-cass-mcp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C6C6C6"/>
                </a:solidFill>
                <a:latin typeface="Calibri"/>
              </a:defRPr>
            </a:pPr>
            <a:r>
              <a:rPr sz="1050"/>
              <a:t>Port 8000  |  MCP Server (SSE)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C6C6C6"/>
                </a:solidFill>
                <a:latin typeface="Calibri"/>
              </a:defRPr>
            </a:pPr>
            <a:r>
              <a:rPr sz="1050"/>
              <a:t>Creds: demo-superuser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31520" y="2651760"/>
            <a:ext cx="3200400" cy="731520"/>
          </a:xfrm>
          <a:prstGeom prst="rect">
            <a:avLst/>
          </a:prstGeom>
          <a:solidFill>
            <a:srgbClr val="2A2A2A"/>
          </a:solidFill>
          <a:ln w="12700">
            <a:solidFill>
              <a:srgbClr val="119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45720" bIns="36576" rtlCol="0" anchor="ctr"/>
          <a:lstStyle/>
          <a:p>
            <a:pPr algn="ctr">
              <a:spcAft>
                <a:spcPts val="200"/>
              </a:spcAft>
              <a:defRPr sz="1000" b="1">
                <a:solidFill>
                  <a:srgbClr val="1192E8"/>
                </a:solidFill>
                <a:latin typeface="Calibri"/>
              </a:defRPr>
            </a:pPr>
            <a:r>
              <a:rPr sz="1200"/>
              <a:t>Cassandra Ring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C6C6C6"/>
                </a:solidFill>
                <a:latin typeface="Calibri"/>
              </a:defRPr>
            </a:pPr>
            <a:r>
              <a:rPr sz="1050"/>
              <a:t>sts-0 / sts-1 / sts-2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C6C6C6"/>
                </a:solidFill>
                <a:latin typeface="Calibri"/>
              </a:defRPr>
            </a:pPr>
            <a:r>
              <a:rPr sz="1050"/>
              <a:t>RF=3, DC=dc1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C6C6C6"/>
                </a:solidFill>
                <a:latin typeface="Calibri"/>
              </a:defRPr>
            </a:pPr>
            <a:r>
              <a:rPr sz="1050"/>
              <a:t>Headless: demo-dc1-all-pods-svc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3246120"/>
            <a:ext cx="1097280" cy="18288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ctr">
              <a:defRPr sz="700" b="0">
                <a:solidFill>
                  <a:srgbClr val="C6C6C6"/>
                </a:solidFill>
                <a:latin typeface="Calibri"/>
              </a:defRPr>
            </a:pPr>
            <a:r>
              <a:rPr sz="1000"/>
              <a:t>CQL 9042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160520" y="2971800"/>
            <a:ext cx="1554480" cy="36576"/>
          </a:xfrm>
          <a:prstGeom prst="rect">
            <a:avLst/>
          </a:prstGeom>
          <a:solidFill>
            <a:srgbClr val="009D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22" name="Isosceles Triangle 21"/>
          <p:cNvSpPr/>
          <p:nvPr/>
        </p:nvSpPr>
        <p:spPr>
          <a:xfrm rot="16200000">
            <a:off x="4005072" y="2935224"/>
            <a:ext cx="109728" cy="109728"/>
          </a:xfrm>
          <a:prstGeom prst="triangle">
            <a:avLst/>
          </a:prstGeom>
          <a:solidFill>
            <a:srgbClr val="009D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23" name="TextBox 22"/>
          <p:cNvSpPr txBox="1"/>
          <p:nvPr/>
        </p:nvSpPr>
        <p:spPr>
          <a:xfrm>
            <a:off x="731520" y="3840480"/>
            <a:ext cx="5486400" cy="27432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1300" b="1">
                <a:solidFill>
                  <a:srgbClr val="78A9FF"/>
                </a:solidFill>
                <a:latin typeface="Calibri"/>
              </a:defRPr>
            </a:pPr>
            <a:r>
              <a:t>Deployment Pipeline (deploy.sh)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4069080"/>
            <a:ext cx="1562100" cy="22860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ctr">
              <a:defRPr sz="900" b="1">
                <a:solidFill>
                  <a:srgbClr val="C6C6C6"/>
                </a:solidFill>
                <a:latin typeface="Calibri"/>
              </a:defRPr>
            </a:pPr>
            <a:r>
              <a:rPr sz="1100"/>
              <a:t>Step 1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" y="4343400"/>
            <a:ext cx="1562100" cy="822960"/>
          </a:xfrm>
          <a:prstGeom prst="rect">
            <a:avLst/>
          </a:prstGeom>
          <a:solidFill>
            <a:srgbClr val="2A2A2A"/>
          </a:solidFill>
          <a:ln w="12700">
            <a:solidFill>
              <a:srgbClr val="009D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45720" bIns="36576" rtlCol="0" anchor="ctr"/>
          <a:lstStyle/>
          <a:p>
            <a:pPr algn="ctr">
              <a:spcAft>
                <a:spcPts val="200"/>
              </a:spcAft>
              <a:defRPr sz="1000" b="1">
                <a:solidFill>
                  <a:srgbClr val="009D9A"/>
                </a:solidFill>
                <a:latin typeface="Calibri"/>
              </a:defRPr>
            </a:pPr>
            <a:r>
              <a:rPr sz="1200"/>
              <a:t>StorageClass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C6C6C6"/>
                </a:solidFill>
                <a:latin typeface="Calibri"/>
              </a:defRPr>
            </a:pPr>
            <a:r>
              <a:rPr sz="1050"/>
              <a:t>ebs-gp3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C6C6C6"/>
                </a:solidFill>
                <a:latin typeface="Calibri"/>
              </a:defRPr>
            </a:pPr>
            <a:r>
              <a:rPr sz="1050"/>
              <a:t>EBS CSI driver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5212080"/>
            <a:ext cx="1562100" cy="18288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ctr">
              <a:defRPr sz="800" b="0">
                <a:solidFill>
                  <a:srgbClr val="C6C6C6"/>
                </a:solidFill>
                <a:latin typeface="Calibri"/>
              </a:defRPr>
            </a:pPr>
            <a:r>
              <a:rPr sz="1050"/>
              <a:t>instant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129028" y="4709160"/>
            <a:ext cx="118872" cy="36576"/>
          </a:xfrm>
          <a:prstGeom prst="rect">
            <a:avLst/>
          </a:prstGeom>
          <a:solidFill>
            <a:srgbClr val="4A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28" name="Isosceles Triangle 27"/>
          <p:cNvSpPr/>
          <p:nvPr/>
        </p:nvSpPr>
        <p:spPr>
          <a:xfrm rot="5400000">
            <a:off x="2211324" y="4672584"/>
            <a:ext cx="109728" cy="109728"/>
          </a:xfrm>
          <a:prstGeom prst="triangle">
            <a:avLst/>
          </a:prstGeom>
          <a:solidFill>
            <a:srgbClr val="4A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29" name="TextBox 28"/>
          <p:cNvSpPr txBox="1"/>
          <p:nvPr/>
        </p:nvSpPr>
        <p:spPr>
          <a:xfrm>
            <a:off x="2339340" y="4069080"/>
            <a:ext cx="1562100" cy="22860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ctr">
              <a:defRPr sz="900" b="1">
                <a:solidFill>
                  <a:srgbClr val="C6C6C6"/>
                </a:solidFill>
                <a:latin typeface="Calibri"/>
              </a:defRPr>
            </a:pPr>
            <a:r>
              <a:rPr sz="1100"/>
              <a:t>Step 2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339340" y="4343400"/>
            <a:ext cx="1562100" cy="822960"/>
          </a:xfrm>
          <a:prstGeom prst="rect">
            <a:avLst/>
          </a:prstGeom>
          <a:solidFill>
            <a:srgbClr val="2A2A2A"/>
          </a:solidFill>
          <a:ln w="12700">
            <a:solidFill>
              <a:srgbClr val="8A3F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45720" bIns="36576" rtlCol="0" anchor="ctr"/>
          <a:lstStyle/>
          <a:p>
            <a:pPr algn="ctr">
              <a:spcAft>
                <a:spcPts val="200"/>
              </a:spcAft>
              <a:defRPr sz="1000" b="1">
                <a:solidFill>
                  <a:srgbClr val="8A3FFC"/>
                </a:solidFill>
                <a:latin typeface="Calibri"/>
              </a:defRPr>
            </a:pPr>
            <a:r>
              <a:rPr sz="1200"/>
              <a:t>cert-manager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C6C6C6"/>
                </a:solidFill>
                <a:latin typeface="Calibri"/>
              </a:defRPr>
            </a:pPr>
            <a:r>
              <a:rPr sz="1050"/>
              <a:t>Helm chart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C6C6C6"/>
                </a:solidFill>
                <a:latin typeface="Calibri"/>
              </a:defRPr>
            </a:pPr>
            <a:r>
              <a:rPr sz="1050"/>
              <a:t>ns: cert-manager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339340" y="5212080"/>
            <a:ext cx="1562100" cy="18288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ctr">
              <a:defRPr sz="800" b="0">
                <a:solidFill>
                  <a:srgbClr val="C6C6C6"/>
                </a:solidFill>
                <a:latin typeface="Calibri"/>
              </a:defRPr>
            </a:pPr>
            <a:r>
              <a:rPr sz="1050"/>
              <a:t>~2 min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919728" y="4709160"/>
            <a:ext cx="118872" cy="36576"/>
          </a:xfrm>
          <a:prstGeom prst="rect">
            <a:avLst/>
          </a:prstGeom>
          <a:solidFill>
            <a:srgbClr val="4A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33" name="Isosceles Triangle 32"/>
          <p:cNvSpPr/>
          <p:nvPr/>
        </p:nvSpPr>
        <p:spPr>
          <a:xfrm rot="5400000">
            <a:off x="4002024" y="4672584"/>
            <a:ext cx="109728" cy="109728"/>
          </a:xfrm>
          <a:prstGeom prst="triangle">
            <a:avLst/>
          </a:prstGeom>
          <a:solidFill>
            <a:srgbClr val="4A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100" name="TextBox 100"/>
          <p:cNvSpPr txBox="1"/>
          <p:nvPr/>
        </p:nvSpPr>
        <p:spPr>
          <a:xfrm>
            <a:off x="4130040" y="4069080"/>
            <a:ext cx="1562100" cy="22860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ctr">
              <a:defRPr sz="900" b="1">
                <a:solidFill>
                  <a:srgbClr val="C6C6C6"/>
                </a:solidFill>
                <a:latin typeface="Calibri"/>
              </a:defRPr>
            </a:pPr>
            <a:r>
              <a:rPr sz="1100"/>
              <a:t>Step 3</a:t>
            </a:r>
          </a:p>
        </p:txBody>
      </p:sp>
      <p:sp>
        <p:nvSpPr>
          <p:cNvPr id="101" name="Rectangle 101"/>
          <p:cNvSpPr/>
          <p:nvPr/>
        </p:nvSpPr>
        <p:spPr>
          <a:xfrm>
            <a:off x="4130040" y="4343400"/>
            <a:ext cx="1562100" cy="822960"/>
          </a:xfrm>
          <a:prstGeom prst="rect">
            <a:avLst/>
          </a:prstGeom>
          <a:solidFill>
            <a:srgbClr val="2A2A2A"/>
          </a:solidFill>
          <a:ln w="12700">
            <a:solidFill>
              <a:srgbClr val="8A3F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45720" bIns="36576" rtlCol="0" anchor="ctr"/>
          <a:lstStyle/>
          <a:p>
            <a:pPr algn="ctr">
              <a:spcAft>
                <a:spcPts val="200"/>
              </a:spcAft>
              <a:defRPr sz="1000" b="1">
                <a:solidFill>
                  <a:srgbClr val="8A3FFC"/>
                </a:solidFill>
                <a:latin typeface="Calibri"/>
              </a:defRPr>
            </a:pPr>
            <a:r>
              <a:rPr sz="1200"/>
              <a:t>metrics-server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C6C6C6"/>
                </a:solidFill>
                <a:latin typeface="Calibri"/>
              </a:defRPr>
            </a:pPr>
            <a:r>
              <a:rPr sz="1050"/>
              <a:t>Helm chart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C6C6C6"/>
                </a:solidFill>
                <a:latin typeface="Calibri"/>
              </a:defRPr>
            </a:pPr>
            <a:r>
              <a:rPr sz="1050"/>
              <a:t>ns: kube-system</a:t>
            </a:r>
          </a:p>
        </p:txBody>
      </p:sp>
      <p:sp>
        <p:nvSpPr>
          <p:cNvPr id="102" name="TextBox 102"/>
          <p:cNvSpPr txBox="1"/>
          <p:nvPr/>
        </p:nvSpPr>
        <p:spPr>
          <a:xfrm>
            <a:off x="4130040" y="5212080"/>
            <a:ext cx="1562100" cy="18288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ctr">
              <a:defRPr sz="800" b="0">
                <a:solidFill>
                  <a:srgbClr val="C6C6C6"/>
                </a:solidFill>
                <a:latin typeface="Calibri"/>
              </a:defRPr>
            </a:pPr>
            <a:r>
              <a:rPr sz="1050"/>
              <a:t>~2 min</a:t>
            </a:r>
          </a:p>
        </p:txBody>
      </p:sp>
      <p:sp>
        <p:nvSpPr>
          <p:cNvPr id="103" name="Rectangle 103"/>
          <p:cNvSpPr/>
          <p:nvPr/>
        </p:nvSpPr>
        <p:spPr>
          <a:xfrm>
            <a:off x="5710428" y="4709160"/>
            <a:ext cx="118872" cy="36576"/>
          </a:xfrm>
          <a:prstGeom prst="rect">
            <a:avLst/>
          </a:prstGeom>
          <a:solidFill>
            <a:srgbClr val="4A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104" name="Isosceles Triangle 104"/>
          <p:cNvSpPr/>
          <p:nvPr/>
        </p:nvSpPr>
        <p:spPr>
          <a:xfrm rot="5400000">
            <a:off x="5792724" y="4672584"/>
            <a:ext cx="109728" cy="109728"/>
          </a:xfrm>
          <a:prstGeom prst="triangle">
            <a:avLst/>
          </a:prstGeom>
          <a:solidFill>
            <a:srgbClr val="4A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34" name="TextBox 33"/>
          <p:cNvSpPr txBox="1"/>
          <p:nvPr/>
        </p:nvSpPr>
        <p:spPr>
          <a:xfrm>
            <a:off x="5920740" y="4069080"/>
            <a:ext cx="1562100" cy="22860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ctr">
              <a:defRPr sz="900" b="1">
                <a:solidFill>
                  <a:srgbClr val="C6C6C6"/>
                </a:solidFill>
                <a:latin typeface="Calibri"/>
              </a:defRPr>
            </a:pPr>
            <a:r>
              <a:rPr sz="1100"/>
              <a:t>Step 4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920740" y="4343400"/>
            <a:ext cx="1562100" cy="822960"/>
          </a:xfrm>
          <a:prstGeom prst="rect">
            <a:avLst/>
          </a:prstGeom>
          <a:solidFill>
            <a:srgbClr val="2A2A2A"/>
          </a:solidFill>
          <a:ln w="12700">
            <a:solidFill>
              <a:srgbClr val="8A3F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45720" bIns="36576" rtlCol="0" anchor="ctr"/>
          <a:lstStyle/>
          <a:p>
            <a:pPr algn="ctr">
              <a:spcAft>
                <a:spcPts val="200"/>
              </a:spcAft>
              <a:defRPr sz="1000" b="1">
                <a:solidFill>
                  <a:srgbClr val="8A3FFC"/>
                </a:solidFill>
                <a:latin typeface="Calibri"/>
              </a:defRPr>
            </a:pPr>
            <a:r>
              <a:rPr sz="1200"/>
              <a:t>k8ssandra-operator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C6C6C6"/>
                </a:solidFill>
                <a:latin typeface="Calibri"/>
              </a:defRPr>
            </a:pPr>
            <a:r>
              <a:rPr sz="1050"/>
              <a:t>Helm chart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C6C6C6"/>
                </a:solidFill>
                <a:latin typeface="Calibri"/>
              </a:defRPr>
            </a:pPr>
            <a:r>
              <a:rPr sz="1050"/>
              <a:t>ns: default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920740" y="5212080"/>
            <a:ext cx="1562100" cy="18288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ctr">
              <a:defRPr sz="800" b="0">
                <a:solidFill>
                  <a:srgbClr val="C6C6C6"/>
                </a:solidFill>
                <a:latin typeface="Calibri"/>
              </a:defRPr>
            </a:pPr>
            <a:r>
              <a:rPr sz="1050"/>
              <a:t>~2 min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501128" y="4709160"/>
            <a:ext cx="118872" cy="36576"/>
          </a:xfrm>
          <a:prstGeom prst="rect">
            <a:avLst/>
          </a:prstGeom>
          <a:solidFill>
            <a:srgbClr val="4A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38" name="Isosceles Triangle 37"/>
          <p:cNvSpPr/>
          <p:nvPr/>
        </p:nvSpPr>
        <p:spPr>
          <a:xfrm rot="5400000">
            <a:off x="7583424" y="4672584"/>
            <a:ext cx="109728" cy="109728"/>
          </a:xfrm>
          <a:prstGeom prst="triangle">
            <a:avLst/>
          </a:prstGeom>
          <a:solidFill>
            <a:srgbClr val="4A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39" name="TextBox 38"/>
          <p:cNvSpPr txBox="1"/>
          <p:nvPr/>
        </p:nvSpPr>
        <p:spPr>
          <a:xfrm>
            <a:off x="7711440" y="4069080"/>
            <a:ext cx="1562100" cy="22860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ctr">
              <a:defRPr sz="900" b="1">
                <a:solidFill>
                  <a:srgbClr val="C6C6C6"/>
                </a:solidFill>
                <a:latin typeface="Calibri"/>
              </a:defRPr>
            </a:pPr>
            <a:r>
              <a:rPr sz="1100"/>
              <a:t>Step 5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711440" y="4343400"/>
            <a:ext cx="1562100" cy="822960"/>
          </a:xfrm>
          <a:prstGeom prst="rect">
            <a:avLst/>
          </a:prstGeom>
          <a:solidFill>
            <a:srgbClr val="2A2A2A"/>
          </a:solidFill>
          <a:ln w="12700">
            <a:solidFill>
              <a:srgbClr val="0F62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45720" bIns="36576" rtlCol="0" anchor="ctr"/>
          <a:lstStyle/>
          <a:p>
            <a:pPr algn="ctr">
              <a:spcAft>
                <a:spcPts val="200"/>
              </a:spcAft>
              <a:defRPr sz="1000" b="1">
                <a:solidFill>
                  <a:srgbClr val="0F62FE"/>
                </a:solidFill>
                <a:latin typeface="Calibri"/>
              </a:defRPr>
            </a:pPr>
            <a:r>
              <a:rPr sz="1200"/>
              <a:t>K8ssandraCluster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C6C6C6"/>
                </a:solidFill>
                <a:latin typeface="Calibri"/>
              </a:defRPr>
            </a:pPr>
            <a:r>
              <a:rPr sz="1050"/>
              <a:t>CR: demo  (v5.0.8)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C6C6C6"/>
                </a:solidFill>
                <a:latin typeface="Calibri"/>
              </a:defRPr>
            </a:pPr>
            <a:r>
              <a:rPr sz="1050"/>
              <a:t>3-node, 5Gi, 2G heap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711440" y="5212080"/>
            <a:ext cx="1562100" cy="18288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ctr">
              <a:defRPr sz="800" b="0">
                <a:solidFill>
                  <a:srgbClr val="C6C6C6"/>
                </a:solidFill>
                <a:latin typeface="Calibri"/>
              </a:defRPr>
            </a:pPr>
            <a:r>
              <a:rPr sz="1050"/>
              <a:t>~5 min</a:t>
            </a:r>
          </a:p>
        </p:txBody>
      </p:sp>
      <p:sp>
        <p:nvSpPr>
          <p:cNvPr id="42" name="Rectangle 41"/>
          <p:cNvSpPr/>
          <p:nvPr/>
        </p:nvSpPr>
        <p:spPr>
          <a:xfrm>
            <a:off x="9291828" y="4709160"/>
            <a:ext cx="118872" cy="36576"/>
          </a:xfrm>
          <a:prstGeom prst="rect">
            <a:avLst/>
          </a:prstGeom>
          <a:solidFill>
            <a:srgbClr val="4A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43" name="Isosceles Triangle 42"/>
          <p:cNvSpPr/>
          <p:nvPr/>
        </p:nvSpPr>
        <p:spPr>
          <a:xfrm rot="5400000">
            <a:off x="9374124" y="4672584"/>
            <a:ext cx="109728" cy="109728"/>
          </a:xfrm>
          <a:prstGeom prst="triangle">
            <a:avLst/>
          </a:prstGeom>
          <a:solidFill>
            <a:srgbClr val="4A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44" name="TextBox 43"/>
          <p:cNvSpPr txBox="1"/>
          <p:nvPr/>
        </p:nvSpPr>
        <p:spPr>
          <a:xfrm>
            <a:off x="9502140" y="4069080"/>
            <a:ext cx="1562100" cy="22860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ctr">
              <a:defRPr sz="900" b="1">
                <a:solidFill>
                  <a:srgbClr val="C6C6C6"/>
                </a:solidFill>
                <a:latin typeface="Calibri"/>
              </a:defRPr>
            </a:pPr>
            <a:r>
              <a:rPr sz="1100"/>
              <a:t>Step 6</a:t>
            </a:r>
          </a:p>
        </p:txBody>
      </p:sp>
      <p:sp>
        <p:nvSpPr>
          <p:cNvPr id="45" name="Rectangle 44"/>
          <p:cNvSpPr/>
          <p:nvPr/>
        </p:nvSpPr>
        <p:spPr>
          <a:xfrm>
            <a:off x="9502140" y="4343400"/>
            <a:ext cx="1562100" cy="822960"/>
          </a:xfrm>
          <a:prstGeom prst="rect">
            <a:avLst/>
          </a:prstGeom>
          <a:solidFill>
            <a:srgbClr val="2A2A2A"/>
          </a:solidFill>
          <a:ln w="12700">
            <a:solidFill>
              <a:srgbClr val="24A1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45720" bIns="36576" rtlCol="0" anchor="ctr"/>
          <a:lstStyle/>
          <a:p>
            <a:pPr algn="ctr">
              <a:spcAft>
                <a:spcPts val="200"/>
              </a:spcAft>
              <a:defRPr sz="1000" b="1">
                <a:solidFill>
                  <a:srgbClr val="24A148"/>
                </a:solidFill>
                <a:latin typeface="Calibri"/>
              </a:defRPr>
            </a:pPr>
            <a:r>
              <a:rPr sz="1200"/>
              <a:t>Apps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C6C6C6"/>
                </a:solidFill>
                <a:latin typeface="Calibri"/>
              </a:defRPr>
            </a:pPr>
            <a:r>
              <a:rPr sz="1050"/>
              <a:t>easy-cass-mcp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C6C6C6"/>
                </a:solidFill>
                <a:latin typeface="Calibri"/>
              </a:defRPr>
            </a:pPr>
            <a:r>
              <a:rPr sz="1050"/>
              <a:t>nosqlbench, NLB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502140" y="5212080"/>
            <a:ext cx="1562100" cy="18288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ctr">
              <a:defRPr sz="800" b="0">
                <a:solidFill>
                  <a:srgbClr val="C6C6C6"/>
                </a:solidFill>
                <a:latin typeface="Calibri"/>
              </a:defRPr>
            </a:pPr>
            <a:r>
              <a:rPr sz="1050"/>
              <a:t>~3 min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48640" y="5532120"/>
            <a:ext cx="10058400" cy="27432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ctr">
              <a:defRPr sz="1100" b="1">
                <a:solidFill>
                  <a:srgbClr val="C6C6C6"/>
                </a:solidFill>
                <a:latin typeface="Calibri"/>
              </a:defRPr>
            </a:pPr>
            <a:r>
              <a:rPr sz="1600"/>
              <a:t>Total fresh deploy: ~14-17 min  (+  EKS cluster creation: ~15-20 min)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16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731520" y="365760"/>
            <a:ext cx="54864" cy="411480"/>
          </a:xfrm>
          <a:prstGeom prst="rect">
            <a:avLst/>
          </a:prstGeom>
          <a:solidFill>
            <a:srgbClr val="0F6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/>
          </a:p>
        </p:txBody>
      </p:sp>
      <p:sp>
        <p:nvSpPr>
          <p:cNvPr id="3" name="TextBox 2"/>
          <p:cNvSpPr txBox="1"/>
          <p:nvPr/>
        </p:nvSpPr>
        <p:spPr>
          <a:xfrm>
            <a:off x="960120" y="365760"/>
            <a:ext cx="9144000" cy="50292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Kubernetes Resource Relationships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3657600" cy="27432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1200" b="1">
                <a:solidFill>
                  <a:srgbClr val="78A9FF"/>
                </a:solidFill>
                <a:latin typeface="Calibri"/>
              </a:defRPr>
            </a:pPr>
            <a:r>
              <a:rPr sz="1400"/>
              <a:t>Custom Resource Definitions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25880"/>
            <a:ext cx="2560320" cy="1051560"/>
          </a:xfrm>
          <a:prstGeom prst="rect">
            <a:avLst/>
          </a:prstGeom>
          <a:solidFill>
            <a:srgbClr val="2A2A2A"/>
          </a:solidFill>
          <a:ln w="12700">
            <a:solidFill>
              <a:srgbClr val="8A3F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45720" bIns="36576" rtlCol="0" anchor="ctr"/>
          <a:lstStyle/>
          <a:p>
            <a:pPr algn="ctr">
              <a:spcAft>
                <a:spcPts val="200"/>
              </a:spcAft>
              <a:defRPr sz="1000" b="1">
                <a:solidFill>
                  <a:srgbClr val="8A3FFC"/>
                </a:solidFill>
                <a:latin typeface="Calibri"/>
              </a:defRPr>
            </a:pPr>
            <a:r>
              <a:rPr sz="1400"/>
              <a:t>K8ssandraCluster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C6C6C6"/>
                </a:solidFill>
                <a:latin typeface="Calibri"/>
              </a:defRPr>
            </a:pPr>
            <a:r>
              <a:rPr sz="1100"/>
              <a:t>k8ssandra.io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C6C6C6"/>
                </a:solidFill>
                <a:latin typeface="Calibri"/>
              </a:defRPr>
            </a:pPr>
            <a:r>
              <a:rPr sz="1100"/>
              <a:t>name: demo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C6C6C6"/>
                </a:solidFill>
                <a:latin typeface="Calibri"/>
              </a:defRPr>
            </a:pPr>
            <a:r>
              <a:rPr sz="1100"/>
              <a:t>serverVersion: 5.0.8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C6C6C6"/>
                </a:solidFill>
                <a:latin typeface="Calibri"/>
              </a:defRPr>
            </a:pPr>
            <a:r>
              <a:rPr sz="1100"/>
              <a:t>datacenters: dc1, size: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46120" y="1600200"/>
            <a:ext cx="640080" cy="18288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ctr">
              <a:defRPr sz="700" b="0">
                <a:solidFill>
                  <a:srgbClr val="C6C6C6"/>
                </a:solidFill>
                <a:latin typeface="Calibri"/>
              </a:defRPr>
            </a:pPr>
            <a:r>
              <a:rPr sz="1050"/>
              <a:t>creates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0" y="1783080"/>
            <a:ext cx="704088" cy="36576"/>
          </a:xfrm>
          <a:prstGeom prst="rect">
            <a:avLst/>
          </a:prstGeom>
          <a:solidFill>
            <a:srgbClr val="8A3F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/>
          </a:p>
        </p:txBody>
      </p:sp>
      <p:sp>
        <p:nvSpPr>
          <p:cNvPr id="8" name="Isosceles Triangle 7"/>
          <p:cNvSpPr/>
          <p:nvPr/>
        </p:nvSpPr>
        <p:spPr>
          <a:xfrm rot="5400000">
            <a:off x="3867911" y="1746504"/>
            <a:ext cx="109728" cy="109728"/>
          </a:xfrm>
          <a:prstGeom prst="triangle">
            <a:avLst/>
          </a:prstGeom>
          <a:solidFill>
            <a:srgbClr val="8A3F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/>
          </a:p>
        </p:txBody>
      </p:sp>
      <p:sp>
        <p:nvSpPr>
          <p:cNvPr id="9" name="Rectangle 8"/>
          <p:cNvSpPr/>
          <p:nvPr/>
        </p:nvSpPr>
        <p:spPr>
          <a:xfrm>
            <a:off x="4114800" y="1325880"/>
            <a:ext cx="2286000" cy="731520"/>
          </a:xfrm>
          <a:prstGeom prst="rect">
            <a:avLst/>
          </a:prstGeom>
          <a:solidFill>
            <a:srgbClr val="2A2A2A"/>
          </a:solidFill>
          <a:ln w="12700">
            <a:solidFill>
              <a:srgbClr val="8A3F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45720" bIns="36576" rtlCol="0" anchor="ctr"/>
          <a:lstStyle/>
          <a:p>
            <a:pPr algn="ctr">
              <a:spcAft>
                <a:spcPts val="200"/>
              </a:spcAft>
              <a:defRPr sz="1000" b="1">
                <a:solidFill>
                  <a:srgbClr val="8A3FFC"/>
                </a:solidFill>
                <a:latin typeface="Calibri"/>
              </a:defRPr>
            </a:pPr>
            <a:r>
              <a:rPr sz="1400"/>
              <a:t>CassandraDatacenter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C6C6C6"/>
                </a:solidFill>
                <a:latin typeface="Calibri"/>
              </a:defRPr>
            </a:pPr>
            <a:r>
              <a:rPr sz="1100"/>
              <a:t>cassandra.datastax.com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C6C6C6"/>
                </a:solidFill>
                <a:latin typeface="Calibri"/>
              </a:defRPr>
            </a:pPr>
            <a:r>
              <a:rPr sz="1100"/>
              <a:t>name: dc1, size: 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640" y="2084831"/>
            <a:ext cx="640080" cy="18288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ctr">
              <a:defRPr sz="700" b="0">
                <a:solidFill>
                  <a:srgbClr val="C6C6C6"/>
                </a:solidFill>
                <a:latin typeface="Calibri"/>
              </a:defRPr>
            </a:pPr>
            <a:r>
              <a:rPr sz="1050"/>
              <a:t>manages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120640" y="2103120"/>
            <a:ext cx="36576" cy="338328"/>
          </a:xfrm>
          <a:prstGeom prst="rect">
            <a:avLst/>
          </a:prstGeom>
          <a:solidFill>
            <a:srgbClr val="8A3F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/>
          </a:p>
        </p:txBody>
      </p:sp>
      <p:sp>
        <p:nvSpPr>
          <p:cNvPr id="12" name="Isosceles Triangle 11"/>
          <p:cNvSpPr/>
          <p:nvPr/>
        </p:nvSpPr>
        <p:spPr>
          <a:xfrm rot="10800000">
            <a:off x="5084064" y="2404872"/>
            <a:ext cx="109728" cy="109728"/>
          </a:xfrm>
          <a:prstGeom prst="triangle">
            <a:avLst/>
          </a:prstGeom>
          <a:solidFill>
            <a:srgbClr val="8A3F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/>
          </a:p>
        </p:txBody>
      </p:sp>
      <p:sp>
        <p:nvSpPr>
          <p:cNvPr id="13" name="Rectangle 12"/>
          <p:cNvSpPr/>
          <p:nvPr/>
        </p:nvSpPr>
        <p:spPr>
          <a:xfrm>
            <a:off x="4114800" y="2514600"/>
            <a:ext cx="2286000" cy="640080"/>
          </a:xfrm>
          <a:prstGeom prst="rect">
            <a:avLst/>
          </a:prstGeom>
          <a:solidFill>
            <a:srgbClr val="2A2A2A"/>
          </a:solidFill>
          <a:ln w="12700">
            <a:solidFill>
              <a:srgbClr val="119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45720" bIns="36576" rtlCol="0" anchor="ctr"/>
          <a:lstStyle/>
          <a:p>
            <a:pPr algn="ctr">
              <a:spcAft>
                <a:spcPts val="200"/>
              </a:spcAft>
              <a:defRPr sz="1000" b="1">
                <a:solidFill>
                  <a:srgbClr val="1192E8"/>
                </a:solidFill>
                <a:latin typeface="Calibri"/>
              </a:defRPr>
            </a:pPr>
            <a:r>
              <a:rPr sz="1400"/>
              <a:t>StatefulSet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C6C6C6"/>
                </a:solidFill>
                <a:latin typeface="Calibri"/>
              </a:defRPr>
            </a:pPr>
            <a:r>
              <a:rPr sz="1100"/>
              <a:t>demo-dc1-default-sts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C6C6C6"/>
                </a:solidFill>
                <a:latin typeface="Calibri"/>
              </a:defRPr>
            </a:pPr>
            <a:r>
              <a:rPr sz="1100"/>
              <a:t>replicas: 3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2560320"/>
            <a:ext cx="2560320" cy="777240"/>
          </a:xfrm>
          <a:prstGeom prst="rect">
            <a:avLst/>
          </a:prstGeom>
          <a:solidFill>
            <a:srgbClr val="2A2A2A"/>
          </a:solidFill>
          <a:ln w="12700">
            <a:solidFill>
              <a:srgbClr val="009D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45720" bIns="36576" rtlCol="0" anchor="ctr"/>
          <a:lstStyle/>
          <a:p>
            <a:pPr algn="ctr">
              <a:spcAft>
                <a:spcPts val="200"/>
              </a:spcAft>
              <a:defRPr sz="1000" b="1">
                <a:solidFill>
                  <a:srgbClr val="009D9A"/>
                </a:solidFill>
                <a:latin typeface="Calibri"/>
              </a:defRPr>
            </a:pPr>
            <a:r>
              <a:rPr sz="1400" dirty="0"/>
              <a:t>cert-</a:t>
            </a:r>
            <a:r>
              <a:rPr sz="1400" dirty="0" err="1"/>
              <a:t>manager.io</a:t>
            </a:r>
            <a:endParaRPr sz="1400" dirty="0"/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C6C6C6"/>
                </a:solidFill>
                <a:latin typeface="Calibri"/>
              </a:defRPr>
            </a:pPr>
            <a:r>
              <a:rPr sz="1100" dirty="0"/>
              <a:t xml:space="preserve">Issuer / </a:t>
            </a:r>
            <a:r>
              <a:rPr sz="1100" dirty="0" err="1"/>
              <a:t>ClusterIssuer</a:t>
            </a:r>
            <a:endParaRPr sz="1100" dirty="0"/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C6C6C6"/>
                </a:solidFill>
                <a:latin typeface="Calibri"/>
              </a:defRPr>
            </a:pPr>
            <a:r>
              <a:rPr sz="1100" dirty="0"/>
              <a:t>Certificate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C6C6C6"/>
                </a:solidFill>
                <a:latin typeface="Calibri"/>
              </a:defRPr>
            </a:pPr>
            <a:r>
              <a:rPr sz="1100" dirty="0" err="1"/>
              <a:t>CertificateRequest</a:t>
            </a:r>
            <a:endParaRPr sz="1100" dirty="0"/>
          </a:p>
        </p:txBody>
      </p:sp>
      <p:sp>
        <p:nvSpPr>
          <p:cNvPr id="15" name="TextBox 14"/>
          <p:cNvSpPr txBox="1"/>
          <p:nvPr/>
        </p:nvSpPr>
        <p:spPr>
          <a:xfrm>
            <a:off x="6949440" y="1005840"/>
            <a:ext cx="3657600" cy="27432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1200" b="1">
                <a:solidFill>
                  <a:srgbClr val="78A9FF"/>
                </a:solidFill>
                <a:latin typeface="Calibri"/>
              </a:defRPr>
            </a:pPr>
            <a:r>
              <a:rPr sz="1400"/>
              <a:t>Storage Chain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949440" y="1325880"/>
            <a:ext cx="2286000" cy="868680"/>
          </a:xfrm>
          <a:prstGeom prst="rect">
            <a:avLst/>
          </a:prstGeom>
          <a:solidFill>
            <a:srgbClr val="2A2A2A"/>
          </a:solidFill>
          <a:ln w="12700">
            <a:solidFill>
              <a:srgbClr val="009D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45720" bIns="36576" rtlCol="0" anchor="ctr"/>
          <a:lstStyle/>
          <a:p>
            <a:pPr algn="ctr">
              <a:spcAft>
                <a:spcPts val="200"/>
              </a:spcAft>
              <a:defRPr sz="900" b="1">
                <a:solidFill>
                  <a:srgbClr val="009D9A"/>
                </a:solidFill>
                <a:latin typeface="Calibri"/>
              </a:defRPr>
            </a:pPr>
            <a:r>
              <a:rPr sz="1200"/>
              <a:t>StorageClass: ebs-gp3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C6C6C6"/>
                </a:solidFill>
                <a:latin typeface="Calibri"/>
              </a:defRPr>
            </a:pPr>
            <a:r>
              <a:rPr sz="1100"/>
              <a:t>provisioner: ebs.csi.aws.com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C6C6C6"/>
                </a:solidFill>
                <a:latin typeface="Calibri"/>
              </a:defRPr>
            </a:pPr>
            <a:r>
              <a:rPr sz="1100"/>
              <a:t>WaitForFirstConsumer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C6C6C6"/>
                </a:solidFill>
                <a:latin typeface="Calibri"/>
              </a:defRPr>
            </a:pPr>
            <a:r>
              <a:rPr sz="1100"/>
              <a:t>reclaimPolicy: Delete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326880" y="1691640"/>
            <a:ext cx="384048" cy="36576"/>
          </a:xfrm>
          <a:prstGeom prst="rect">
            <a:avLst/>
          </a:prstGeom>
          <a:solidFill>
            <a:srgbClr val="4A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/>
          </a:p>
        </p:txBody>
      </p:sp>
      <p:sp>
        <p:nvSpPr>
          <p:cNvPr id="18" name="Isosceles Triangle 17"/>
          <p:cNvSpPr/>
          <p:nvPr/>
        </p:nvSpPr>
        <p:spPr>
          <a:xfrm rot="5400000">
            <a:off x="9674352" y="1655064"/>
            <a:ext cx="109728" cy="109728"/>
          </a:xfrm>
          <a:prstGeom prst="triangle">
            <a:avLst/>
          </a:prstGeom>
          <a:solidFill>
            <a:srgbClr val="4A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/>
          </a:p>
        </p:txBody>
      </p:sp>
      <p:sp>
        <p:nvSpPr>
          <p:cNvPr id="19" name="Rectangle 18"/>
          <p:cNvSpPr/>
          <p:nvPr/>
        </p:nvSpPr>
        <p:spPr>
          <a:xfrm>
            <a:off x="9875520" y="999465"/>
            <a:ext cx="1920240" cy="462506"/>
          </a:xfrm>
          <a:prstGeom prst="rect">
            <a:avLst/>
          </a:prstGeom>
          <a:solidFill>
            <a:srgbClr val="2A2A2A"/>
          </a:solidFill>
          <a:ln w="12700">
            <a:solidFill>
              <a:srgbClr val="4A4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45720" bIns="36576" rtlCol="0" anchor="ctr"/>
          <a:lstStyle/>
          <a:p>
            <a:pPr algn="ctr">
              <a:spcAft>
                <a:spcPts val="200"/>
              </a:spcAft>
              <a:defRPr sz="800" b="1">
                <a:solidFill>
                  <a:srgbClr val="FFFFFF"/>
                </a:solidFill>
                <a:latin typeface="Calibri"/>
              </a:defRPr>
            </a:pPr>
            <a:r>
              <a:rPr sz="1100" dirty="0"/>
              <a:t>server-data-sts-0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700">
                <a:solidFill>
                  <a:srgbClr val="C6C6C6"/>
                </a:solidFill>
                <a:latin typeface="Calibri"/>
              </a:defRPr>
            </a:pPr>
            <a:r>
              <a:rPr sz="1050" dirty="0"/>
              <a:t>5Gi, RWO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875520" y="1507689"/>
            <a:ext cx="1920240" cy="411481"/>
          </a:xfrm>
          <a:prstGeom prst="rect">
            <a:avLst/>
          </a:prstGeom>
          <a:solidFill>
            <a:srgbClr val="2A2A2A"/>
          </a:solidFill>
          <a:ln w="12700">
            <a:solidFill>
              <a:srgbClr val="4A4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45720" bIns="36576" rtlCol="0" anchor="ctr"/>
          <a:lstStyle/>
          <a:p>
            <a:pPr algn="ctr">
              <a:spcAft>
                <a:spcPts val="200"/>
              </a:spcAft>
              <a:defRPr sz="800" b="1">
                <a:solidFill>
                  <a:srgbClr val="FFFFFF"/>
                </a:solidFill>
                <a:latin typeface="Calibri"/>
              </a:defRPr>
            </a:pPr>
            <a:r>
              <a:rPr sz="1100" dirty="0"/>
              <a:t>server-data-sts-1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700">
                <a:solidFill>
                  <a:srgbClr val="C6C6C6"/>
                </a:solidFill>
                <a:latin typeface="Calibri"/>
              </a:defRPr>
            </a:pPr>
            <a:r>
              <a:rPr sz="1050" dirty="0"/>
              <a:t>5Gi, RWO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875520" y="1964888"/>
            <a:ext cx="1920240" cy="392355"/>
          </a:xfrm>
          <a:prstGeom prst="rect">
            <a:avLst/>
          </a:prstGeom>
          <a:solidFill>
            <a:srgbClr val="2A2A2A"/>
          </a:solidFill>
          <a:ln w="12700">
            <a:solidFill>
              <a:srgbClr val="4A4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45720" bIns="36576" rtlCol="0" anchor="ctr"/>
          <a:lstStyle/>
          <a:p>
            <a:pPr algn="ctr">
              <a:spcAft>
                <a:spcPts val="200"/>
              </a:spcAft>
              <a:defRPr sz="800" b="1">
                <a:solidFill>
                  <a:srgbClr val="FFFFFF"/>
                </a:solidFill>
                <a:latin typeface="Calibri"/>
              </a:defRPr>
            </a:pPr>
            <a:r>
              <a:rPr sz="1100" dirty="0"/>
              <a:t>server-data-sts-2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700">
                <a:solidFill>
                  <a:srgbClr val="C6C6C6"/>
                </a:solidFill>
                <a:latin typeface="Calibri"/>
              </a:defRPr>
            </a:pPr>
            <a:r>
              <a:rPr sz="1050" dirty="0"/>
              <a:t>5Gi, RWO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49440" y="2331720"/>
            <a:ext cx="3657600" cy="27432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1200" b="1">
                <a:solidFill>
                  <a:srgbClr val="78A9FF"/>
                </a:solidFill>
                <a:latin typeface="Calibri"/>
              </a:defRPr>
            </a:pPr>
            <a:r>
              <a:rPr sz="1400"/>
              <a:t>Secrets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949440" y="2606040"/>
            <a:ext cx="4846320" cy="822960"/>
          </a:xfrm>
          <a:prstGeom prst="rect">
            <a:avLst/>
          </a:prstGeom>
          <a:solidFill>
            <a:srgbClr val="2A2A2A"/>
          </a:solidFill>
          <a:ln w="12700">
            <a:solidFill>
              <a:srgbClr val="4A4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45720" bIns="36576" rtlCol="0" anchor="ctr"/>
          <a:lstStyle/>
          <a:p>
            <a:pPr algn="ctr">
              <a:spcAft>
                <a:spcPts val="200"/>
              </a:spcAft>
              <a:defRPr sz="1000" b="1">
                <a:solidFill>
                  <a:srgbClr val="FFFFFF"/>
                </a:solidFill>
                <a:latin typeface="Calibri"/>
              </a:defRPr>
            </a:pPr>
            <a:r>
              <a:rPr sz="1400" dirty="0"/>
              <a:t>demo-superuser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C6C6C6"/>
                </a:solidFill>
                <a:latin typeface="Calibri"/>
              </a:defRPr>
            </a:pPr>
            <a:r>
              <a:rPr sz="1100" dirty="0"/>
              <a:t>Auto-generated by k8ssandra-operator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C6C6C6"/>
                </a:solidFill>
                <a:latin typeface="Calibri"/>
              </a:defRPr>
            </a:pPr>
            <a:r>
              <a:rPr sz="1100" dirty="0"/>
              <a:t>Keys: username, password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C6C6C6"/>
                </a:solidFill>
                <a:latin typeface="Calibri"/>
              </a:defRPr>
            </a:pPr>
            <a:r>
              <a:rPr sz="1100" dirty="0"/>
              <a:t>Ref by: easy-</a:t>
            </a:r>
            <a:r>
              <a:rPr sz="1100" dirty="0" err="1"/>
              <a:t>cass</a:t>
            </a:r>
            <a:r>
              <a:rPr sz="1100" dirty="0"/>
              <a:t>-</a:t>
            </a:r>
            <a:r>
              <a:rPr sz="1100" dirty="0" err="1"/>
              <a:t>mcp</a:t>
            </a:r>
            <a:r>
              <a:rPr sz="1100" dirty="0"/>
              <a:t xml:space="preserve">, </a:t>
            </a:r>
            <a:r>
              <a:rPr sz="1100" dirty="0" err="1"/>
              <a:t>nosqlbench</a:t>
            </a:r>
            <a:endParaRPr sz="1100" dirty="0"/>
          </a:p>
        </p:txBody>
      </p:sp>
      <p:sp>
        <p:nvSpPr>
          <p:cNvPr id="24" name="TextBox 23"/>
          <p:cNvSpPr txBox="1"/>
          <p:nvPr/>
        </p:nvSpPr>
        <p:spPr>
          <a:xfrm>
            <a:off x="548640" y="3520440"/>
            <a:ext cx="5486400" cy="27432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1200" b="1">
                <a:solidFill>
                  <a:srgbClr val="78A9FF"/>
                </a:solidFill>
                <a:latin typeface="Calibri"/>
              </a:defRPr>
            </a:pPr>
            <a:r>
              <a:rPr sz="1400"/>
              <a:t>Headless Services (ClusterIP: None)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" y="3840480"/>
            <a:ext cx="5029200" cy="338328"/>
          </a:xfrm>
          <a:prstGeom prst="rect">
            <a:avLst/>
          </a:prstGeom>
          <a:solidFill>
            <a:srgbClr val="2A2A2A"/>
          </a:solidFill>
          <a:ln w="12700">
            <a:solidFill>
              <a:srgbClr val="4A4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45720" bIns="36576" rtlCol="0" anchor="ctr"/>
          <a:lstStyle/>
          <a:p>
            <a:pPr algn="ctr">
              <a:spcAft>
                <a:spcPts val="200"/>
              </a:spcAft>
              <a:defRPr sz="800" b="1">
                <a:solidFill>
                  <a:srgbClr val="FFFFFF"/>
                </a:solidFill>
                <a:latin typeface="Calibri"/>
              </a:defRPr>
            </a:pPr>
            <a:r>
              <a:rPr sz="1100"/>
              <a:t>demo-dc1-all-pods-service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700">
                <a:solidFill>
                  <a:srgbClr val="C6C6C6"/>
                </a:solidFill>
                <a:latin typeface="Calibri"/>
              </a:defRPr>
            </a:pPr>
            <a:r>
              <a:rPr sz="1050"/>
              <a:t>Ports: 9042, 8080, 9103, 9000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48640" y="4224528"/>
            <a:ext cx="5029200" cy="338328"/>
          </a:xfrm>
          <a:prstGeom prst="rect">
            <a:avLst/>
          </a:prstGeom>
          <a:solidFill>
            <a:srgbClr val="2A2A2A"/>
          </a:solidFill>
          <a:ln w="12700">
            <a:solidFill>
              <a:srgbClr val="4A4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45720" bIns="36576" rtlCol="0" anchor="ctr"/>
          <a:lstStyle/>
          <a:p>
            <a:pPr algn="ctr">
              <a:spcAft>
                <a:spcPts val="200"/>
              </a:spcAft>
              <a:defRPr sz="800" b="1">
                <a:solidFill>
                  <a:srgbClr val="FFFFFF"/>
                </a:solidFill>
                <a:latin typeface="Calibri"/>
              </a:defRPr>
            </a:pPr>
            <a:r>
              <a:rPr sz="1100"/>
              <a:t>demo-dc1-contact-points-service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700">
                <a:solidFill>
                  <a:srgbClr val="C6C6C6"/>
                </a:solidFill>
                <a:latin typeface="Calibri"/>
              </a:defRPr>
            </a:pPr>
            <a:r>
              <a:rPr sz="1050"/>
              <a:t>Client contact points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48640" y="4608576"/>
            <a:ext cx="5029200" cy="338328"/>
          </a:xfrm>
          <a:prstGeom prst="rect">
            <a:avLst/>
          </a:prstGeom>
          <a:solidFill>
            <a:srgbClr val="2A2A2A"/>
          </a:solidFill>
          <a:ln w="12700">
            <a:solidFill>
              <a:srgbClr val="4A4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45720" bIns="36576" rtlCol="0" anchor="ctr"/>
          <a:lstStyle/>
          <a:p>
            <a:pPr algn="ctr">
              <a:spcAft>
                <a:spcPts val="200"/>
              </a:spcAft>
              <a:defRPr sz="800" b="1">
                <a:solidFill>
                  <a:srgbClr val="FFFFFF"/>
                </a:solidFill>
                <a:latin typeface="Calibri"/>
              </a:defRPr>
            </a:pPr>
            <a:r>
              <a:rPr sz="1100"/>
              <a:t>demo-dc1-service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700">
                <a:solidFill>
                  <a:srgbClr val="C6C6C6"/>
                </a:solidFill>
                <a:latin typeface="Calibri"/>
              </a:defRPr>
            </a:pPr>
            <a:r>
              <a:rPr sz="1050"/>
              <a:t>Datacenter service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40" y="4992624"/>
            <a:ext cx="5029200" cy="338328"/>
          </a:xfrm>
          <a:prstGeom prst="rect">
            <a:avLst/>
          </a:prstGeom>
          <a:solidFill>
            <a:srgbClr val="2A2A2A"/>
          </a:solidFill>
          <a:ln w="12700">
            <a:solidFill>
              <a:srgbClr val="4A4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45720" bIns="36576" rtlCol="0" anchor="ctr"/>
          <a:lstStyle/>
          <a:p>
            <a:pPr algn="ctr">
              <a:spcAft>
                <a:spcPts val="200"/>
              </a:spcAft>
              <a:defRPr sz="800" b="1">
                <a:solidFill>
                  <a:srgbClr val="FFFFFF"/>
                </a:solidFill>
                <a:latin typeface="Calibri"/>
              </a:defRPr>
            </a:pPr>
            <a:r>
              <a:rPr sz="1100"/>
              <a:t>demo-seed-service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700">
                <a:solidFill>
                  <a:srgbClr val="C6C6C6"/>
                </a:solidFill>
                <a:latin typeface="Calibri"/>
              </a:defRPr>
            </a:pPr>
            <a:r>
              <a:rPr sz="1050"/>
              <a:t>Gossip seed discovery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48640" y="5376672"/>
            <a:ext cx="5029200" cy="338328"/>
          </a:xfrm>
          <a:prstGeom prst="rect">
            <a:avLst/>
          </a:prstGeom>
          <a:solidFill>
            <a:srgbClr val="2A2A2A"/>
          </a:solidFill>
          <a:ln w="12700">
            <a:solidFill>
              <a:srgbClr val="4A4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45720" bIns="36576" rtlCol="0" anchor="ctr"/>
          <a:lstStyle/>
          <a:p>
            <a:pPr algn="ctr">
              <a:spcAft>
                <a:spcPts val="200"/>
              </a:spcAft>
              <a:defRPr sz="800" b="1">
                <a:solidFill>
                  <a:srgbClr val="FFFFFF"/>
                </a:solidFill>
                <a:latin typeface="Calibri"/>
              </a:defRPr>
            </a:pPr>
            <a:r>
              <a:rPr sz="1100"/>
              <a:t>demo-dc1-additional-seed-service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700">
                <a:solidFill>
                  <a:srgbClr val="C6C6C6"/>
                </a:solidFill>
                <a:latin typeface="Calibri"/>
              </a:defRPr>
            </a:pPr>
            <a:r>
              <a:rPr sz="1050"/>
              <a:t>Additional seed discovery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" y="5806440"/>
            <a:ext cx="4572000" cy="45720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900" b="0">
                <a:solidFill>
                  <a:srgbClr val="C6C6C6"/>
                </a:solidFill>
                <a:latin typeface="Calibri"/>
              </a:defRPr>
            </a:pPr>
            <a:r>
              <a:rPr sz="1200"/>
              <a:t>Used by: easy-cass-mcp, nosqlbench,</a:t>
            </a:r>
            <a:br>
              <a:rPr sz="1200"/>
            </a:br>
            <a:r>
              <a:rPr sz="1200"/>
              <a:t>Cassandra Python driver pod discovery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737316" y="3520440"/>
            <a:ext cx="3657600" cy="27432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1200" b="1">
                <a:solidFill>
                  <a:srgbClr val="78A9FF"/>
                </a:solidFill>
                <a:latin typeface="Calibri"/>
              </a:defRPr>
            </a:pPr>
            <a:r>
              <a:rPr sz="1400"/>
              <a:t>Additional CRDs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737316" y="3840480"/>
            <a:ext cx="2011680" cy="877824"/>
          </a:xfrm>
          <a:prstGeom prst="rect">
            <a:avLst/>
          </a:prstGeom>
          <a:solidFill>
            <a:srgbClr val="2A2A2A"/>
          </a:solidFill>
          <a:ln w="12700">
            <a:solidFill>
              <a:srgbClr val="8A3F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45720" bIns="36576" rtlCol="0" anchor="ctr"/>
          <a:lstStyle/>
          <a:p>
            <a:pPr algn="ctr">
              <a:spcAft>
                <a:spcPts val="200"/>
              </a:spcAft>
              <a:defRPr sz="900" b="1">
                <a:solidFill>
                  <a:srgbClr val="8A3FFC"/>
                </a:solidFill>
                <a:latin typeface="Calibri"/>
              </a:defRPr>
            </a:pPr>
            <a:r>
              <a:rPr sz="1200"/>
              <a:t>control.k8ssandra.io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700">
                <a:solidFill>
                  <a:srgbClr val="C6C6C6"/>
                </a:solidFill>
                <a:latin typeface="Calibri"/>
              </a:defRPr>
            </a:pPr>
            <a:r>
              <a:rPr sz="1050"/>
              <a:t>CassandraTask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700">
                <a:solidFill>
                  <a:srgbClr val="C6C6C6"/>
                </a:solidFill>
                <a:latin typeface="Calibri"/>
              </a:defRPr>
            </a:pPr>
            <a:r>
              <a:rPr sz="1050"/>
              <a:t>K8ssandraTask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700">
                <a:solidFill>
                  <a:srgbClr val="C6C6C6"/>
                </a:solidFill>
                <a:latin typeface="Calibri"/>
              </a:defRPr>
            </a:pPr>
            <a:r>
              <a:rPr sz="1050"/>
              <a:t>ScheduledTask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886155" y="3840480"/>
            <a:ext cx="2011680" cy="1280160"/>
          </a:xfrm>
          <a:prstGeom prst="rect">
            <a:avLst/>
          </a:prstGeom>
          <a:solidFill>
            <a:srgbClr val="2A2A2A"/>
          </a:solidFill>
          <a:ln w="12700">
            <a:solidFill>
              <a:srgbClr val="009D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45720" bIns="36576" rtlCol="0" anchor="ctr"/>
          <a:lstStyle/>
          <a:p>
            <a:pPr algn="ctr">
              <a:spcAft>
                <a:spcPts val="200"/>
              </a:spcAft>
              <a:defRPr sz="900" b="1">
                <a:solidFill>
                  <a:srgbClr val="009D9A"/>
                </a:solidFill>
                <a:latin typeface="Calibri"/>
              </a:defRPr>
            </a:pPr>
            <a:r>
              <a:rPr sz="1200"/>
              <a:t>medusa.k8ssandra.io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700">
                <a:solidFill>
                  <a:srgbClr val="C6C6C6"/>
                </a:solidFill>
                <a:latin typeface="Calibri"/>
              </a:defRPr>
            </a:pPr>
            <a:r>
              <a:rPr sz="1050"/>
              <a:t>MedusaBackup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700">
                <a:solidFill>
                  <a:srgbClr val="C6C6C6"/>
                </a:solidFill>
                <a:latin typeface="Calibri"/>
              </a:defRPr>
            </a:pPr>
            <a:r>
              <a:rPr sz="1050"/>
              <a:t>MedusaBackupJob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700">
                <a:solidFill>
                  <a:srgbClr val="C6C6C6"/>
                </a:solidFill>
                <a:latin typeface="Calibri"/>
              </a:defRPr>
            </a:pPr>
            <a:r>
              <a:rPr sz="1050"/>
              <a:t>MedusaBackupSchedule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700">
                <a:solidFill>
                  <a:srgbClr val="C6C6C6"/>
                </a:solidFill>
                <a:latin typeface="Calibri"/>
              </a:defRPr>
            </a:pPr>
            <a:r>
              <a:rPr sz="1050"/>
              <a:t>MedusaRestoreJob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700">
                <a:solidFill>
                  <a:srgbClr val="C6C6C6"/>
                </a:solidFill>
                <a:latin typeface="Calibri"/>
              </a:defRPr>
            </a:pPr>
            <a:r>
              <a:rPr sz="1050"/>
              <a:t>MedusaConfiguration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034995" y="3840480"/>
            <a:ext cx="2011680" cy="475488"/>
          </a:xfrm>
          <a:prstGeom prst="rect">
            <a:avLst/>
          </a:prstGeom>
          <a:solidFill>
            <a:srgbClr val="2A2A2A"/>
          </a:solidFill>
          <a:ln w="12700">
            <a:solidFill>
              <a:srgbClr val="119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45720" bIns="36576" rtlCol="0" anchor="ctr"/>
          <a:lstStyle/>
          <a:p>
            <a:pPr algn="ctr">
              <a:spcAft>
                <a:spcPts val="200"/>
              </a:spcAft>
              <a:defRPr sz="900" b="1">
                <a:solidFill>
                  <a:srgbClr val="1192E8"/>
                </a:solidFill>
                <a:latin typeface="Calibri"/>
              </a:defRPr>
            </a:pPr>
            <a:r>
              <a:rPr sz="1200"/>
              <a:t>reaper.k8ssandra.io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700">
                <a:solidFill>
                  <a:srgbClr val="C6C6C6"/>
                </a:solidFill>
                <a:latin typeface="Calibri"/>
              </a:defRPr>
            </a:pPr>
            <a:r>
              <a:rPr sz="1050"/>
              <a:t>Reaper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16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731520" y="365760"/>
            <a:ext cx="54864" cy="411480"/>
          </a:xfrm>
          <a:prstGeom prst="rect">
            <a:avLst/>
          </a:prstGeom>
          <a:solidFill>
            <a:srgbClr val="0F6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3" name="TextBox 2"/>
          <p:cNvSpPr txBox="1"/>
          <p:nvPr/>
        </p:nvSpPr>
        <p:spPr>
          <a:xfrm>
            <a:off x="960120" y="365760"/>
            <a:ext cx="9144000" cy="50292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Model Context Protocol (MCP)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51560"/>
            <a:ext cx="3657600" cy="27432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1400" b="1">
                <a:solidFill>
                  <a:srgbClr val="78A9FF"/>
                </a:solidFill>
                <a:latin typeface="Calibri"/>
              </a:defRPr>
            </a:pPr>
            <a:r>
              <a:t>What is MCP?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63040"/>
            <a:ext cx="2286000" cy="640080"/>
          </a:xfrm>
          <a:prstGeom prst="rect">
            <a:avLst/>
          </a:prstGeom>
          <a:solidFill>
            <a:srgbClr val="2A2A2A"/>
          </a:solidFill>
          <a:ln w="12700">
            <a:solidFill>
              <a:srgbClr val="0F62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45720" bIns="36576" rtlCol="0" anchor="ctr"/>
          <a:lstStyle/>
          <a:p>
            <a:pPr algn="ctr">
              <a:spcAft>
                <a:spcPts val="200"/>
              </a:spcAft>
              <a:defRPr sz="1100" b="1">
                <a:solidFill>
                  <a:srgbClr val="78A9FF"/>
                </a:solidFill>
                <a:latin typeface="Calibri"/>
              </a:defRPr>
            </a:pPr>
            <a:r>
              <a:rPr sz="1400"/>
              <a:t>AI Agent / Claude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C6C6C6"/>
                </a:solidFill>
                <a:latin typeface="Calibri"/>
              </a:defRPr>
            </a:pPr>
            <a:r>
              <a:rPr sz="1000"/>
              <a:t>MCP Client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0" y="1719072"/>
            <a:ext cx="658368" cy="36576"/>
          </a:xfrm>
          <a:prstGeom prst="rect">
            <a:avLst/>
          </a:prstGeom>
          <a:solidFill>
            <a:srgbClr val="78A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7" name="Isosceles Triangle 6"/>
          <p:cNvSpPr/>
          <p:nvPr/>
        </p:nvSpPr>
        <p:spPr>
          <a:xfrm rot="5400000">
            <a:off x="3547872" y="1682495"/>
            <a:ext cx="109728" cy="109728"/>
          </a:xfrm>
          <a:prstGeom prst="triangle">
            <a:avLst/>
          </a:prstGeom>
          <a:solidFill>
            <a:srgbClr val="78A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8" name="Rectangle 7"/>
          <p:cNvSpPr/>
          <p:nvPr/>
        </p:nvSpPr>
        <p:spPr>
          <a:xfrm>
            <a:off x="3749039" y="1463040"/>
            <a:ext cx="2560320" cy="640080"/>
          </a:xfrm>
          <a:prstGeom prst="rect">
            <a:avLst/>
          </a:prstGeom>
          <a:solidFill>
            <a:srgbClr val="2A2A2A"/>
          </a:solidFill>
          <a:ln w="12700">
            <a:solidFill>
              <a:srgbClr val="119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45720" bIns="36576" rtlCol="0" anchor="ctr"/>
          <a:lstStyle/>
          <a:p>
            <a:pPr algn="ctr">
              <a:spcAft>
                <a:spcPts val="200"/>
              </a:spcAft>
              <a:defRPr sz="1100" b="1">
                <a:solidFill>
                  <a:srgbClr val="1192E8"/>
                </a:solidFill>
                <a:latin typeface="Calibri"/>
              </a:defRPr>
            </a:pPr>
            <a:r>
              <a:rPr sz="1400"/>
              <a:t>MCP Server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C6C6C6"/>
                </a:solidFill>
                <a:latin typeface="Calibri"/>
              </a:defRPr>
            </a:pPr>
            <a:r>
              <a:rPr sz="1000"/>
              <a:t>Exposes tools via protocol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C6C6C6"/>
                </a:solidFill>
                <a:latin typeface="Calibri"/>
              </a:defRPr>
            </a:pPr>
            <a:r>
              <a:rPr sz="1000"/>
              <a:t>Runs as service or container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0" y="1719072"/>
            <a:ext cx="658368" cy="36576"/>
          </a:xfrm>
          <a:prstGeom prst="rect">
            <a:avLst/>
          </a:prstGeom>
          <a:solidFill>
            <a:srgbClr val="1192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10" name="Isosceles Triangle 9"/>
          <p:cNvSpPr/>
          <p:nvPr/>
        </p:nvSpPr>
        <p:spPr>
          <a:xfrm rot="5400000">
            <a:off x="7022592" y="1682495"/>
            <a:ext cx="109728" cy="109728"/>
          </a:xfrm>
          <a:prstGeom prst="triangle">
            <a:avLst/>
          </a:prstGeom>
          <a:solidFill>
            <a:srgbClr val="1192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11" name="Rectangle 10"/>
          <p:cNvSpPr/>
          <p:nvPr/>
        </p:nvSpPr>
        <p:spPr>
          <a:xfrm>
            <a:off x="7223760" y="1463040"/>
            <a:ext cx="2286000" cy="640080"/>
          </a:xfrm>
          <a:prstGeom prst="rect">
            <a:avLst/>
          </a:prstGeom>
          <a:solidFill>
            <a:srgbClr val="2A2A2A"/>
          </a:solidFill>
          <a:ln w="12700">
            <a:solidFill>
              <a:srgbClr val="009D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45720" bIns="36576" rtlCol="0" anchor="ctr"/>
          <a:lstStyle/>
          <a:p>
            <a:pPr algn="ctr">
              <a:spcAft>
                <a:spcPts val="200"/>
              </a:spcAft>
              <a:defRPr sz="1100" b="1">
                <a:solidFill>
                  <a:srgbClr val="009D9A"/>
                </a:solidFill>
                <a:latin typeface="Calibri"/>
              </a:defRPr>
            </a:pPr>
            <a:r>
              <a:rPr sz="1400"/>
              <a:t>External System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C6C6C6"/>
                </a:solidFill>
                <a:latin typeface="Calibri"/>
              </a:defRPr>
            </a:pPr>
            <a:r>
              <a:rPr sz="1000"/>
              <a:t>Database, API, K8s, etc.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2286000"/>
            <a:ext cx="9144000" cy="54864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1200" b="0">
                <a:solidFill>
                  <a:srgbClr val="C6C6C6"/>
                </a:solidFill>
                <a:latin typeface="Calibri"/>
              </a:defRPr>
            </a:pPr>
            <a:r>
              <a:rPr sz="1600"/>
              <a:t>A standard for giving AI models structured access to external tools and data.</a:t>
            </a:r>
            <a:br>
              <a:rPr sz="1600"/>
            </a:br>
            <a:r>
              <a:rPr sz="1600"/>
              <a:t>Server exposes tools  →  Agent calls them  →  Results flow back as context.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2926080"/>
            <a:ext cx="11064240" cy="18288"/>
          </a:xfrm>
          <a:prstGeom prst="rect">
            <a:avLst/>
          </a:prstGeom>
          <a:solidFill>
            <a:srgbClr val="3939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14" name="TextBox 13"/>
          <p:cNvSpPr txBox="1"/>
          <p:nvPr/>
        </p:nvSpPr>
        <p:spPr>
          <a:xfrm>
            <a:off x="548640" y="3108960"/>
            <a:ext cx="3657600" cy="27432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1400" b="1">
                <a:solidFill>
                  <a:srgbClr val="78A9FF"/>
                </a:solidFill>
                <a:latin typeface="Calibri"/>
              </a:defRPr>
            </a:pPr>
            <a:r>
              <a:t>Build Narrow, Not Wide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3520440"/>
            <a:ext cx="5303520" cy="2926080"/>
          </a:xfrm>
          <a:prstGeom prst="rect">
            <a:avLst/>
          </a:prstGeom>
          <a:solidFill>
            <a:srgbClr val="262626"/>
          </a:solidFill>
          <a:ln w="12700">
            <a:solidFill>
              <a:srgbClr val="24A1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16" name="TextBox 15"/>
          <p:cNvSpPr txBox="1"/>
          <p:nvPr/>
        </p:nvSpPr>
        <p:spPr>
          <a:xfrm>
            <a:off x="731520" y="3566160"/>
            <a:ext cx="4572000" cy="32004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1200" b="1">
                <a:solidFill>
                  <a:srgbClr val="24A148"/>
                </a:solidFill>
                <a:latin typeface="Calibri"/>
              </a:defRPr>
            </a:pPr>
            <a:r>
              <a:rPr sz="1600"/>
              <a:t>Domain-Specific MCP Server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3840480"/>
            <a:ext cx="4572000" cy="22860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1000" b="0">
                <a:solidFill>
                  <a:srgbClr val="C6C6C6"/>
                </a:solidFill>
                <a:latin typeface="Calibri"/>
              </a:defRPr>
            </a:pPr>
            <a:r>
              <a:rPr sz="1100"/>
              <a:t>e.g., easy-cass-mcp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31520" y="4206240"/>
            <a:ext cx="4937760" cy="685800"/>
          </a:xfrm>
          <a:prstGeom prst="rect">
            <a:avLst/>
          </a:prstGeom>
          <a:solidFill>
            <a:srgbClr val="2A2A2A"/>
          </a:solidFill>
          <a:ln w="12700">
            <a:solidFill>
              <a:srgbClr val="24A1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45720" bIns="36576" rtlCol="0" anchor="ctr"/>
          <a:lstStyle/>
          <a:p>
            <a:pPr algn="ctr">
              <a:spcAft>
                <a:spcPts val="200"/>
              </a:spcAft>
              <a:defRPr sz="1000" b="1">
                <a:solidFill>
                  <a:srgbClr val="FFFFFF"/>
                </a:solidFill>
                <a:latin typeface="Calibri"/>
              </a:defRPr>
            </a:pPr>
            <a:r>
              <a:rPr sz="1100"/>
              <a:t>Returns exactly what's needed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900">
                <a:solidFill>
                  <a:srgbClr val="C6C6C6"/>
                </a:solidFill>
                <a:latin typeface="Calibri"/>
              </a:defRPr>
            </a:pPr>
            <a:r>
              <a:rPr sz="1050"/>
              <a:t>get_table_latency  →  3 rows, key metrics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900">
                <a:solidFill>
                  <a:srgbClr val="C6C6C6"/>
                </a:solidFill>
                <a:latin typeface="Calibri"/>
              </a:defRPr>
            </a:pPr>
            <a:r>
              <a:rPr sz="1050"/>
              <a:t>Token-efficient: hundreds of tokens per call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31520" y="5029200"/>
            <a:ext cx="4937760" cy="685800"/>
          </a:xfrm>
          <a:prstGeom prst="rect">
            <a:avLst/>
          </a:prstGeom>
          <a:solidFill>
            <a:srgbClr val="2A2A2A"/>
          </a:solidFill>
          <a:ln w="12700">
            <a:solidFill>
              <a:srgbClr val="24A1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45720" bIns="36576" rtlCol="0" anchor="ctr"/>
          <a:lstStyle/>
          <a:p>
            <a:pPr algn="ctr">
              <a:spcAft>
                <a:spcPts val="200"/>
              </a:spcAft>
              <a:defRPr sz="1000" b="1">
                <a:solidFill>
                  <a:srgbClr val="FFFFFF"/>
                </a:solidFill>
                <a:latin typeface="Calibri"/>
              </a:defRPr>
            </a:pPr>
            <a:r>
              <a:rPr sz="1100"/>
              <a:t>Speaks the domain language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900">
                <a:solidFill>
                  <a:srgbClr val="C6C6C6"/>
                </a:solidFill>
                <a:latin typeface="Calibri"/>
              </a:defRPr>
            </a:pPr>
            <a:r>
              <a:rPr sz="1050"/>
              <a:t>CQL queries, not generic kubectl describe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900">
                <a:solidFill>
                  <a:srgbClr val="C6C6C6"/>
                </a:solidFill>
                <a:latin typeface="Calibri"/>
              </a:defRPr>
            </a:pPr>
            <a:r>
              <a:rPr sz="1050"/>
              <a:t>Agent understands C* concepts natively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31520" y="5852160"/>
            <a:ext cx="4937760" cy="502920"/>
          </a:xfrm>
          <a:prstGeom prst="rect">
            <a:avLst/>
          </a:prstGeom>
          <a:solidFill>
            <a:srgbClr val="2A2A2A"/>
          </a:solidFill>
          <a:ln w="12700">
            <a:solidFill>
              <a:srgbClr val="24A1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45720" bIns="36576" rtlCol="0" anchor="ctr"/>
          <a:lstStyle/>
          <a:p>
            <a:pPr algn="ctr">
              <a:spcAft>
                <a:spcPts val="200"/>
              </a:spcAft>
              <a:defRPr sz="1000" b="1">
                <a:solidFill>
                  <a:srgbClr val="FFFFFF"/>
                </a:solidFill>
                <a:latin typeface="Calibri"/>
              </a:defRPr>
            </a:pPr>
            <a:r>
              <a:rPr sz="1100"/>
              <a:t>Context window stays clean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900">
                <a:solidFill>
                  <a:srgbClr val="C6C6C6"/>
                </a:solidFill>
                <a:latin typeface="Calibri"/>
              </a:defRPr>
            </a:pPr>
            <a:r>
              <a:rPr sz="1050"/>
              <a:t>Room for reasoning, follow-ups, multi-step ops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17920" y="3520440"/>
            <a:ext cx="5303520" cy="2926080"/>
          </a:xfrm>
          <a:prstGeom prst="rect">
            <a:avLst/>
          </a:prstGeom>
          <a:solidFill>
            <a:srgbClr val="262626"/>
          </a:solidFill>
          <a:ln w="12700">
            <a:solidFill>
              <a:srgbClr val="DA1E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22" name="TextBox 21"/>
          <p:cNvSpPr txBox="1"/>
          <p:nvPr/>
        </p:nvSpPr>
        <p:spPr>
          <a:xfrm>
            <a:off x="6400800" y="3566160"/>
            <a:ext cx="4572000" cy="32004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1200" b="1">
                <a:solidFill>
                  <a:srgbClr val="DA1E28"/>
                </a:solidFill>
                <a:latin typeface="Calibri"/>
              </a:defRPr>
            </a:pPr>
            <a:r>
              <a:rPr sz="1600"/>
              <a:t>Generic MCP Server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0" y="3840480"/>
            <a:ext cx="4572000" cy="22860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1000" b="0">
                <a:solidFill>
                  <a:srgbClr val="C6C6C6"/>
                </a:solidFill>
                <a:latin typeface="Calibri"/>
              </a:defRPr>
            </a:pPr>
            <a:r>
              <a:rPr sz="1100"/>
              <a:t>e.g., "containers" K8s MCP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00800" y="4206240"/>
            <a:ext cx="4937760" cy="685800"/>
          </a:xfrm>
          <a:prstGeom prst="rect">
            <a:avLst/>
          </a:prstGeom>
          <a:solidFill>
            <a:srgbClr val="2A2A2A"/>
          </a:solidFill>
          <a:ln w="12700">
            <a:solidFill>
              <a:srgbClr val="DA1E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45720" bIns="36576" rtlCol="0" anchor="ctr"/>
          <a:lstStyle/>
          <a:p>
            <a:pPr algn="ctr">
              <a:spcAft>
                <a:spcPts val="200"/>
              </a:spcAft>
              <a:defRPr sz="1000" b="1">
                <a:solidFill>
                  <a:srgbClr val="FFFFFF"/>
                </a:solidFill>
                <a:latin typeface="Calibri"/>
              </a:defRPr>
            </a:pPr>
            <a:r>
              <a:rPr sz="1100"/>
              <a:t>Dumps entire cluster state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900">
                <a:solidFill>
                  <a:srgbClr val="C6C6C6"/>
                </a:solidFill>
                <a:latin typeface="Calibri"/>
              </a:defRPr>
            </a:pPr>
            <a:r>
              <a:rPr sz="1050"/>
              <a:t>get_pods →  thousands of tokens per call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900">
                <a:solidFill>
                  <a:srgbClr val="C6C6C6"/>
                </a:solidFill>
                <a:latin typeface="Calibri"/>
              </a:defRPr>
            </a:pPr>
            <a:r>
              <a:rPr sz="1050"/>
              <a:t>Labels, annotations, status conditions, specs...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0" y="5029200"/>
            <a:ext cx="4937760" cy="685800"/>
          </a:xfrm>
          <a:prstGeom prst="rect">
            <a:avLst/>
          </a:prstGeom>
          <a:solidFill>
            <a:srgbClr val="2A2A2A"/>
          </a:solidFill>
          <a:ln w="12700">
            <a:solidFill>
              <a:srgbClr val="DA1E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45720" bIns="36576" rtlCol="0" anchor="ctr"/>
          <a:lstStyle/>
          <a:p>
            <a:pPr algn="ctr">
              <a:spcAft>
                <a:spcPts val="200"/>
              </a:spcAft>
              <a:defRPr sz="1000" b="1">
                <a:solidFill>
                  <a:srgbClr val="FFFFFF"/>
                </a:solidFill>
                <a:latin typeface="Calibri"/>
              </a:defRPr>
            </a:pPr>
            <a:r>
              <a:rPr sz="1100"/>
              <a:t>Model drowns in metadata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900">
                <a:solidFill>
                  <a:srgbClr val="C6C6C6"/>
                </a:solidFill>
                <a:latin typeface="Calibri"/>
              </a:defRPr>
            </a:pPr>
            <a:r>
              <a:rPr sz="1050"/>
              <a:t>Can't distinguish signal from noise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900">
                <a:solidFill>
                  <a:srgbClr val="C6C6C6"/>
                </a:solidFill>
                <a:latin typeface="Calibri"/>
              </a:defRPr>
            </a:pPr>
            <a:r>
              <a:rPr sz="1050"/>
              <a:t>Answers become generic, not actionable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800" y="5852160"/>
            <a:ext cx="4937760" cy="502920"/>
          </a:xfrm>
          <a:prstGeom prst="rect">
            <a:avLst/>
          </a:prstGeom>
          <a:solidFill>
            <a:srgbClr val="2A2A2A"/>
          </a:solidFill>
          <a:ln w="12700">
            <a:solidFill>
              <a:srgbClr val="DA1E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45720" bIns="36576" rtlCol="0" anchor="ctr"/>
          <a:lstStyle/>
          <a:p>
            <a:pPr algn="ctr">
              <a:spcAft>
                <a:spcPts val="200"/>
              </a:spcAft>
              <a:defRPr sz="1000" b="1">
                <a:solidFill>
                  <a:srgbClr val="FFFFFF"/>
                </a:solidFill>
                <a:latin typeface="Calibri"/>
              </a:defRPr>
            </a:pPr>
            <a:r>
              <a:rPr sz="1100"/>
              <a:t>Context window exhausted fast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900">
                <a:solidFill>
                  <a:srgbClr val="C6C6C6"/>
                </a:solidFill>
                <a:latin typeface="Calibri"/>
              </a:defRPr>
            </a:pPr>
            <a:r>
              <a:rPr sz="1050"/>
              <a:t>No room for multi-step reasoning or follow-ups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16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731520" y="365760"/>
            <a:ext cx="54864" cy="411480"/>
          </a:xfrm>
          <a:prstGeom prst="rect">
            <a:avLst/>
          </a:prstGeom>
          <a:solidFill>
            <a:srgbClr val="0F6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/>
          </a:p>
        </p:txBody>
      </p:sp>
      <p:sp>
        <p:nvSpPr>
          <p:cNvPr id="3" name="TextBox 2"/>
          <p:cNvSpPr txBox="1"/>
          <p:nvPr/>
        </p:nvSpPr>
        <p:spPr>
          <a:xfrm>
            <a:off x="960120" y="365760"/>
            <a:ext cx="9144000" cy="50292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MCP Servers vs Agent Skills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" y="777240"/>
            <a:ext cx="7315200" cy="27432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1300" b="0">
                <a:solidFill>
                  <a:srgbClr val="C6C6C6"/>
                </a:solidFill>
                <a:latin typeface="Calibri"/>
              </a:defRPr>
            </a:pPr>
            <a:r>
              <a:rPr sz="1400"/>
              <a:t>Two complementary approaches — best used together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34440"/>
            <a:ext cx="5303520" cy="5212080"/>
          </a:xfrm>
          <a:prstGeom prst="rect">
            <a:avLst/>
          </a:prstGeom>
          <a:solidFill>
            <a:srgbClr val="262626"/>
          </a:solidFill>
          <a:ln w="12700">
            <a:solidFill>
              <a:srgbClr val="119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/>
          </a:p>
        </p:txBody>
      </p:sp>
      <p:sp>
        <p:nvSpPr>
          <p:cNvPr id="6" name="TextBox 5"/>
          <p:cNvSpPr txBox="1"/>
          <p:nvPr/>
        </p:nvSpPr>
        <p:spPr>
          <a:xfrm>
            <a:off x="731520" y="1280160"/>
            <a:ext cx="4572000" cy="36576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2000" b="1">
                <a:solidFill>
                  <a:srgbClr val="1192E8"/>
                </a:solidFill>
                <a:latin typeface="Calibri"/>
              </a:defRPr>
            </a:pPr>
            <a:r>
              <a:rPr sz="2800" dirty="0"/>
              <a:t>MCP Server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645920"/>
            <a:ext cx="4572000" cy="27432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1100" b="0">
                <a:solidFill>
                  <a:srgbClr val="C6C6C6"/>
                </a:solidFill>
                <a:latin typeface="Calibri"/>
              </a:defRPr>
            </a:pPr>
            <a:r>
              <a:t>Live data access — the data plane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011680"/>
            <a:ext cx="4937760" cy="640080"/>
          </a:xfrm>
          <a:prstGeom prst="rect">
            <a:avLst/>
          </a:prstGeom>
          <a:solidFill>
            <a:srgbClr val="2A2A2A"/>
          </a:solidFill>
          <a:ln w="12700">
            <a:solidFill>
              <a:srgbClr val="4A4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45720" bIns="36576" rtlCol="0" anchor="ctr"/>
          <a:lstStyle/>
          <a:p>
            <a:pPr algn="ctr">
              <a:spcAft>
                <a:spcPts val="200"/>
              </a:spcAft>
              <a:defRPr sz="1000" b="1">
                <a:solidFill>
                  <a:srgbClr val="1192E8"/>
                </a:solidFill>
                <a:latin typeface="Calibri"/>
              </a:defRPr>
            </a:pPr>
            <a:r>
              <a:rPr sz="1400" dirty="0"/>
              <a:t>What it is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900">
                <a:solidFill>
                  <a:srgbClr val="F4F4F4"/>
                </a:solidFill>
                <a:latin typeface="Calibri"/>
              </a:defRPr>
            </a:pPr>
            <a:r>
              <a:rPr sz="1200" dirty="0"/>
              <a:t>Running service exposing tools</a:t>
            </a:r>
            <a:br>
              <a:rPr sz="1200" dirty="0"/>
            </a:br>
            <a:r>
              <a:rPr sz="1200" dirty="0"/>
              <a:t>via Model Context Protocol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2697480"/>
            <a:ext cx="4937760" cy="640080"/>
          </a:xfrm>
          <a:prstGeom prst="rect">
            <a:avLst/>
          </a:prstGeom>
          <a:solidFill>
            <a:srgbClr val="2A2A2A"/>
          </a:solidFill>
          <a:ln w="12700">
            <a:solidFill>
              <a:srgbClr val="4A4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45720" bIns="36576" rtlCol="0" anchor="ctr"/>
          <a:lstStyle/>
          <a:p>
            <a:pPr algn="ctr">
              <a:spcAft>
                <a:spcPts val="200"/>
              </a:spcAft>
              <a:defRPr sz="1000" b="1">
                <a:solidFill>
                  <a:srgbClr val="1192E8"/>
                </a:solidFill>
                <a:latin typeface="Calibri"/>
              </a:defRPr>
            </a:pPr>
            <a:r>
              <a:rPr sz="1400"/>
              <a:t>Where it runs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900">
                <a:solidFill>
                  <a:srgbClr val="F4F4F4"/>
                </a:solidFill>
                <a:latin typeface="Calibri"/>
              </a:defRPr>
            </a:pPr>
            <a:r>
              <a:rPr sz="1200"/>
              <a:t>Separate process or container</a:t>
            </a:r>
            <a:br>
              <a:rPr sz="1200"/>
            </a:br>
            <a:r>
              <a:rPr sz="1200"/>
              <a:t>(deployed infrastructure)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3383280"/>
            <a:ext cx="4937760" cy="640080"/>
          </a:xfrm>
          <a:prstGeom prst="rect">
            <a:avLst/>
          </a:prstGeom>
          <a:solidFill>
            <a:srgbClr val="2A2A2A"/>
          </a:solidFill>
          <a:ln w="12700">
            <a:solidFill>
              <a:srgbClr val="4A4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45720" bIns="36576" rtlCol="0" anchor="ctr"/>
          <a:lstStyle/>
          <a:p>
            <a:pPr algn="ctr">
              <a:spcAft>
                <a:spcPts val="200"/>
              </a:spcAft>
              <a:defRPr sz="1000" b="1">
                <a:solidFill>
                  <a:srgbClr val="1192E8"/>
                </a:solidFill>
                <a:latin typeface="Calibri"/>
              </a:defRPr>
            </a:pPr>
            <a:r>
              <a:rPr sz="1400"/>
              <a:t>What it provides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900">
                <a:solidFill>
                  <a:srgbClr val="F4F4F4"/>
                </a:solidFill>
                <a:latin typeface="Calibri"/>
              </a:defRPr>
            </a:pPr>
            <a:r>
              <a:rPr sz="1200"/>
              <a:t>Live data access — query, mutate,</a:t>
            </a:r>
            <a:br>
              <a:rPr sz="1200"/>
            </a:br>
            <a:r>
              <a:rPr sz="1200"/>
              <a:t>observe in real time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4069080"/>
            <a:ext cx="4937760" cy="640080"/>
          </a:xfrm>
          <a:prstGeom prst="rect">
            <a:avLst/>
          </a:prstGeom>
          <a:solidFill>
            <a:srgbClr val="2A2A2A"/>
          </a:solidFill>
          <a:ln w="12700">
            <a:solidFill>
              <a:srgbClr val="4A4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45720" bIns="36576" rtlCol="0" anchor="ctr"/>
          <a:lstStyle/>
          <a:p>
            <a:pPr algn="ctr">
              <a:spcAft>
                <a:spcPts val="200"/>
              </a:spcAft>
              <a:defRPr sz="1000" b="1">
                <a:solidFill>
                  <a:srgbClr val="1192E8"/>
                </a:solidFill>
                <a:latin typeface="Calibri"/>
              </a:defRPr>
            </a:pPr>
            <a:r>
              <a:rPr sz="1400"/>
              <a:t>Context cost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900">
                <a:solidFill>
                  <a:srgbClr val="F4F4F4"/>
                </a:solidFill>
                <a:latin typeface="Calibri"/>
              </a:defRPr>
            </a:pPr>
            <a:r>
              <a:rPr sz="1200"/>
              <a:t>Each tool call's results fill</a:t>
            </a:r>
            <a:br>
              <a:rPr sz="1200"/>
            </a:br>
            <a:r>
              <a:rPr sz="1200"/>
              <a:t>the context window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4754880"/>
            <a:ext cx="4937760" cy="640080"/>
          </a:xfrm>
          <a:prstGeom prst="rect">
            <a:avLst/>
          </a:prstGeom>
          <a:solidFill>
            <a:srgbClr val="2A2A2A"/>
          </a:solidFill>
          <a:ln w="12700">
            <a:solidFill>
              <a:srgbClr val="4A4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45720" bIns="36576" rtlCol="0" anchor="ctr"/>
          <a:lstStyle/>
          <a:p>
            <a:pPr algn="ctr">
              <a:spcAft>
                <a:spcPts val="200"/>
              </a:spcAft>
              <a:defRPr sz="1000" b="1">
                <a:solidFill>
                  <a:srgbClr val="1192E8"/>
                </a:solidFill>
                <a:latin typeface="Calibri"/>
              </a:defRPr>
            </a:pPr>
            <a:r>
              <a:rPr sz="1400"/>
              <a:t>Maintenance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900">
                <a:solidFill>
                  <a:srgbClr val="F4F4F4"/>
                </a:solidFill>
                <a:latin typeface="Calibri"/>
              </a:defRPr>
            </a:pPr>
            <a:r>
              <a:rPr sz="1200"/>
              <a:t>Write code, deploy, monitor</a:t>
            </a:r>
            <a:br>
              <a:rPr sz="1200"/>
            </a:br>
            <a:r>
              <a:rPr sz="1200"/>
              <a:t>a running service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" y="5440680"/>
            <a:ext cx="4937760" cy="640080"/>
          </a:xfrm>
          <a:prstGeom prst="rect">
            <a:avLst/>
          </a:prstGeom>
          <a:solidFill>
            <a:srgbClr val="2A2A2A"/>
          </a:solidFill>
          <a:ln w="12700">
            <a:solidFill>
              <a:srgbClr val="4A4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45720" bIns="36576" rtlCol="0" anchor="ctr"/>
          <a:lstStyle/>
          <a:p>
            <a:pPr algn="ctr">
              <a:spcAft>
                <a:spcPts val="200"/>
              </a:spcAft>
              <a:defRPr sz="1000" b="1">
                <a:solidFill>
                  <a:srgbClr val="1192E8"/>
                </a:solidFill>
                <a:latin typeface="Calibri"/>
              </a:defRPr>
            </a:pPr>
            <a:r>
              <a:rPr sz="1400"/>
              <a:t>Best for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900">
                <a:solidFill>
                  <a:srgbClr val="F4F4F4"/>
                </a:solidFill>
                <a:latin typeface="Calibri"/>
              </a:defRPr>
            </a:pPr>
            <a:r>
              <a:rPr sz="1200"/>
              <a:t>Real-time data, actions with</a:t>
            </a:r>
            <a:br>
              <a:rPr sz="1200"/>
            </a:br>
            <a:r>
              <a:rPr sz="1200"/>
              <a:t>side effects, live observation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09360" y="1234440"/>
            <a:ext cx="5303520" cy="5212080"/>
          </a:xfrm>
          <a:prstGeom prst="rect">
            <a:avLst/>
          </a:prstGeom>
          <a:solidFill>
            <a:srgbClr val="262626"/>
          </a:solidFill>
          <a:ln w="12700">
            <a:solidFill>
              <a:srgbClr val="8A3F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/>
          </a:p>
        </p:txBody>
      </p:sp>
      <p:sp>
        <p:nvSpPr>
          <p:cNvPr id="15" name="TextBox 14"/>
          <p:cNvSpPr txBox="1"/>
          <p:nvPr/>
        </p:nvSpPr>
        <p:spPr>
          <a:xfrm>
            <a:off x="6492240" y="1280160"/>
            <a:ext cx="4572000" cy="36576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2000" b="1">
                <a:solidFill>
                  <a:srgbClr val="8A3FFC"/>
                </a:solidFill>
                <a:latin typeface="Calibri"/>
              </a:defRPr>
            </a:pPr>
            <a:r>
              <a:rPr sz="2800" dirty="0"/>
              <a:t>Agent Skill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240" y="1645920"/>
            <a:ext cx="4572000" cy="27432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1100" b="0">
                <a:solidFill>
                  <a:srgbClr val="C6C6C6"/>
                </a:solidFill>
                <a:latin typeface="Calibri"/>
              </a:defRPr>
            </a:pPr>
            <a:r>
              <a:t>Domain knowledge — the control plane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92240" y="2011680"/>
            <a:ext cx="4937760" cy="640080"/>
          </a:xfrm>
          <a:prstGeom prst="rect">
            <a:avLst/>
          </a:prstGeom>
          <a:solidFill>
            <a:srgbClr val="2A2A2A"/>
          </a:solidFill>
          <a:ln w="12700">
            <a:solidFill>
              <a:srgbClr val="4A4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45720" bIns="36576" rtlCol="0" anchor="ctr"/>
          <a:lstStyle/>
          <a:p>
            <a:pPr algn="ctr">
              <a:spcAft>
                <a:spcPts val="200"/>
              </a:spcAft>
              <a:defRPr sz="1000" b="1">
                <a:solidFill>
                  <a:srgbClr val="8A3FFC"/>
                </a:solidFill>
                <a:latin typeface="Calibri"/>
              </a:defRPr>
            </a:pPr>
            <a:r>
              <a:rPr sz="1400"/>
              <a:t>What it is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900">
                <a:solidFill>
                  <a:srgbClr val="F4F4F4"/>
                </a:solidFill>
                <a:latin typeface="Calibri"/>
              </a:defRPr>
            </a:pPr>
            <a:r>
              <a:rPr sz="1200"/>
              <a:t>Markdown file with trigger conditions</a:t>
            </a:r>
            <a:br>
              <a:rPr sz="1200"/>
            </a:br>
            <a:r>
              <a:rPr sz="1200"/>
              <a:t>and instructions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92240" y="2697480"/>
            <a:ext cx="4937760" cy="640080"/>
          </a:xfrm>
          <a:prstGeom prst="rect">
            <a:avLst/>
          </a:prstGeom>
          <a:solidFill>
            <a:srgbClr val="2A2A2A"/>
          </a:solidFill>
          <a:ln w="12700">
            <a:solidFill>
              <a:srgbClr val="4A4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45720" bIns="36576" rtlCol="0" anchor="ctr"/>
          <a:lstStyle/>
          <a:p>
            <a:pPr algn="ctr">
              <a:spcAft>
                <a:spcPts val="200"/>
              </a:spcAft>
              <a:defRPr sz="1000" b="1">
                <a:solidFill>
                  <a:srgbClr val="8A3FFC"/>
                </a:solidFill>
                <a:latin typeface="Calibri"/>
              </a:defRPr>
            </a:pPr>
            <a:r>
              <a:rPr sz="1400"/>
              <a:t>Where it runs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900">
                <a:solidFill>
                  <a:srgbClr val="F4F4F4"/>
                </a:solidFill>
                <a:latin typeface="Calibri"/>
              </a:defRPr>
            </a:pPr>
            <a:r>
              <a:rPr sz="1200"/>
              <a:t>Loaded into the agent's context</a:t>
            </a:r>
            <a:br>
              <a:rPr sz="1200"/>
            </a:br>
            <a:r>
              <a:rPr sz="1200"/>
              <a:t>window on-demand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92240" y="3383280"/>
            <a:ext cx="4937760" cy="640080"/>
          </a:xfrm>
          <a:prstGeom prst="rect">
            <a:avLst/>
          </a:prstGeom>
          <a:solidFill>
            <a:srgbClr val="2A2A2A"/>
          </a:solidFill>
          <a:ln w="12700">
            <a:solidFill>
              <a:srgbClr val="4A4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45720" bIns="36576" rtlCol="0" anchor="ctr"/>
          <a:lstStyle/>
          <a:p>
            <a:pPr algn="ctr">
              <a:spcAft>
                <a:spcPts val="200"/>
              </a:spcAft>
              <a:defRPr sz="1000" b="1">
                <a:solidFill>
                  <a:srgbClr val="8A3FFC"/>
                </a:solidFill>
                <a:latin typeface="Calibri"/>
              </a:defRPr>
            </a:pPr>
            <a:r>
              <a:rPr sz="1400"/>
              <a:t>What it provides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900">
                <a:solidFill>
                  <a:srgbClr val="F4F4F4"/>
                </a:solidFill>
                <a:latin typeface="Calibri"/>
              </a:defRPr>
            </a:pPr>
            <a:r>
              <a:rPr sz="1200"/>
              <a:t>Domain knowledge, procedures,</a:t>
            </a:r>
            <a:br>
              <a:rPr sz="1200"/>
            </a:br>
            <a:r>
              <a:rPr sz="1200"/>
              <a:t>runbooks, playbooks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92240" y="4069080"/>
            <a:ext cx="4937760" cy="640080"/>
          </a:xfrm>
          <a:prstGeom prst="rect">
            <a:avLst/>
          </a:prstGeom>
          <a:solidFill>
            <a:srgbClr val="2A2A2A"/>
          </a:solidFill>
          <a:ln w="12700">
            <a:solidFill>
              <a:srgbClr val="4A4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45720" bIns="36576" rtlCol="0" anchor="ctr"/>
          <a:lstStyle/>
          <a:p>
            <a:pPr algn="ctr">
              <a:spcAft>
                <a:spcPts val="200"/>
              </a:spcAft>
              <a:defRPr sz="1000" b="1">
                <a:solidFill>
                  <a:srgbClr val="8A3FFC"/>
                </a:solidFill>
                <a:latin typeface="Calibri"/>
              </a:defRPr>
            </a:pPr>
            <a:r>
              <a:rPr sz="1400"/>
              <a:t>Context cost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900">
                <a:solidFill>
                  <a:srgbClr val="F4F4F4"/>
                </a:solidFill>
                <a:latin typeface="Calibri"/>
              </a:defRPr>
            </a:pPr>
            <a:r>
              <a:rPr sz="1200"/>
              <a:t>Loaded once when triggered —</a:t>
            </a:r>
            <a:br>
              <a:rPr sz="1200"/>
            </a:br>
            <a:r>
              <a:rPr sz="1200"/>
              <a:t>predictable footprint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92240" y="4754880"/>
            <a:ext cx="4937760" cy="640080"/>
          </a:xfrm>
          <a:prstGeom prst="rect">
            <a:avLst/>
          </a:prstGeom>
          <a:solidFill>
            <a:srgbClr val="2A2A2A"/>
          </a:solidFill>
          <a:ln w="12700">
            <a:solidFill>
              <a:srgbClr val="4A4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45720" bIns="36576" rtlCol="0" anchor="ctr"/>
          <a:lstStyle/>
          <a:p>
            <a:pPr algn="ctr">
              <a:spcAft>
                <a:spcPts val="200"/>
              </a:spcAft>
              <a:defRPr sz="1000" b="1">
                <a:solidFill>
                  <a:srgbClr val="8A3FFC"/>
                </a:solidFill>
                <a:latin typeface="Calibri"/>
              </a:defRPr>
            </a:pPr>
            <a:r>
              <a:rPr sz="1400"/>
              <a:t>Maintenance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900">
                <a:solidFill>
                  <a:srgbClr val="F4F4F4"/>
                </a:solidFill>
                <a:latin typeface="Calibri"/>
              </a:defRPr>
            </a:pPr>
            <a:r>
              <a:rPr sz="1200"/>
              <a:t>Edit a markdown file —</a:t>
            </a:r>
            <a:br>
              <a:rPr sz="1200"/>
            </a:br>
            <a:r>
              <a:rPr sz="1200"/>
              <a:t>no deployment needed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92240" y="5440680"/>
            <a:ext cx="4937760" cy="640080"/>
          </a:xfrm>
          <a:prstGeom prst="rect">
            <a:avLst/>
          </a:prstGeom>
          <a:solidFill>
            <a:srgbClr val="2A2A2A"/>
          </a:solidFill>
          <a:ln w="12700">
            <a:solidFill>
              <a:srgbClr val="4A4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45720" bIns="36576" rtlCol="0" anchor="ctr"/>
          <a:lstStyle/>
          <a:p>
            <a:pPr algn="ctr">
              <a:spcAft>
                <a:spcPts val="200"/>
              </a:spcAft>
              <a:defRPr sz="1000" b="1">
                <a:solidFill>
                  <a:srgbClr val="8A3FFC"/>
                </a:solidFill>
                <a:latin typeface="Calibri"/>
              </a:defRPr>
            </a:pPr>
            <a:r>
              <a:rPr sz="1400"/>
              <a:t>Best for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900">
                <a:solidFill>
                  <a:srgbClr val="F4F4F4"/>
                </a:solidFill>
                <a:latin typeface="Calibri"/>
              </a:defRPr>
            </a:pPr>
            <a:r>
              <a:rPr sz="1200"/>
              <a:t>Runbooks, deployment playbooks,</a:t>
            </a:r>
            <a:br>
              <a:rPr sz="1200"/>
            </a:br>
            <a:r>
              <a:rPr sz="1200"/>
              <a:t>troubleshooting procedures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6537960"/>
            <a:ext cx="11064240" cy="228600"/>
          </a:xfrm>
          <a:prstGeom prst="rect">
            <a:avLst/>
          </a:prstGeom>
          <a:solidFill>
            <a:srgbClr val="0F6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/>
          </a:p>
        </p:txBody>
      </p:sp>
      <p:sp>
        <p:nvSpPr>
          <p:cNvPr id="24" name="TextBox 23"/>
          <p:cNvSpPr txBox="1"/>
          <p:nvPr/>
        </p:nvSpPr>
        <p:spPr>
          <a:xfrm>
            <a:off x="731520" y="6537960"/>
            <a:ext cx="10972800" cy="22860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rPr sz="1600"/>
              <a:t>Together:  MCP for observation  +  Skills for action  =  AI that knows what's happening AND what to do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16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Bar"/>
          <p:cNvSpPr/>
          <p:nvPr/>
        </p:nvSpPr>
        <p:spPr>
          <a:xfrm>
            <a:off x="731520" y="365760"/>
            <a:ext cx="54864" cy="411480"/>
          </a:xfrm>
          <a:prstGeom prst="rect">
            <a:avLst/>
          </a:prstGeom>
          <a:solidFill>
            <a:srgbClr val="0F6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3" name="Title"/>
          <p:cNvSpPr txBox="1"/>
          <p:nvPr/>
        </p:nvSpPr>
        <p:spPr>
          <a:xfrm>
            <a:off x="960120" y="365760"/>
            <a:ext cx="10000000" cy="50292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Three Cassandra Skills, Three Lenses</a:t>
            </a:r>
          </a:p>
        </p:txBody>
      </p:sp>
      <p:sp>
        <p:nvSpPr>
          <p:cNvPr id="4" name="Subtitle"/>
          <p:cNvSpPr txBox="1"/>
          <p:nvPr/>
        </p:nvSpPr>
        <p:spPr>
          <a:xfrm>
            <a:off x="960120" y="960120"/>
            <a:ext cx="10000000" cy="27432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1400" b="1">
                <a:solidFill>
                  <a:srgbClr val="78A9FF"/>
                </a:solidFill>
                <a:latin typeface="Calibri"/>
              </a:defRPr>
            </a:pPr>
            <a:r>
              <a:t>Each operates on the same MCP-collected data — with a different stance</a:t>
            </a:r>
          </a:p>
        </p:txBody>
      </p:sp>
      <p:sp>
        <p:nvSpPr>
          <p:cNvPr id="10" name="Diagnose Label"/>
          <p:cNvSpPr txBox="1"/>
          <p:nvPr/>
        </p:nvSpPr>
        <p:spPr>
          <a:xfrm>
            <a:off x="548640" y="1500000"/>
            <a:ext cx="3400000" cy="22860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ctr">
              <a:defRPr sz="1100" b="1">
                <a:solidFill>
                  <a:srgbClr val="C6C6C6"/>
                </a:solidFill>
                <a:latin typeface="Calibri"/>
              </a:defRPr>
            </a:pPr>
            <a:r>
              <a:rPr sz="1300"/>
              <a:t>Systematic problem-finding</a:t>
            </a:r>
          </a:p>
        </p:txBody>
      </p:sp>
      <p:sp>
        <p:nvSpPr>
          <p:cNvPr id="11" name="Diagnose Box"/>
          <p:cNvSpPr/>
          <p:nvPr/>
        </p:nvSpPr>
        <p:spPr>
          <a:xfrm>
            <a:off x="548640" y="1800000"/>
            <a:ext cx="3400000" cy="3700000"/>
          </a:xfrm>
          <a:prstGeom prst="rect">
            <a:avLst/>
          </a:prstGeom>
          <a:solidFill>
            <a:srgbClr val="2A2A2A"/>
          </a:solidFill>
          <a:ln w="12700">
            <a:solidFill>
              <a:srgbClr val="119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46304" rIns="146304" bIns="91440" rtlCol="0" anchor="t"/>
          <a:lstStyle/>
          <a:p>
            <a:pPr algn="ctr">
              <a:spcAft>
                <a:spcPts val="600"/>
              </a:spcAft>
              <a:defRPr sz="1000" b="1">
                <a:solidFill>
                  <a:srgbClr val="1192E8"/>
                </a:solidFill>
                <a:latin typeface="Consolas"/>
              </a:defRPr>
            </a:pPr>
            <a:r>
              <a:rPr sz="2400"/>
              <a:t>/diagnose</a:t>
            </a:r>
          </a:p>
          <a:p>
            <a:pPr algn="ctr">
              <a:spcBef>
                <a:spcPts val="100"/>
              </a:spcBef>
              <a:spcAft>
                <a:spcPts val="500"/>
              </a:spcAft>
              <a:defRPr sz="900" i="1">
                <a:solidFill>
                  <a:srgbClr val="8D8D8D"/>
                </a:solidFill>
                <a:latin typeface="Calibri"/>
              </a:defRPr>
            </a:pPr>
            <a:r>
              <a:rPr sz="1100" i="1"/>
              <a:t>USE method across all nodes</a:t>
            </a:r>
          </a:p>
          <a:p>
            <a:pPr algn="l">
              <a:spcBef>
                <a:spcPts val="200"/>
              </a:spcBef>
              <a:spcAft>
                <a:spcPts val="300"/>
              </a:spcAft>
              <a:defRPr sz="900">
                <a:solidFill>
                  <a:srgbClr val="C6C6C6"/>
                </a:solidFill>
                <a:latin typeface="Calibri"/>
              </a:defRPr>
            </a:pPr>
            <a:r>
              <a:rPr sz="1100"/>
              <a:t>Utilization, saturation, errors — CPU, memory, disk, network, thread pools</a:t>
            </a:r>
          </a:p>
          <a:p>
            <a:pPr algn="l">
              <a:spcBef>
                <a:spcPts val="200"/>
              </a:spcBef>
              <a:spcAft>
                <a:spcPts val="300"/>
              </a:spcAft>
              <a:defRPr sz="900">
                <a:solidFill>
                  <a:srgbClr val="C6C6C6"/>
                </a:solidFill>
                <a:latin typeface="Calibri"/>
              </a:defRPr>
            </a:pPr>
            <a:r>
              <a:rPr sz="1100"/>
              <a:t>Compares every node for outliers</a:t>
            </a:r>
          </a:p>
          <a:p>
            <a:pPr algn="l">
              <a:spcBef>
                <a:spcPts val="200"/>
              </a:spcBef>
              <a:spcAft>
                <a:spcPts val="300"/>
              </a:spcAft>
              <a:defRPr sz="900">
                <a:solidFill>
                  <a:srgbClr val="C6C6C6"/>
                </a:solidFill>
                <a:latin typeface="Calibri"/>
              </a:defRPr>
            </a:pPr>
            <a:r>
              <a:rPr sz="1100"/>
              <a:t>Connects observations a dashboard would never join</a:t>
            </a:r>
          </a:p>
          <a:p>
            <a:pPr algn="l">
              <a:spcBef>
                <a:spcPts val="500"/>
              </a:spcBef>
              <a:spcAft>
                <a:spcPts val="200"/>
              </a:spcAft>
              <a:defRPr sz="900" b="1">
                <a:solidFill>
                  <a:srgbClr val="1192E8"/>
                </a:solidFill>
                <a:latin typeface="Calibri"/>
              </a:defRPr>
            </a:pPr>
            <a:r>
              <a:rPr sz="1000" b="1"/>
              <a:t>Live finding: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defRPr sz="900" i="1">
                <a:solidFill>
                  <a:srgbClr val="C6C6C6"/>
                </a:solidFill>
                <a:latin typeface="Calibri"/>
              </a:defRPr>
            </a:pPr>
            <a:r>
              <a:rPr sz="1000" i="1"/>
              <a:t>“CFS throttling: pods at 6.0/6.0 CPU, hosts at 30-70%, zero pending tasks. Flat dashboards miss this.”</a:t>
            </a:r>
          </a:p>
        </p:txBody>
      </p:sp>
      <p:sp>
        <p:nvSpPr>
          <p:cNvPr id="20" name="Optimize Label"/>
          <p:cNvSpPr txBox="1"/>
          <p:nvPr/>
        </p:nvSpPr>
        <p:spPr>
          <a:xfrm>
            <a:off x="4396000" y="1500000"/>
            <a:ext cx="3400000" cy="22860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ctr">
              <a:defRPr sz="1100" b="1">
                <a:solidFill>
                  <a:srgbClr val="C6C6C6"/>
                </a:solidFill>
                <a:latin typeface="Calibri"/>
              </a:defRPr>
            </a:pPr>
            <a:r>
              <a:rPr sz="1300"/>
              <a:t>Tier-ranked tuning</a:t>
            </a:r>
          </a:p>
        </p:txBody>
      </p:sp>
      <p:sp>
        <p:nvSpPr>
          <p:cNvPr id="21" name="Optimize Box"/>
          <p:cNvSpPr/>
          <p:nvPr/>
        </p:nvSpPr>
        <p:spPr>
          <a:xfrm>
            <a:off x="4396000" y="1800000"/>
            <a:ext cx="3400000" cy="3700000"/>
          </a:xfrm>
          <a:prstGeom prst="rect">
            <a:avLst/>
          </a:prstGeom>
          <a:solidFill>
            <a:srgbClr val="2A2A2A"/>
          </a:solidFill>
          <a:ln w="12700">
            <a:solidFill>
              <a:srgbClr val="F1C21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46304" rIns="146304" bIns="91440" rtlCol="0" anchor="t"/>
          <a:lstStyle/>
          <a:p>
            <a:pPr algn="ctr">
              <a:spcAft>
                <a:spcPts val="600"/>
              </a:spcAft>
              <a:defRPr sz="1000" b="1">
                <a:solidFill>
                  <a:srgbClr val="F1C21B"/>
                </a:solidFill>
                <a:latin typeface="Consolas"/>
              </a:defRPr>
            </a:pPr>
            <a:r>
              <a:rPr sz="2400"/>
              <a:t>/optimize</a:t>
            </a:r>
          </a:p>
          <a:p>
            <a:pPr algn="ctr">
              <a:spcBef>
                <a:spcPts val="100"/>
              </a:spcBef>
              <a:spcAft>
                <a:spcPts val="500"/>
              </a:spcAft>
              <a:defRPr sz="900" i="1">
                <a:solidFill>
                  <a:srgbClr val="8D8D8D"/>
                </a:solidFill>
                <a:latin typeface="Calibri"/>
              </a:defRPr>
            </a:pPr>
            <a:r>
              <a:rPr sz="1100" i="1"/>
              <a:t>Concrete deltas, ranked by impact</a:t>
            </a:r>
          </a:p>
          <a:p>
            <a:pPr algn="l">
              <a:spcBef>
                <a:spcPts val="200"/>
              </a:spcBef>
              <a:spcAft>
                <a:spcPts val="300"/>
              </a:spcAft>
              <a:defRPr sz="900">
                <a:solidFill>
                  <a:srgbClr val="C6C6C6"/>
                </a:solidFill>
                <a:latin typeface="Calibri"/>
              </a:defRPr>
            </a:pPr>
            <a:r>
              <a:rPr sz="1100"/>
              <a:t>cassandra.yaml + ALTER TABLE deltas</a:t>
            </a:r>
          </a:p>
          <a:p>
            <a:pPr algn="l">
              <a:spcBef>
                <a:spcPts val="200"/>
              </a:spcBef>
              <a:spcAft>
                <a:spcPts val="300"/>
              </a:spcAft>
              <a:defRPr sz="900">
                <a:solidFill>
                  <a:srgbClr val="C6C6C6"/>
                </a:solidFill>
                <a:latin typeface="Calibri"/>
              </a:defRPr>
            </a:pPr>
            <a:r>
              <a:rPr sz="1100"/>
              <a:t>Each comes with reason and expected impact</a:t>
            </a:r>
          </a:p>
          <a:p>
            <a:pPr algn="l">
              <a:spcBef>
                <a:spcPts val="200"/>
              </a:spcBef>
              <a:spcAft>
                <a:spcPts val="300"/>
              </a:spcAft>
              <a:defRPr sz="900">
                <a:solidFill>
                  <a:srgbClr val="C6C6C6"/>
                </a:solidFill>
                <a:latin typeface="Calibri"/>
              </a:defRPr>
            </a:pPr>
            <a:r>
              <a:rPr sz="1100"/>
              <a:t>Tier 1 / Tier 2 / Tier 3 priority</a:t>
            </a:r>
          </a:p>
          <a:p>
            <a:pPr algn="l">
              <a:spcBef>
                <a:spcPts val="500"/>
              </a:spcBef>
              <a:spcAft>
                <a:spcPts val="200"/>
              </a:spcAft>
              <a:defRPr sz="900" b="1">
                <a:solidFill>
                  <a:srgbClr val="F1C21B"/>
                </a:solidFill>
                <a:latin typeface="Calibri"/>
              </a:defRPr>
            </a:pPr>
            <a:r>
              <a:rPr sz="1000" b="1"/>
              <a:t>Live recommendation: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defRPr sz="900" i="1">
                <a:solidFill>
                  <a:srgbClr val="C6C6C6"/>
                </a:solidFill>
                <a:latin typeface="Calibri"/>
              </a:defRPr>
            </a:pPr>
            <a:r>
              <a:rPr sz="1000" i="1"/>
              <a:t>“key_cache_size_in_mb: 0 in operator default. Table requests caching: ALL — silently ignored. Fix to 100. Expected: 92k → 110-120k ops/sec.”</a:t>
            </a:r>
          </a:p>
        </p:txBody>
      </p:sp>
      <p:sp>
        <p:nvSpPr>
          <p:cNvPr id="30" name="Expert Label"/>
          <p:cNvSpPr txBox="1"/>
          <p:nvPr/>
        </p:nvSpPr>
        <p:spPr>
          <a:xfrm>
            <a:off x="8243360" y="1500000"/>
            <a:ext cx="3400000" cy="22860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ctr">
              <a:defRPr sz="1100" b="1">
                <a:solidFill>
                  <a:srgbClr val="C6C6C6"/>
                </a:solidFill>
                <a:latin typeface="Calibri"/>
              </a:defRPr>
            </a:pPr>
            <a:r>
              <a:rPr sz="1300"/>
              <a:t>Opinionated big-picture</a:t>
            </a:r>
          </a:p>
        </p:txBody>
      </p:sp>
      <p:sp>
        <p:nvSpPr>
          <p:cNvPr id="31" name="Expert Box"/>
          <p:cNvSpPr/>
          <p:nvPr/>
        </p:nvSpPr>
        <p:spPr>
          <a:xfrm>
            <a:off x="8243360" y="1800000"/>
            <a:ext cx="3400000" cy="3700000"/>
          </a:xfrm>
          <a:prstGeom prst="rect">
            <a:avLst/>
          </a:prstGeom>
          <a:solidFill>
            <a:srgbClr val="2A2A2A"/>
          </a:solidFill>
          <a:ln w="12700">
            <a:solidFill>
              <a:srgbClr val="8A3F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46304" rIns="146304" bIns="91440" rtlCol="0" anchor="t"/>
          <a:lstStyle/>
          <a:p>
            <a:pPr algn="ctr">
              <a:spcAft>
                <a:spcPts val="600"/>
              </a:spcAft>
              <a:defRPr sz="1000" b="1">
                <a:solidFill>
                  <a:srgbClr val="8A3FFC"/>
                </a:solidFill>
                <a:latin typeface="Consolas"/>
              </a:defRPr>
            </a:pPr>
            <a:r>
              <a:rPr sz="2400"/>
              <a:t>/expert</a:t>
            </a:r>
          </a:p>
          <a:p>
            <a:pPr algn="ctr">
              <a:spcBef>
                <a:spcPts val="100"/>
              </a:spcBef>
              <a:spcAft>
                <a:spcPts val="500"/>
              </a:spcAft>
              <a:defRPr sz="900" i="1">
                <a:solidFill>
                  <a:srgbClr val="8D8D8D"/>
                </a:solidFill>
                <a:latin typeface="Calibri"/>
              </a:defRPr>
            </a:pPr>
            <a:r>
              <a:rPr sz="1100" i="1"/>
              <a:t>Trade-offs and production-readiness</a:t>
            </a:r>
          </a:p>
          <a:p>
            <a:pPr algn="l">
              <a:spcBef>
                <a:spcPts val="200"/>
              </a:spcBef>
              <a:spcAft>
                <a:spcPts val="300"/>
              </a:spcAft>
              <a:defRPr sz="900">
                <a:solidFill>
                  <a:srgbClr val="C6C6C6"/>
                </a:solidFill>
                <a:latin typeface="Calibri"/>
              </a:defRPr>
            </a:pPr>
            <a:r>
              <a:rPr sz="1100"/>
              <a:t>Anti-patterns, defensible-vs-dangerous defaults</a:t>
            </a:r>
          </a:p>
          <a:p>
            <a:pPr algn="l">
              <a:spcBef>
                <a:spcPts val="200"/>
              </a:spcBef>
              <a:spcAft>
                <a:spcPts val="300"/>
              </a:spcAft>
              <a:defRPr sz="900">
                <a:solidFill>
                  <a:srgbClr val="C6C6C6"/>
                </a:solidFill>
                <a:latin typeface="Calibri"/>
              </a:defRPr>
            </a:pPr>
            <a:r>
              <a:rPr sz="1100"/>
              <a:t>Real C* community stances baked in</a:t>
            </a:r>
          </a:p>
          <a:p>
            <a:pPr algn="l">
              <a:spcBef>
                <a:spcPts val="200"/>
              </a:spcBef>
              <a:spcAft>
                <a:spcPts val="300"/>
              </a:spcAft>
              <a:defRPr sz="900">
                <a:solidFill>
                  <a:srgbClr val="C6C6C6"/>
                </a:solidFill>
                <a:latin typeface="Calibri"/>
              </a:defRPr>
            </a:pPr>
            <a:r>
              <a:rPr sz="1100"/>
              <a:t>“Here’s what I’d actually do, and why”</a:t>
            </a:r>
          </a:p>
          <a:p>
            <a:pPr algn="l">
              <a:spcBef>
                <a:spcPts val="500"/>
              </a:spcBef>
              <a:spcAft>
                <a:spcPts val="200"/>
              </a:spcAft>
              <a:defRPr sz="900" b="1">
                <a:solidFill>
                  <a:srgbClr val="8A3FFC"/>
                </a:solidFill>
                <a:latin typeface="Calibri"/>
              </a:defRPr>
            </a:pPr>
            <a:r>
              <a:rPr sz="1000" b="1"/>
              <a:t>Live quote: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defRPr sz="900" i="1">
                <a:solidFill>
                  <a:srgbClr val="C6C6C6"/>
                </a:solidFill>
                <a:latin typeface="Calibri"/>
              </a:defRPr>
            </a:pPr>
            <a:r>
              <a:rPr sz="1000" i="1"/>
              <a:t>“softPodAntiAffinity is defensible only for dev/CI/workshop — not for any RF=3 cluster where availability matters.”</a:t>
            </a:r>
          </a:p>
        </p:txBody>
      </p:sp>
      <p:sp>
        <p:nvSpPr>
          <p:cNvPr id="60" name="Footer"/>
          <p:cNvSpPr txBox="1"/>
          <p:nvPr/>
        </p:nvSpPr>
        <p:spPr>
          <a:xfrm>
            <a:off x="548640" y="5700000"/>
            <a:ext cx="11094720" cy="32004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ctr">
              <a:defRPr sz="1200" b="1">
                <a:solidFill>
                  <a:srgbClr val="78A9FF"/>
                </a:solidFill>
                <a:latin typeface="Calibri"/>
              </a:defRPr>
            </a:pPr>
            <a:r>
              <a:t>Same MCP data feed, three opinions  —  github.com/rustyrazorblade/skills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16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Bar"/>
          <p:cNvSpPr/>
          <p:nvPr/>
        </p:nvSpPr>
        <p:spPr>
          <a:xfrm>
            <a:off x="731520" y="365760"/>
            <a:ext cx="54864" cy="411480"/>
          </a:xfrm>
          <a:prstGeom prst="rect">
            <a:avLst/>
          </a:prstGeom>
          <a:solidFill>
            <a:srgbClr val="0F6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3" name="Title"/>
          <p:cNvSpPr txBox="1"/>
          <p:nvPr/>
        </p:nvSpPr>
        <p:spPr>
          <a:xfrm>
            <a:off x="960120" y="365760"/>
            <a:ext cx="10000000" cy="50292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Live Scale Under Load</a:t>
            </a:r>
          </a:p>
        </p:txBody>
      </p:sp>
      <p:sp>
        <p:nvSpPr>
          <p:cNvPr id="4" name="Subtitle"/>
          <p:cNvSpPr txBox="1"/>
          <p:nvPr/>
        </p:nvSpPr>
        <p:spPr>
          <a:xfrm>
            <a:off x="960120" y="960120"/>
            <a:ext cx="10000000" cy="27432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1400" b="1">
                <a:solidFill>
                  <a:srgbClr val="78A9FF"/>
                </a:solidFill>
                <a:latin typeface="Calibri"/>
              </a:defRPr>
            </a:pPr>
            <a:r>
              <a:t>3 → 6 → 9 nodes added live, while NoSQLBench hammered at 100k ops/sec</a:t>
            </a:r>
          </a:p>
        </p:txBody>
      </p:sp>
      <p:sp>
        <p:nvSpPr>
          <p:cNvPr id="5" name="Kubectl Command Box"/>
          <p:cNvSpPr/>
          <p:nvPr/>
        </p:nvSpPr>
        <p:spPr>
          <a:xfrm>
            <a:off x="548640" y="1450000"/>
            <a:ext cx="11094720" cy="600000"/>
          </a:xfrm>
          <a:prstGeom prst="rect">
            <a:avLst/>
          </a:prstGeom>
          <a:solidFill>
            <a:srgbClr val="0A0A0A"/>
          </a:solidFill>
          <a:ln w="12700">
            <a:solidFill>
              <a:srgbClr val="4A4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91440" rIns="91440" bIns="91440" rtlCol="0" anchor="ctr"/>
          <a:lstStyle/>
          <a:p>
            <a:pPr algn="l">
              <a:defRPr sz="1100" b="0">
                <a:solidFill>
                  <a:srgbClr val="42BE65"/>
                </a:solidFill>
                <a:latin typeface="Consolas"/>
              </a:defRPr>
            </a:pPr>
            <a:r>
              <a:rPr sz="1400"/>
              <a:t>$  kubectl patch k8ssandracluster demo --type=json \\</a:t>
            </a:r>
          </a:p>
          <a:p>
            <a:pPr algn="l">
              <a:spcBef>
                <a:spcPts val="100"/>
              </a:spcBef>
              <a:defRPr sz="1100" b="0">
                <a:solidFill>
                  <a:srgbClr val="42BE65"/>
                </a:solidFill>
                <a:latin typeface="Consolas"/>
              </a:defRPr>
            </a:pPr>
            <a:r>
              <a:rPr sz="1400"/>
              <a:t xml:space="preserve">     -p='[{"op":"replace","path":"/spec/cassandra/datacenters/0/size","value":9}]'</a:t>
            </a:r>
          </a:p>
        </p:txBody>
      </p:sp>
      <p:sp>
        <p:nvSpPr>
          <p:cNvPr id="10" name="Stat1 Box"/>
          <p:cNvSpPr/>
          <p:nvPr/>
        </p:nvSpPr>
        <p:spPr>
          <a:xfrm>
            <a:off x="548640" y="2250000"/>
            <a:ext cx="2500000" cy="1700000"/>
          </a:xfrm>
          <a:prstGeom prst="rect">
            <a:avLst/>
          </a:prstGeom>
          <a:solidFill>
            <a:srgbClr val="2A2A2A"/>
          </a:solidFill>
          <a:ln w="12700">
            <a:solidFill>
              <a:srgbClr val="42BE6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91440" rIns="91440" bIns="91440" rtlCol="0" anchor="ctr"/>
          <a:lstStyle/>
          <a:p>
            <a:pPr algn="ctr">
              <a:spcAft>
                <a:spcPts val="200"/>
              </a:spcAft>
              <a:defRPr sz="3600" b="1">
                <a:solidFill>
                  <a:srgbClr val="42BE65"/>
                </a:solidFill>
                <a:latin typeface="Calibri"/>
              </a:defRPr>
            </a:pPr>
            <a:r>
              <a:rPr sz="4400"/>
              <a:t>~92k</a:t>
            </a:r>
          </a:p>
          <a:p>
            <a:pPr algn="ctr">
              <a:spcBef>
                <a:spcPts val="100"/>
              </a:spcBef>
              <a:spcAft>
                <a:spcPts val="200"/>
              </a:spcAft>
              <a:defRPr sz="1200" b="1">
                <a:solidFill>
                  <a:srgbClr val="FFFFFF"/>
                </a:solidFill>
                <a:latin typeface="Calibri"/>
              </a:defRPr>
            </a:pPr>
            <a:r>
              <a:rPr sz="1400"/>
              <a:t>ops/sec sustained</a:t>
            </a:r>
          </a:p>
          <a:p>
            <a:pPr algn="ctr">
              <a:spcBef>
                <a:spcPts val="100"/>
              </a:spcBef>
              <a:defRPr sz="900">
                <a:solidFill>
                  <a:srgbClr val="C6C6C6"/>
                </a:solidFill>
                <a:latin typeface="Calibri"/>
              </a:defRPr>
            </a:pPr>
            <a:r>
              <a:rPr sz="1050"/>
              <a:t>over the 1-hour run</a:t>
            </a:r>
          </a:p>
          <a:p>
            <a:pPr algn="ctr">
              <a:spcBef>
                <a:spcPts val="0"/>
              </a:spcBef>
              <a:defRPr sz="900">
                <a:solidFill>
                  <a:srgbClr val="C6C6C6"/>
                </a:solidFill>
                <a:latin typeface="Calibri"/>
              </a:defRPr>
            </a:pPr>
            <a:r>
              <a:rPr sz="1050"/>
              <a:t>of the 100k target</a:t>
            </a:r>
          </a:p>
        </p:txBody>
      </p:sp>
      <p:sp>
        <p:nvSpPr>
          <p:cNvPr id="11" name="Stat2 Box"/>
          <p:cNvSpPr/>
          <p:nvPr/>
        </p:nvSpPr>
        <p:spPr>
          <a:xfrm>
            <a:off x="3413640" y="2250000"/>
            <a:ext cx="2500000" cy="1700000"/>
          </a:xfrm>
          <a:prstGeom prst="rect">
            <a:avLst/>
          </a:prstGeom>
          <a:solidFill>
            <a:srgbClr val="2A2A2A"/>
          </a:solidFill>
          <a:ln w="12700">
            <a:solidFill>
              <a:srgbClr val="42BE6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91440" rIns="91440" bIns="91440" rtlCol="0" anchor="ctr"/>
          <a:lstStyle/>
          <a:p>
            <a:pPr algn="ctr">
              <a:spcAft>
                <a:spcPts val="200"/>
              </a:spcAft>
              <a:defRPr sz="3600" b="1">
                <a:solidFill>
                  <a:srgbClr val="42BE65"/>
                </a:solidFill>
                <a:latin typeface="Calibri"/>
              </a:defRPr>
            </a:pPr>
            <a:r>
              <a:rPr sz="4400"/>
              <a:t>ZERO</a:t>
            </a:r>
          </a:p>
          <a:p>
            <a:pPr algn="ctr">
              <a:spcBef>
                <a:spcPts val="100"/>
              </a:spcBef>
              <a:spcAft>
                <a:spcPts val="200"/>
              </a:spcAft>
              <a:defRPr sz="1200" b="1">
                <a:solidFill>
                  <a:srgbClr val="FFFFFF"/>
                </a:solidFill>
                <a:latin typeface="Calibri"/>
              </a:defRPr>
            </a:pPr>
            <a:r>
              <a:rPr sz="1400"/>
              <a:t>errors throughout</a:t>
            </a:r>
          </a:p>
          <a:p>
            <a:pPr algn="ctr">
              <a:spcBef>
                <a:spcPts val="100"/>
              </a:spcBef>
              <a:defRPr sz="900">
                <a:solidFill>
                  <a:srgbClr val="C6C6C6"/>
                </a:solidFill>
                <a:latin typeface="Calibri"/>
              </a:defRPr>
            </a:pPr>
            <a:r>
              <a:rPr sz="1050"/>
              <a:t>0 NB errors  ·  0 exceptions</a:t>
            </a:r>
          </a:p>
          <a:p>
            <a:pPr algn="ctr">
              <a:spcBef>
                <a:spcPts val="0"/>
              </a:spcBef>
              <a:defRPr sz="900">
                <a:solidFill>
                  <a:srgbClr val="C6C6C6"/>
                </a:solidFill>
                <a:latin typeface="Calibri"/>
              </a:defRPr>
            </a:pPr>
            <a:r>
              <a:rPr sz="1050"/>
              <a:t>0 blocked thread-pool tasks</a:t>
            </a:r>
          </a:p>
        </p:txBody>
      </p:sp>
      <p:sp>
        <p:nvSpPr>
          <p:cNvPr id="12" name="Stat3 Box"/>
          <p:cNvSpPr/>
          <p:nvPr/>
        </p:nvSpPr>
        <p:spPr>
          <a:xfrm>
            <a:off x="6278640" y="2250000"/>
            <a:ext cx="2500000" cy="1700000"/>
          </a:xfrm>
          <a:prstGeom prst="rect">
            <a:avLst/>
          </a:prstGeom>
          <a:solidFill>
            <a:srgbClr val="2A2A2A"/>
          </a:solidFill>
          <a:ln w="12700">
            <a:solidFill>
              <a:srgbClr val="42BE6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91440" rIns="91440" bIns="91440" rtlCol="0" anchor="ctr"/>
          <a:lstStyle/>
          <a:p>
            <a:pPr algn="ctr">
              <a:spcAft>
                <a:spcPts val="200"/>
              </a:spcAft>
              <a:defRPr sz="3600" b="1">
                <a:solidFill>
                  <a:srgbClr val="42BE65"/>
                </a:solidFill>
                <a:latin typeface="Calibri"/>
              </a:defRPr>
            </a:pPr>
            <a:r>
              <a:rPr sz="4400"/>
              <a:t>3 → 9</a:t>
            </a:r>
          </a:p>
          <a:p>
            <a:pPr algn="ctr">
              <a:spcBef>
                <a:spcPts val="100"/>
              </a:spcBef>
              <a:spcAft>
                <a:spcPts val="200"/>
              </a:spcAft>
              <a:defRPr sz="1200" b="1">
                <a:solidFill>
                  <a:srgbClr val="FFFFFF"/>
                </a:solidFill>
                <a:latin typeface="Calibri"/>
              </a:defRPr>
            </a:pPr>
            <a:r>
              <a:rPr sz="1400"/>
              <a:t>nodes added under load</a:t>
            </a:r>
          </a:p>
          <a:p>
            <a:pPr algn="ctr">
              <a:spcBef>
                <a:spcPts val="100"/>
              </a:spcBef>
              <a:defRPr sz="900">
                <a:solidFill>
                  <a:srgbClr val="C6C6C6"/>
                </a:solidFill>
                <a:latin typeface="Calibri"/>
              </a:defRPr>
            </a:pPr>
            <a:r>
              <a:rPr sz="1050"/>
              <a:t>in two ~5.5-min steps</a:t>
            </a:r>
          </a:p>
          <a:p>
            <a:pPr algn="ctr">
              <a:spcBef>
                <a:spcPts val="0"/>
              </a:spcBef>
              <a:defRPr sz="900">
                <a:solidFill>
                  <a:srgbClr val="C6C6C6"/>
                </a:solidFill>
                <a:latin typeface="Calibri"/>
              </a:defRPr>
            </a:pPr>
            <a:r>
              <a:rPr sz="1050"/>
              <a:t>RF=3 maintained throughout</a:t>
            </a:r>
          </a:p>
        </p:txBody>
      </p:sp>
      <p:sp>
        <p:nvSpPr>
          <p:cNvPr id="13" name="Stat4 Box"/>
          <p:cNvSpPr/>
          <p:nvPr/>
        </p:nvSpPr>
        <p:spPr>
          <a:xfrm>
            <a:off x="9143640" y="2250000"/>
            <a:ext cx="2500000" cy="1700000"/>
          </a:xfrm>
          <a:prstGeom prst="rect">
            <a:avLst/>
          </a:prstGeom>
          <a:solidFill>
            <a:srgbClr val="2A2A2A"/>
          </a:solidFill>
          <a:ln w="12700">
            <a:solidFill>
              <a:srgbClr val="42BE6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91440" rIns="91440" bIns="91440" rtlCol="0" anchor="ctr"/>
          <a:lstStyle/>
          <a:p>
            <a:pPr algn="ctr">
              <a:spcAft>
                <a:spcPts val="200"/>
              </a:spcAft>
              <a:defRPr sz="3600" b="1">
                <a:solidFill>
                  <a:srgbClr val="42BE65"/>
                </a:solidFill>
                <a:latin typeface="Calibri"/>
              </a:defRPr>
            </a:pPr>
            <a:r>
              <a:rPr sz="4400"/>
              <a:t>~7 sec</a:t>
            </a:r>
          </a:p>
          <a:p>
            <a:pPr algn="ctr">
              <a:spcBef>
                <a:spcPts val="100"/>
              </a:spcBef>
              <a:spcAft>
                <a:spcPts val="200"/>
              </a:spcAft>
              <a:defRPr sz="1200" b="1">
                <a:solidFill>
                  <a:srgbClr val="FFFFFF"/>
                </a:solidFill>
                <a:latin typeface="Calibri"/>
              </a:defRPr>
            </a:pPr>
            <a:r>
              <a:rPr sz="1400"/>
              <a:t>per bootstrap stream</a:t>
            </a:r>
          </a:p>
          <a:p>
            <a:pPr algn="ctr">
              <a:spcBef>
                <a:spcPts val="100"/>
              </a:spcBef>
              <a:defRPr sz="900">
                <a:solidFill>
                  <a:srgbClr val="C6C6C6"/>
                </a:solidFill>
                <a:latin typeface="Calibri"/>
              </a:defRPr>
            </a:pPr>
            <a:r>
              <a:rPr sz="1050"/>
              <a:t>42-138 MB via Zero-Copy</a:t>
            </a:r>
          </a:p>
          <a:p>
            <a:pPr algn="ctr">
              <a:spcBef>
                <a:spcPts val="0"/>
              </a:spcBef>
              <a:defRPr sz="900">
                <a:solidFill>
                  <a:srgbClr val="C6C6C6"/>
                </a:solidFill>
                <a:latin typeface="Calibri"/>
              </a:defRPr>
            </a:pPr>
            <a:r>
              <a:rPr sz="1050"/>
              <a:t>(used to take hours)</a:t>
            </a:r>
          </a:p>
        </p:txBody>
      </p:sp>
      <p:sp>
        <p:nvSpPr>
          <p:cNvPr id="20" name="Throughput Header"/>
          <p:cNvSpPr txBox="1"/>
          <p:nvPr/>
        </p:nvSpPr>
        <p:spPr>
          <a:xfrm>
            <a:off x="548640" y="4150000"/>
            <a:ext cx="11094720" cy="27432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ctr">
              <a:defRPr sz="1200" b="1">
                <a:solidFill>
                  <a:srgbClr val="C6C6C6"/>
                </a:solidFill>
                <a:latin typeface="Calibri"/>
              </a:defRPr>
            </a:pPr>
            <a:r>
              <a:t>Throughput grew linearly in node count</a:t>
            </a:r>
          </a:p>
        </p:txBody>
      </p:sp>
      <p:sp>
        <p:nvSpPr>
          <p:cNvPr id="21" name="Tput1 Box"/>
          <p:cNvSpPr/>
          <p:nvPr/>
        </p:nvSpPr>
        <p:spPr>
          <a:xfrm>
            <a:off x="1500000" y="4500000"/>
            <a:ext cx="2400000" cy="800000"/>
          </a:xfrm>
          <a:prstGeom prst="rect">
            <a:avLst/>
          </a:prstGeom>
          <a:solidFill>
            <a:srgbClr val="262626"/>
          </a:solidFill>
          <a:ln w="6350">
            <a:solidFill>
              <a:srgbClr val="6F6F6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73152" rIns="91440" bIns="73152" rtlCol="0" anchor="ctr"/>
          <a:lstStyle/>
          <a:p>
            <a:pPr algn="ctr">
              <a:defRPr sz="2000" b="1">
                <a:solidFill>
                  <a:srgbClr val="78A9FF"/>
                </a:solidFill>
                <a:latin typeface="Calibri"/>
              </a:defRPr>
            </a:pPr>
            <a:r>
              <a:rPr sz="2400"/>
              <a:t>~32k</a:t>
            </a:r>
          </a:p>
          <a:p>
            <a:pPr algn="ctr">
              <a:spcBef>
                <a:spcPts val="100"/>
              </a:spcBef>
              <a:defRPr sz="900">
                <a:solidFill>
                  <a:srgbClr val="C6C6C6"/>
                </a:solidFill>
                <a:latin typeface="Calibri"/>
              </a:defRPr>
            </a:pPr>
            <a:r>
              <a:rPr sz="1100"/>
              <a:t>3 nodes</a:t>
            </a:r>
          </a:p>
        </p:txBody>
      </p:sp>
      <p:sp>
        <p:nvSpPr>
          <p:cNvPr id="22" name="Tput2 Box"/>
          <p:cNvSpPr/>
          <p:nvPr/>
        </p:nvSpPr>
        <p:spPr>
          <a:xfrm>
            <a:off x="4896000" y="4500000"/>
            <a:ext cx="2400000" cy="800000"/>
          </a:xfrm>
          <a:prstGeom prst="rect">
            <a:avLst/>
          </a:prstGeom>
          <a:solidFill>
            <a:srgbClr val="262626"/>
          </a:solidFill>
          <a:ln w="6350">
            <a:solidFill>
              <a:srgbClr val="6F6F6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73152" rIns="91440" bIns="73152" rtlCol="0" anchor="ctr"/>
          <a:lstStyle/>
          <a:p>
            <a:pPr algn="ctr">
              <a:defRPr sz="2000" b="1">
                <a:solidFill>
                  <a:srgbClr val="78A9FF"/>
                </a:solidFill>
                <a:latin typeface="Calibri"/>
              </a:defRPr>
            </a:pPr>
            <a:r>
              <a:rPr sz="2400"/>
              <a:t>~85k</a:t>
            </a:r>
          </a:p>
          <a:p>
            <a:pPr algn="ctr">
              <a:spcBef>
                <a:spcPts val="100"/>
              </a:spcBef>
              <a:defRPr sz="900">
                <a:solidFill>
                  <a:srgbClr val="C6C6C6"/>
                </a:solidFill>
                <a:latin typeface="Calibri"/>
              </a:defRPr>
            </a:pPr>
            <a:r>
              <a:rPr sz="1100"/>
              <a:t>6 nodes</a:t>
            </a:r>
          </a:p>
        </p:txBody>
      </p:sp>
      <p:sp>
        <p:nvSpPr>
          <p:cNvPr id="23" name="Tput3 Box"/>
          <p:cNvSpPr/>
          <p:nvPr/>
        </p:nvSpPr>
        <p:spPr>
          <a:xfrm>
            <a:off x="8292000" y="4500000"/>
            <a:ext cx="2400000" cy="800000"/>
          </a:xfrm>
          <a:prstGeom prst="rect">
            <a:avLst/>
          </a:prstGeom>
          <a:solidFill>
            <a:srgbClr val="262626"/>
          </a:solidFill>
          <a:ln w="6350">
            <a:solidFill>
              <a:srgbClr val="6F6F6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73152" rIns="91440" bIns="73152" rtlCol="0" anchor="ctr"/>
          <a:lstStyle/>
          <a:p>
            <a:pPr algn="ctr">
              <a:defRPr sz="2000" b="1">
                <a:solidFill>
                  <a:srgbClr val="78A9FF"/>
                </a:solidFill>
                <a:latin typeface="Calibri"/>
              </a:defRPr>
            </a:pPr>
            <a:r>
              <a:rPr sz="2400"/>
              <a:t>~105k</a:t>
            </a:r>
          </a:p>
          <a:p>
            <a:pPr algn="ctr">
              <a:spcBef>
                <a:spcPts val="100"/>
              </a:spcBef>
              <a:defRPr sz="900">
                <a:solidFill>
                  <a:srgbClr val="C6C6C6"/>
                </a:solidFill>
                <a:latin typeface="Calibri"/>
              </a:defRPr>
            </a:pPr>
            <a:r>
              <a:rPr sz="1100"/>
              <a:t>9 nodes</a:t>
            </a:r>
          </a:p>
        </p:txBody>
      </p:sp>
      <p:sp>
        <p:nvSpPr>
          <p:cNvPr id="30" name="Arrow A"/>
          <p:cNvSpPr/>
          <p:nvPr/>
        </p:nvSpPr>
        <p:spPr>
          <a:xfrm rot="5400000">
            <a:off x="4045136" y="4845136"/>
            <a:ext cx="109728" cy="109728"/>
          </a:xfrm>
          <a:prstGeom prst="triangle">
            <a:avLst/>
          </a:prstGeom>
          <a:solidFill>
            <a:srgbClr val="6F6F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31" name="Arrow B"/>
          <p:cNvSpPr/>
          <p:nvPr/>
        </p:nvSpPr>
        <p:spPr>
          <a:xfrm rot="5400000">
            <a:off x="7441136" y="4845136"/>
            <a:ext cx="109728" cy="109728"/>
          </a:xfrm>
          <a:prstGeom prst="triangle">
            <a:avLst/>
          </a:prstGeom>
          <a:solidFill>
            <a:srgbClr val="6F6F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40" name="Footer"/>
          <p:cNvSpPr txBox="1"/>
          <p:nvPr/>
        </p:nvSpPr>
        <p:spPr>
          <a:xfrm>
            <a:off x="548640" y="5600000"/>
            <a:ext cx="11094720" cy="32004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ctr">
              <a:defRPr sz="1400" b="1" i="1">
                <a:solidFill>
                  <a:srgbClr val="78A9FF"/>
                </a:solidFill>
                <a:latin typeface="Calibri"/>
              </a:defRPr>
            </a:pPr>
            <a:r>
              <a:rPr i="1"/>
              <a:t>In 2018 this was a multi-day project. In 2026, it’s a kubectl one-liner.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24</TotalTime>
  <Words>1247</Words>
  <Application>Microsoft Macintosh PowerPoint</Application>
  <PresentationFormat>Widescreen</PresentationFormat>
  <Paragraphs>297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James Colvin</cp:lastModifiedBy>
  <cp:revision>3</cp:revision>
  <dcterms:created xsi:type="dcterms:W3CDTF">2013-01-27T09:14:16Z</dcterms:created>
  <dcterms:modified xsi:type="dcterms:W3CDTF">2026-05-19T23:17:04Z</dcterms:modified>
  <cp:category/>
</cp:coreProperties>
</file>